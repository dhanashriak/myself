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48"/>
  </p:notesMasterIdLst>
  <p:sldIdLst>
    <p:sldId id="256" r:id="rId2"/>
    <p:sldId id="257" r:id="rId3"/>
    <p:sldId id="303" r:id="rId4"/>
    <p:sldId id="304" r:id="rId5"/>
    <p:sldId id="258" r:id="rId6"/>
    <p:sldId id="305" r:id="rId7"/>
    <p:sldId id="259" r:id="rId8"/>
    <p:sldId id="261" r:id="rId9"/>
    <p:sldId id="306" r:id="rId10"/>
    <p:sldId id="262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5" r:id="rId19"/>
    <p:sldId id="314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4" r:id="rId28"/>
    <p:sldId id="323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9" r:id="rId43"/>
    <p:sldId id="340" r:id="rId44"/>
    <p:sldId id="341" r:id="rId45"/>
    <p:sldId id="342" r:id="rId46"/>
    <p:sldId id="260" r:id="rId47"/>
  </p:sldIdLst>
  <p:sldSz cx="9144000" cy="5143500" type="screen16x9"/>
  <p:notesSz cx="6858000" cy="9144000"/>
  <p:embeddedFontLst>
    <p:embeddedFont>
      <p:font typeface="Archivo" panose="020B0604020202020204" charset="0"/>
      <p:regular r:id="rId49"/>
      <p:bold r:id="rId50"/>
      <p:italic r:id="rId51"/>
      <p:boldItalic r:id="rId52"/>
    </p:embeddedFont>
    <p:embeddedFont>
      <p:font typeface="Archivo Medium" panose="020B0604020202020204" charset="0"/>
      <p:regular r:id="rId53"/>
      <p:bold r:id="rId54"/>
      <p:italic r:id="rId55"/>
      <p:boldItalic r:id="rId56"/>
    </p:embeddedFont>
    <p:embeddedFont>
      <p:font typeface="Bebas Neue" panose="020B0606020202050201" pitchFamily="34" charset="0"/>
      <p:regular r:id="rId57"/>
    </p:embeddedFont>
    <p:embeddedFont>
      <p:font typeface="DM Sans" pitchFamily="2" charset="0"/>
      <p:regular r:id="rId58"/>
      <p:bold r:id="rId59"/>
      <p:italic r:id="rId60"/>
      <p:boldItalic r:id="rId61"/>
    </p:embeddedFont>
    <p:embeddedFont>
      <p:font typeface="Noto Serif Hebrew" panose="020B0604020202020204" charset="-79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79822-1F5C-47FA-A779-D446C124A365}" v="32" dt="2025-03-07T17:00:37.690"/>
  </p1510:revLst>
</p1510:revInfo>
</file>

<file path=ppt/tableStyles.xml><?xml version="1.0" encoding="utf-8"?>
<a:tblStyleLst xmlns:a="http://schemas.openxmlformats.org/drawingml/2006/main" def="{7EE21ABF-5FE5-4781-806A-7C98C9F0D364}">
  <a:tblStyle styleId="{7EE21ABF-5FE5-4781-806A-7C98C9F0D3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font" Target="fonts/font15.fntdata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9186edec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9186edec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476F96E7-D368-5E0D-005F-D1E053C4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9186edecb2_0_0:notes">
            <a:extLst>
              <a:ext uri="{FF2B5EF4-FFF2-40B4-BE49-F238E27FC236}">
                <a16:creationId xmlns:a16="http://schemas.microsoft.com/office/drawing/2014/main" id="{E191F9DF-F945-BF92-7EC7-BCFF8B618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9186edecb2_0_0:notes">
            <a:extLst>
              <a:ext uri="{FF2B5EF4-FFF2-40B4-BE49-F238E27FC236}">
                <a16:creationId xmlns:a16="http://schemas.microsoft.com/office/drawing/2014/main" id="{23112A9E-C4A1-0D01-EA16-716CB7E99B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259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21C513EB-F8E4-A6FD-36E6-33F8C1C2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9186edecb2_0_0:notes">
            <a:extLst>
              <a:ext uri="{FF2B5EF4-FFF2-40B4-BE49-F238E27FC236}">
                <a16:creationId xmlns:a16="http://schemas.microsoft.com/office/drawing/2014/main" id="{ED4ABADA-7010-8C63-4DE9-D2A655148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9186edecb2_0_0:notes">
            <a:extLst>
              <a:ext uri="{FF2B5EF4-FFF2-40B4-BE49-F238E27FC236}">
                <a16:creationId xmlns:a16="http://schemas.microsoft.com/office/drawing/2014/main" id="{0046EF5E-510A-6FF4-58C3-1CF5D1B48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43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9186edecb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9186edecb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9186edecb2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9186edecb2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9186edecb2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9186edecb2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945af8afb6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1945af8afb6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>
          <a:extLst>
            <a:ext uri="{FF2B5EF4-FFF2-40B4-BE49-F238E27FC236}">
              <a16:creationId xmlns:a16="http://schemas.microsoft.com/office/drawing/2014/main" id="{7B95E423-CE11-3E08-58E6-20E4D1BDB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9186edecb2_0_122:notes">
            <a:extLst>
              <a:ext uri="{FF2B5EF4-FFF2-40B4-BE49-F238E27FC236}">
                <a16:creationId xmlns:a16="http://schemas.microsoft.com/office/drawing/2014/main" id="{DD0CD008-5CC9-555D-7834-B2F7323F9A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9186edecb2_0_122:notes">
            <a:extLst>
              <a:ext uri="{FF2B5EF4-FFF2-40B4-BE49-F238E27FC236}">
                <a16:creationId xmlns:a16="http://schemas.microsoft.com/office/drawing/2014/main" id="{70D63075-E1DE-60EE-C710-43EE1AF43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271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>
          <a:extLst>
            <a:ext uri="{FF2B5EF4-FFF2-40B4-BE49-F238E27FC236}">
              <a16:creationId xmlns:a16="http://schemas.microsoft.com/office/drawing/2014/main" id="{BA27FFF9-8024-31AE-9EC3-EADA233F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9186edecb2_0_122:notes">
            <a:extLst>
              <a:ext uri="{FF2B5EF4-FFF2-40B4-BE49-F238E27FC236}">
                <a16:creationId xmlns:a16="http://schemas.microsoft.com/office/drawing/2014/main" id="{53A16032-0726-30C9-7935-41567F418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9186edecb2_0_122:notes">
            <a:extLst>
              <a:ext uri="{FF2B5EF4-FFF2-40B4-BE49-F238E27FC236}">
                <a16:creationId xmlns:a16="http://schemas.microsoft.com/office/drawing/2014/main" id="{DE800EC9-02D9-4DC2-695B-6F7B813629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1164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>
          <a:extLst>
            <a:ext uri="{FF2B5EF4-FFF2-40B4-BE49-F238E27FC236}">
              <a16:creationId xmlns:a16="http://schemas.microsoft.com/office/drawing/2014/main" id="{FC2BA927-90C3-A45B-53D3-8C1564FF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9186edecb2_0_122:notes">
            <a:extLst>
              <a:ext uri="{FF2B5EF4-FFF2-40B4-BE49-F238E27FC236}">
                <a16:creationId xmlns:a16="http://schemas.microsoft.com/office/drawing/2014/main" id="{A97FA26A-BD47-0652-6F8C-7CB98FB807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9186edecb2_0_122:notes">
            <a:extLst>
              <a:ext uri="{FF2B5EF4-FFF2-40B4-BE49-F238E27FC236}">
                <a16:creationId xmlns:a16="http://schemas.microsoft.com/office/drawing/2014/main" id="{1EE41B83-97C2-83B1-BC2B-707F10DE7C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260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>
          <a:extLst>
            <a:ext uri="{FF2B5EF4-FFF2-40B4-BE49-F238E27FC236}">
              <a16:creationId xmlns:a16="http://schemas.microsoft.com/office/drawing/2014/main" id="{17C5BCB2-CED5-3994-DA31-02D5869CF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9186edecb2_0_122:notes">
            <a:extLst>
              <a:ext uri="{FF2B5EF4-FFF2-40B4-BE49-F238E27FC236}">
                <a16:creationId xmlns:a16="http://schemas.microsoft.com/office/drawing/2014/main" id="{EE078F2B-F409-1EFC-1118-CE0C6FBA1A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9186edecb2_0_122:notes">
            <a:extLst>
              <a:ext uri="{FF2B5EF4-FFF2-40B4-BE49-F238E27FC236}">
                <a16:creationId xmlns:a16="http://schemas.microsoft.com/office/drawing/2014/main" id="{77217F29-63D7-5DB9-7CDE-A8FAE404E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675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945af8afb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945af8afb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3881496" y="611200"/>
            <a:ext cx="4547400" cy="25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4069896" y="3353825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608500"/>
            <a:ext cx="9144000" cy="60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2419050" y="2028000"/>
            <a:ext cx="4305900" cy="162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None/>
              <a:defRPr sz="3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None/>
              <a:defRPr sz="3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None/>
              <a:defRPr sz="3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None/>
              <a:defRPr sz="3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None/>
              <a:defRPr sz="3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None/>
              <a:defRPr sz="3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None/>
              <a:defRPr sz="3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None/>
              <a:defRPr sz="3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3927300" y="992200"/>
            <a:ext cx="1289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Font typeface="DM Sans"/>
              <a:buNone/>
              <a:defRPr sz="120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Font typeface="DM Sans"/>
              <a:buNone/>
              <a:defRPr sz="120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Font typeface="DM Sans"/>
              <a:buNone/>
              <a:defRPr sz="120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Font typeface="DM Sans"/>
              <a:buNone/>
              <a:defRPr sz="120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Font typeface="DM Sans"/>
              <a:buNone/>
              <a:defRPr sz="120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Font typeface="DM Sans"/>
              <a:buNone/>
              <a:defRPr sz="120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Font typeface="DM Sans"/>
              <a:buNone/>
              <a:defRPr sz="120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Font typeface="DM Sans"/>
              <a:buNone/>
              <a:defRPr sz="120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2856450" y="3755325"/>
            <a:ext cx="3431100" cy="6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4608500"/>
            <a:ext cx="9144000" cy="60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2685398" y="76689"/>
            <a:ext cx="845522" cy="916625"/>
            <a:chOff x="7511392" y="307000"/>
            <a:chExt cx="863570" cy="936192"/>
          </a:xfrm>
        </p:grpSpPr>
        <p:sp>
          <p:nvSpPr>
            <p:cNvPr id="18" name="Google Shape;18;p3"/>
            <p:cNvSpPr/>
            <p:nvPr/>
          </p:nvSpPr>
          <p:spPr>
            <a:xfrm>
              <a:off x="7927457" y="838406"/>
              <a:ext cx="447505" cy="404786"/>
            </a:xfrm>
            <a:custGeom>
              <a:avLst/>
              <a:gdLst/>
              <a:ahLst/>
              <a:cxnLst/>
              <a:rect l="l" t="t" r="r" b="b"/>
              <a:pathLst>
                <a:path w="5552" h="5022" extrusionOk="0">
                  <a:moveTo>
                    <a:pt x="2386" y="1"/>
                  </a:moveTo>
                  <a:cubicBezTo>
                    <a:pt x="2386" y="7"/>
                    <a:pt x="1" y="2159"/>
                    <a:pt x="1342" y="4353"/>
                  </a:cubicBezTo>
                  <a:cubicBezTo>
                    <a:pt x="1342" y="4353"/>
                    <a:pt x="2052" y="5021"/>
                    <a:pt x="3210" y="5021"/>
                  </a:cubicBezTo>
                  <a:cubicBezTo>
                    <a:pt x="3863" y="5021"/>
                    <a:pt x="4659" y="4809"/>
                    <a:pt x="5551" y="4144"/>
                  </a:cubicBezTo>
                  <a:cubicBezTo>
                    <a:pt x="5551" y="4144"/>
                    <a:pt x="3280" y="3125"/>
                    <a:pt x="2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511392" y="307000"/>
              <a:ext cx="787164" cy="882356"/>
            </a:xfrm>
            <a:custGeom>
              <a:avLst/>
              <a:gdLst/>
              <a:ahLst/>
              <a:cxnLst/>
              <a:rect l="l" t="t" r="r" b="b"/>
              <a:pathLst>
                <a:path w="9766" h="10947" extrusionOk="0">
                  <a:moveTo>
                    <a:pt x="7989" y="0"/>
                  </a:moveTo>
                  <a:cubicBezTo>
                    <a:pt x="7989" y="0"/>
                    <a:pt x="0" y="3476"/>
                    <a:pt x="6504" y="10946"/>
                  </a:cubicBezTo>
                  <a:cubicBezTo>
                    <a:pt x="6504" y="10946"/>
                    <a:pt x="5473" y="8436"/>
                    <a:pt x="9766" y="6141"/>
                  </a:cubicBezTo>
                  <a:cubicBezTo>
                    <a:pt x="9766" y="6141"/>
                    <a:pt x="7917" y="2880"/>
                    <a:pt x="79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 rot="-2180972">
            <a:off x="334801" y="4227881"/>
            <a:ext cx="761110" cy="760713"/>
            <a:chOff x="6212418" y="1482331"/>
            <a:chExt cx="627249" cy="626921"/>
          </a:xfrm>
        </p:grpSpPr>
        <p:sp>
          <p:nvSpPr>
            <p:cNvPr id="37" name="Google Shape;37;p6"/>
            <p:cNvSpPr/>
            <p:nvPr/>
          </p:nvSpPr>
          <p:spPr>
            <a:xfrm>
              <a:off x="6212418" y="1482331"/>
              <a:ext cx="627249" cy="620800"/>
            </a:xfrm>
            <a:custGeom>
              <a:avLst/>
              <a:gdLst/>
              <a:ahLst/>
              <a:cxnLst/>
              <a:rect l="l" t="t" r="r" b="b"/>
              <a:pathLst>
                <a:path w="7782" h="7702" extrusionOk="0">
                  <a:moveTo>
                    <a:pt x="6112" y="1623"/>
                  </a:moveTo>
                  <a:cubicBezTo>
                    <a:pt x="6112" y="1623"/>
                    <a:pt x="6112" y="1623"/>
                    <a:pt x="6112" y="1623"/>
                  </a:cubicBezTo>
                  <a:lnTo>
                    <a:pt x="6112" y="1623"/>
                  </a:lnTo>
                  <a:cubicBezTo>
                    <a:pt x="6112" y="1623"/>
                    <a:pt x="6112" y="1623"/>
                    <a:pt x="6112" y="1623"/>
                  </a:cubicBezTo>
                  <a:close/>
                  <a:moveTo>
                    <a:pt x="1032" y="1"/>
                  </a:moveTo>
                  <a:cubicBezTo>
                    <a:pt x="1032" y="1"/>
                    <a:pt x="1" y="4037"/>
                    <a:pt x="1909" y="6207"/>
                  </a:cubicBezTo>
                  <a:cubicBezTo>
                    <a:pt x="1909" y="6207"/>
                    <a:pt x="3569" y="7701"/>
                    <a:pt x="5835" y="7701"/>
                  </a:cubicBezTo>
                  <a:cubicBezTo>
                    <a:pt x="6447" y="7701"/>
                    <a:pt x="7102" y="7592"/>
                    <a:pt x="7781" y="7316"/>
                  </a:cubicBezTo>
                  <a:cubicBezTo>
                    <a:pt x="7781" y="7316"/>
                    <a:pt x="5635" y="6499"/>
                    <a:pt x="6112" y="1623"/>
                  </a:cubicBezTo>
                  <a:lnTo>
                    <a:pt x="6112" y="1623"/>
                  </a:lnTo>
                  <a:cubicBezTo>
                    <a:pt x="6112" y="1623"/>
                    <a:pt x="6109" y="1623"/>
                    <a:pt x="6104" y="1623"/>
                  </a:cubicBezTo>
                  <a:cubicBezTo>
                    <a:pt x="5980" y="1623"/>
                    <a:pt x="4400" y="1465"/>
                    <a:pt x="10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6"/>
            <p:cNvSpPr/>
            <p:nvPr/>
          </p:nvSpPr>
          <p:spPr>
            <a:xfrm>
              <a:off x="6365722" y="1881228"/>
              <a:ext cx="473459" cy="228024"/>
            </a:xfrm>
            <a:custGeom>
              <a:avLst/>
              <a:gdLst/>
              <a:ahLst/>
              <a:cxnLst/>
              <a:rect l="l" t="t" r="r" b="b"/>
              <a:pathLst>
                <a:path w="5874" h="2829" extrusionOk="0">
                  <a:moveTo>
                    <a:pt x="5873" y="2367"/>
                  </a:moveTo>
                  <a:cubicBezTo>
                    <a:pt x="5872" y="2368"/>
                    <a:pt x="5870" y="2368"/>
                    <a:pt x="5869" y="2369"/>
                  </a:cubicBezTo>
                  <a:lnTo>
                    <a:pt x="5869" y="2369"/>
                  </a:lnTo>
                  <a:cubicBezTo>
                    <a:pt x="5872" y="2368"/>
                    <a:pt x="5874" y="2368"/>
                    <a:pt x="5873" y="2367"/>
                  </a:cubicBezTo>
                  <a:close/>
                  <a:moveTo>
                    <a:pt x="2141" y="0"/>
                  </a:moveTo>
                  <a:cubicBezTo>
                    <a:pt x="2141" y="0"/>
                    <a:pt x="1496" y="1415"/>
                    <a:pt x="546" y="1415"/>
                  </a:cubicBezTo>
                  <a:cubicBezTo>
                    <a:pt x="373" y="1415"/>
                    <a:pt x="191" y="1368"/>
                    <a:pt x="1" y="1258"/>
                  </a:cubicBezTo>
                  <a:lnTo>
                    <a:pt x="1" y="1258"/>
                  </a:lnTo>
                  <a:cubicBezTo>
                    <a:pt x="1" y="1258"/>
                    <a:pt x="1394" y="2828"/>
                    <a:pt x="3689" y="2828"/>
                  </a:cubicBezTo>
                  <a:cubicBezTo>
                    <a:pt x="4346" y="2828"/>
                    <a:pt x="5076" y="2700"/>
                    <a:pt x="5869" y="2369"/>
                  </a:cubicBezTo>
                  <a:lnTo>
                    <a:pt x="5869" y="2369"/>
                  </a:lnTo>
                  <a:cubicBezTo>
                    <a:pt x="5850" y="2374"/>
                    <a:pt x="5766" y="2386"/>
                    <a:pt x="5633" y="2386"/>
                  </a:cubicBezTo>
                  <a:cubicBezTo>
                    <a:pt x="5034" y="2386"/>
                    <a:pt x="3434" y="2150"/>
                    <a:pt x="2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6"/>
          <p:cNvGrpSpPr/>
          <p:nvPr/>
        </p:nvGrpSpPr>
        <p:grpSpPr>
          <a:xfrm flipH="1">
            <a:off x="8096586" y="1057217"/>
            <a:ext cx="664633" cy="664286"/>
            <a:chOff x="6212418" y="1482331"/>
            <a:chExt cx="627249" cy="626921"/>
          </a:xfrm>
        </p:grpSpPr>
        <p:sp>
          <p:nvSpPr>
            <p:cNvPr id="40" name="Google Shape;40;p6"/>
            <p:cNvSpPr/>
            <p:nvPr/>
          </p:nvSpPr>
          <p:spPr>
            <a:xfrm>
              <a:off x="6212418" y="1482331"/>
              <a:ext cx="627249" cy="620800"/>
            </a:xfrm>
            <a:custGeom>
              <a:avLst/>
              <a:gdLst/>
              <a:ahLst/>
              <a:cxnLst/>
              <a:rect l="l" t="t" r="r" b="b"/>
              <a:pathLst>
                <a:path w="7782" h="7702" extrusionOk="0">
                  <a:moveTo>
                    <a:pt x="6112" y="1623"/>
                  </a:moveTo>
                  <a:cubicBezTo>
                    <a:pt x="6112" y="1623"/>
                    <a:pt x="6112" y="1623"/>
                    <a:pt x="6112" y="1623"/>
                  </a:cubicBezTo>
                  <a:lnTo>
                    <a:pt x="6112" y="1623"/>
                  </a:lnTo>
                  <a:cubicBezTo>
                    <a:pt x="6112" y="1623"/>
                    <a:pt x="6112" y="1623"/>
                    <a:pt x="6112" y="1623"/>
                  </a:cubicBezTo>
                  <a:close/>
                  <a:moveTo>
                    <a:pt x="1032" y="1"/>
                  </a:moveTo>
                  <a:cubicBezTo>
                    <a:pt x="1032" y="1"/>
                    <a:pt x="1" y="4037"/>
                    <a:pt x="1909" y="6207"/>
                  </a:cubicBezTo>
                  <a:cubicBezTo>
                    <a:pt x="1909" y="6207"/>
                    <a:pt x="3569" y="7701"/>
                    <a:pt x="5835" y="7701"/>
                  </a:cubicBezTo>
                  <a:cubicBezTo>
                    <a:pt x="6447" y="7701"/>
                    <a:pt x="7102" y="7592"/>
                    <a:pt x="7781" y="7316"/>
                  </a:cubicBezTo>
                  <a:cubicBezTo>
                    <a:pt x="7781" y="7316"/>
                    <a:pt x="5635" y="6499"/>
                    <a:pt x="6112" y="1623"/>
                  </a:cubicBezTo>
                  <a:lnTo>
                    <a:pt x="6112" y="1623"/>
                  </a:lnTo>
                  <a:cubicBezTo>
                    <a:pt x="6112" y="1623"/>
                    <a:pt x="6109" y="1623"/>
                    <a:pt x="6104" y="1623"/>
                  </a:cubicBezTo>
                  <a:cubicBezTo>
                    <a:pt x="5980" y="1623"/>
                    <a:pt x="4400" y="1465"/>
                    <a:pt x="10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6365722" y="1881228"/>
              <a:ext cx="473459" cy="228024"/>
            </a:xfrm>
            <a:custGeom>
              <a:avLst/>
              <a:gdLst/>
              <a:ahLst/>
              <a:cxnLst/>
              <a:rect l="l" t="t" r="r" b="b"/>
              <a:pathLst>
                <a:path w="5874" h="2829" extrusionOk="0">
                  <a:moveTo>
                    <a:pt x="5873" y="2367"/>
                  </a:moveTo>
                  <a:cubicBezTo>
                    <a:pt x="5872" y="2368"/>
                    <a:pt x="5870" y="2368"/>
                    <a:pt x="5869" y="2369"/>
                  </a:cubicBezTo>
                  <a:lnTo>
                    <a:pt x="5869" y="2369"/>
                  </a:lnTo>
                  <a:cubicBezTo>
                    <a:pt x="5872" y="2368"/>
                    <a:pt x="5874" y="2368"/>
                    <a:pt x="5873" y="2367"/>
                  </a:cubicBezTo>
                  <a:close/>
                  <a:moveTo>
                    <a:pt x="2141" y="0"/>
                  </a:moveTo>
                  <a:cubicBezTo>
                    <a:pt x="2141" y="0"/>
                    <a:pt x="1496" y="1415"/>
                    <a:pt x="546" y="1415"/>
                  </a:cubicBezTo>
                  <a:cubicBezTo>
                    <a:pt x="373" y="1415"/>
                    <a:pt x="191" y="1368"/>
                    <a:pt x="1" y="1258"/>
                  </a:cubicBezTo>
                  <a:lnTo>
                    <a:pt x="1" y="1258"/>
                  </a:lnTo>
                  <a:cubicBezTo>
                    <a:pt x="1" y="1258"/>
                    <a:pt x="1394" y="2828"/>
                    <a:pt x="3689" y="2828"/>
                  </a:cubicBezTo>
                  <a:cubicBezTo>
                    <a:pt x="4346" y="2828"/>
                    <a:pt x="5076" y="2700"/>
                    <a:pt x="5869" y="2369"/>
                  </a:cubicBezTo>
                  <a:lnTo>
                    <a:pt x="5869" y="2369"/>
                  </a:lnTo>
                  <a:cubicBezTo>
                    <a:pt x="5850" y="2374"/>
                    <a:pt x="5766" y="2386"/>
                    <a:pt x="5633" y="2386"/>
                  </a:cubicBezTo>
                  <a:cubicBezTo>
                    <a:pt x="5034" y="2386"/>
                    <a:pt x="3434" y="2150"/>
                    <a:pt x="2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715100" y="2111850"/>
            <a:ext cx="5141700" cy="8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Noto Serif Hebrew"/>
              <a:buNone/>
              <a:defRPr sz="3000">
                <a:latin typeface="Noto Serif Hebrew"/>
                <a:ea typeface="Noto Serif Hebrew"/>
                <a:cs typeface="Noto Serif Hebrew"/>
                <a:sym typeface="Noto Serif Hebre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Noto Serif Hebrew"/>
              <a:buNone/>
              <a:defRPr sz="3000">
                <a:latin typeface="Noto Serif Hebrew"/>
                <a:ea typeface="Noto Serif Hebrew"/>
                <a:cs typeface="Noto Serif Hebrew"/>
                <a:sym typeface="Noto Serif Hebre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Noto Serif Hebrew"/>
              <a:buNone/>
              <a:defRPr sz="3000">
                <a:latin typeface="Noto Serif Hebrew"/>
                <a:ea typeface="Noto Serif Hebrew"/>
                <a:cs typeface="Noto Serif Hebrew"/>
                <a:sym typeface="Noto Serif Hebre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Noto Serif Hebrew"/>
              <a:buNone/>
              <a:defRPr sz="3000">
                <a:latin typeface="Noto Serif Hebrew"/>
                <a:ea typeface="Noto Serif Hebrew"/>
                <a:cs typeface="Noto Serif Hebrew"/>
                <a:sym typeface="Noto Serif Hebre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Noto Serif Hebrew"/>
              <a:buNone/>
              <a:defRPr sz="3000">
                <a:latin typeface="Noto Serif Hebrew"/>
                <a:ea typeface="Noto Serif Hebrew"/>
                <a:cs typeface="Noto Serif Hebrew"/>
                <a:sym typeface="Noto Serif Hebre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Noto Serif Hebrew"/>
              <a:buNone/>
              <a:defRPr sz="3000">
                <a:latin typeface="Noto Serif Hebrew"/>
                <a:ea typeface="Noto Serif Hebrew"/>
                <a:cs typeface="Noto Serif Hebrew"/>
                <a:sym typeface="Noto Serif Hebre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Noto Serif Hebrew"/>
              <a:buNone/>
              <a:defRPr sz="3000">
                <a:latin typeface="Noto Serif Hebrew"/>
                <a:ea typeface="Noto Serif Hebrew"/>
                <a:cs typeface="Noto Serif Hebrew"/>
                <a:sym typeface="Noto Serif Hebre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Noto Serif Hebrew"/>
              <a:buNone/>
              <a:defRPr sz="3000">
                <a:latin typeface="Noto Serif Hebrew"/>
                <a:ea typeface="Noto Serif Hebrew"/>
                <a:cs typeface="Noto Serif Hebrew"/>
                <a:sym typeface="Noto Serif Hebrew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715209" y="3236985"/>
            <a:ext cx="4262400" cy="11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0" y="0"/>
            <a:ext cx="9144000" cy="60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4329165" y="1347271"/>
            <a:ext cx="4099800" cy="3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2"/>
          </p:nvPr>
        </p:nvSpPr>
        <p:spPr>
          <a:xfrm>
            <a:off x="4329165" y="2184339"/>
            <a:ext cx="4099800" cy="3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3"/>
          </p:nvPr>
        </p:nvSpPr>
        <p:spPr>
          <a:xfrm>
            <a:off x="4329165" y="3021407"/>
            <a:ext cx="4099800" cy="3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4"/>
          </p:nvPr>
        </p:nvSpPr>
        <p:spPr>
          <a:xfrm>
            <a:off x="4329165" y="1164606"/>
            <a:ext cx="4099800" cy="3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5"/>
          </p:nvPr>
        </p:nvSpPr>
        <p:spPr>
          <a:xfrm>
            <a:off x="4329165" y="2000459"/>
            <a:ext cx="4099800" cy="3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6"/>
          </p:nvPr>
        </p:nvSpPr>
        <p:spPr>
          <a:xfrm>
            <a:off x="4329165" y="2836311"/>
            <a:ext cx="4099800" cy="3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7"/>
          </p:nvPr>
        </p:nvSpPr>
        <p:spPr>
          <a:xfrm>
            <a:off x="4329075" y="3850825"/>
            <a:ext cx="4099800" cy="3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8"/>
          </p:nvPr>
        </p:nvSpPr>
        <p:spPr>
          <a:xfrm>
            <a:off x="4329075" y="3672164"/>
            <a:ext cx="4099800" cy="3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erif Hebrew"/>
              <a:buNone/>
              <a:defRPr sz="2000" b="1">
                <a:latin typeface="Noto Serif Hebrew"/>
                <a:ea typeface="Noto Serif Hebrew"/>
                <a:cs typeface="Noto Serif Hebrew"/>
                <a:sym typeface="Noto Serif Hebrew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hasCustomPrompt="1"/>
          </p:nvPr>
        </p:nvSpPr>
        <p:spPr>
          <a:xfrm>
            <a:off x="3445075" y="3677999"/>
            <a:ext cx="7401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9" hasCustomPrompt="1"/>
          </p:nvPr>
        </p:nvSpPr>
        <p:spPr>
          <a:xfrm>
            <a:off x="3445075" y="1166939"/>
            <a:ext cx="7401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3" hasCustomPrompt="1"/>
          </p:nvPr>
        </p:nvSpPr>
        <p:spPr>
          <a:xfrm>
            <a:off x="3445075" y="2003959"/>
            <a:ext cx="7401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4" hasCustomPrompt="1"/>
          </p:nvPr>
        </p:nvSpPr>
        <p:spPr>
          <a:xfrm>
            <a:off x="3445075" y="2840979"/>
            <a:ext cx="7401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715100" y="445025"/>
            <a:ext cx="270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0" y="4608500"/>
            <a:ext cx="9144000" cy="60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3865000" y="269980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2201200" y="637775"/>
            <a:ext cx="6227700" cy="199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0" y="4608500"/>
            <a:ext cx="9144000" cy="60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/>
          <p:nvPr/>
        </p:nvSpPr>
        <p:spPr>
          <a:xfrm>
            <a:off x="0" y="4608500"/>
            <a:ext cx="9144000" cy="60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" name="Google Shape;244;p28"/>
          <p:cNvGrpSpPr/>
          <p:nvPr/>
        </p:nvGrpSpPr>
        <p:grpSpPr>
          <a:xfrm>
            <a:off x="8006140" y="76679"/>
            <a:ext cx="882211" cy="4914919"/>
            <a:chOff x="8006140" y="76679"/>
            <a:chExt cx="882211" cy="4914919"/>
          </a:xfrm>
        </p:grpSpPr>
        <p:grpSp>
          <p:nvGrpSpPr>
            <p:cNvPr id="245" name="Google Shape;245;p28"/>
            <p:cNvGrpSpPr/>
            <p:nvPr/>
          </p:nvGrpSpPr>
          <p:grpSpPr>
            <a:xfrm rot="-6851816" flipH="1">
              <a:off x="8116870" y="4220203"/>
              <a:ext cx="664629" cy="664282"/>
              <a:chOff x="6212418" y="1482331"/>
              <a:chExt cx="627249" cy="626921"/>
            </a:xfrm>
          </p:grpSpPr>
          <p:sp>
            <p:nvSpPr>
              <p:cNvPr id="246" name="Google Shape;246;p28"/>
              <p:cNvSpPr/>
              <p:nvPr/>
            </p:nvSpPr>
            <p:spPr>
              <a:xfrm>
                <a:off x="6212418" y="1482331"/>
                <a:ext cx="627249" cy="620800"/>
              </a:xfrm>
              <a:custGeom>
                <a:avLst/>
                <a:gdLst/>
                <a:ahLst/>
                <a:cxnLst/>
                <a:rect l="l" t="t" r="r" b="b"/>
                <a:pathLst>
                  <a:path w="7782" h="7702" extrusionOk="0">
                    <a:moveTo>
                      <a:pt x="6112" y="1623"/>
                    </a:moveTo>
                    <a:cubicBezTo>
                      <a:pt x="6112" y="1623"/>
                      <a:pt x="6112" y="1623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12" y="1623"/>
                      <a:pt x="6112" y="1623"/>
                    </a:cubicBezTo>
                    <a:close/>
                    <a:moveTo>
                      <a:pt x="1032" y="1"/>
                    </a:moveTo>
                    <a:cubicBezTo>
                      <a:pt x="1032" y="1"/>
                      <a:pt x="1" y="4037"/>
                      <a:pt x="1909" y="6207"/>
                    </a:cubicBezTo>
                    <a:cubicBezTo>
                      <a:pt x="1909" y="6207"/>
                      <a:pt x="3569" y="7701"/>
                      <a:pt x="5835" y="7701"/>
                    </a:cubicBezTo>
                    <a:cubicBezTo>
                      <a:pt x="6447" y="7701"/>
                      <a:pt x="7102" y="7592"/>
                      <a:pt x="7781" y="7316"/>
                    </a:cubicBezTo>
                    <a:cubicBezTo>
                      <a:pt x="7781" y="7316"/>
                      <a:pt x="5635" y="6499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09" y="1623"/>
                      <a:pt x="6104" y="1623"/>
                    </a:cubicBezTo>
                    <a:cubicBezTo>
                      <a:pt x="5980" y="1623"/>
                      <a:pt x="4400" y="1465"/>
                      <a:pt x="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8"/>
              <p:cNvSpPr/>
              <p:nvPr/>
            </p:nvSpPr>
            <p:spPr>
              <a:xfrm>
                <a:off x="6365722" y="1881228"/>
                <a:ext cx="473459" cy="228024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2829" extrusionOk="0">
                    <a:moveTo>
                      <a:pt x="5873" y="2367"/>
                    </a:moveTo>
                    <a:cubicBezTo>
                      <a:pt x="5872" y="2368"/>
                      <a:pt x="5870" y="2368"/>
                      <a:pt x="5869" y="2369"/>
                    </a:cubicBezTo>
                    <a:lnTo>
                      <a:pt x="5869" y="2369"/>
                    </a:lnTo>
                    <a:cubicBezTo>
                      <a:pt x="5872" y="2368"/>
                      <a:pt x="5874" y="2368"/>
                      <a:pt x="5873" y="2367"/>
                    </a:cubicBezTo>
                    <a:close/>
                    <a:moveTo>
                      <a:pt x="2141" y="0"/>
                    </a:moveTo>
                    <a:cubicBezTo>
                      <a:pt x="2141" y="0"/>
                      <a:pt x="1496" y="1415"/>
                      <a:pt x="546" y="1415"/>
                    </a:cubicBezTo>
                    <a:cubicBezTo>
                      <a:pt x="373" y="1415"/>
                      <a:pt x="191" y="1368"/>
                      <a:pt x="1" y="1258"/>
                    </a:cubicBezTo>
                    <a:lnTo>
                      <a:pt x="1" y="1258"/>
                    </a:lnTo>
                    <a:cubicBezTo>
                      <a:pt x="1" y="1258"/>
                      <a:pt x="1394" y="2828"/>
                      <a:pt x="3689" y="2828"/>
                    </a:cubicBezTo>
                    <a:cubicBezTo>
                      <a:pt x="4346" y="2828"/>
                      <a:pt x="5076" y="2700"/>
                      <a:pt x="5869" y="2369"/>
                    </a:cubicBezTo>
                    <a:lnTo>
                      <a:pt x="5869" y="2369"/>
                    </a:lnTo>
                    <a:cubicBezTo>
                      <a:pt x="5850" y="2374"/>
                      <a:pt x="5766" y="2386"/>
                      <a:pt x="5633" y="2386"/>
                    </a:cubicBezTo>
                    <a:cubicBezTo>
                      <a:pt x="5034" y="2386"/>
                      <a:pt x="3434" y="2150"/>
                      <a:pt x="2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8" name="Google Shape;248;p28"/>
            <p:cNvGrpSpPr/>
            <p:nvPr/>
          </p:nvGrpSpPr>
          <p:grpSpPr>
            <a:xfrm flipH="1">
              <a:off x="8006140" y="76679"/>
              <a:ext cx="845522" cy="916625"/>
              <a:chOff x="7511392" y="307000"/>
              <a:chExt cx="863570" cy="936192"/>
            </a:xfrm>
          </p:grpSpPr>
          <p:sp>
            <p:nvSpPr>
              <p:cNvPr id="249" name="Google Shape;249;p28"/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8"/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" name="Google Shape;251;p28"/>
            <p:cNvGrpSpPr/>
            <p:nvPr/>
          </p:nvGrpSpPr>
          <p:grpSpPr>
            <a:xfrm rot="-4814457">
              <a:off x="8230739" y="1116990"/>
              <a:ext cx="396310" cy="572684"/>
              <a:chOff x="1943179" y="1609600"/>
              <a:chExt cx="396322" cy="572701"/>
            </a:xfrm>
          </p:grpSpPr>
          <p:sp>
            <p:nvSpPr>
              <p:cNvPr id="252" name="Google Shape;252;p28"/>
              <p:cNvSpPr/>
              <p:nvPr/>
            </p:nvSpPr>
            <p:spPr>
              <a:xfrm>
                <a:off x="1963142" y="1609600"/>
                <a:ext cx="376358" cy="529154"/>
              </a:xfrm>
              <a:custGeom>
                <a:avLst/>
                <a:gdLst/>
                <a:ahLst/>
                <a:cxnLst/>
                <a:rect l="l" t="t" r="r" b="b"/>
                <a:pathLst>
                  <a:path w="6749" h="9489" extrusionOk="0">
                    <a:moveTo>
                      <a:pt x="6312" y="1"/>
                    </a:moveTo>
                    <a:cubicBezTo>
                      <a:pt x="6191" y="1"/>
                      <a:pt x="6072" y="59"/>
                      <a:pt x="5998" y="170"/>
                    </a:cubicBezTo>
                    <a:lnTo>
                      <a:pt x="0" y="9053"/>
                    </a:lnTo>
                    <a:lnTo>
                      <a:pt x="632" y="9488"/>
                    </a:lnTo>
                    <a:lnTo>
                      <a:pt x="6630" y="593"/>
                    </a:lnTo>
                    <a:cubicBezTo>
                      <a:pt x="6749" y="426"/>
                      <a:pt x="6707" y="187"/>
                      <a:pt x="6528" y="68"/>
                    </a:cubicBezTo>
                    <a:cubicBezTo>
                      <a:pt x="6462" y="23"/>
                      <a:pt x="6387" y="1"/>
                      <a:pt x="63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8"/>
              <p:cNvSpPr/>
              <p:nvPr/>
            </p:nvSpPr>
            <p:spPr>
              <a:xfrm>
                <a:off x="1943179" y="2114379"/>
                <a:ext cx="55263" cy="67922"/>
              </a:xfrm>
              <a:custGeom>
                <a:avLst/>
                <a:gdLst/>
                <a:ahLst/>
                <a:cxnLst/>
                <a:rect l="l" t="t" r="r" b="b"/>
                <a:pathLst>
                  <a:path w="991" h="1218" extrusionOk="0">
                    <a:moveTo>
                      <a:pt x="358" y="1"/>
                    </a:moveTo>
                    <a:lnTo>
                      <a:pt x="0" y="1217"/>
                    </a:lnTo>
                    <a:lnTo>
                      <a:pt x="0" y="1217"/>
                    </a:lnTo>
                    <a:lnTo>
                      <a:pt x="990" y="436"/>
                    </a:lnTo>
                    <a:lnTo>
                      <a:pt x="3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8"/>
              <p:cNvSpPr/>
              <p:nvPr/>
            </p:nvSpPr>
            <p:spPr>
              <a:xfrm>
                <a:off x="2270962" y="1642278"/>
                <a:ext cx="46620" cy="40653"/>
              </a:xfrm>
              <a:custGeom>
                <a:avLst/>
                <a:gdLst/>
                <a:ahLst/>
                <a:cxnLst/>
                <a:rect l="l" t="t" r="r" b="b"/>
                <a:pathLst>
                  <a:path w="836" h="729" extrusionOk="0">
                    <a:moveTo>
                      <a:pt x="198" y="1"/>
                    </a:moveTo>
                    <a:lnTo>
                      <a:pt x="1" y="293"/>
                    </a:lnTo>
                    <a:lnTo>
                      <a:pt x="633" y="728"/>
                    </a:lnTo>
                    <a:lnTo>
                      <a:pt x="835" y="430"/>
                    </a:lnTo>
                    <a:lnTo>
                      <a:pt x="1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8"/>
              <p:cNvSpPr/>
              <p:nvPr/>
            </p:nvSpPr>
            <p:spPr>
              <a:xfrm>
                <a:off x="2074504" y="1933201"/>
                <a:ext cx="46564" cy="40262"/>
              </a:xfrm>
              <a:custGeom>
                <a:avLst/>
                <a:gdLst/>
                <a:ahLst/>
                <a:cxnLst/>
                <a:rect l="l" t="t" r="r" b="b"/>
                <a:pathLst>
                  <a:path w="835" h="722" extrusionOk="0">
                    <a:moveTo>
                      <a:pt x="203" y="1"/>
                    </a:moveTo>
                    <a:lnTo>
                      <a:pt x="0" y="293"/>
                    </a:lnTo>
                    <a:lnTo>
                      <a:pt x="638" y="722"/>
                    </a:lnTo>
                    <a:lnTo>
                      <a:pt x="835" y="430"/>
                    </a:lnTo>
                    <a:lnTo>
                      <a:pt x="2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8"/>
              <p:cNvSpPr/>
              <p:nvPr/>
            </p:nvSpPr>
            <p:spPr>
              <a:xfrm>
                <a:off x="2068481" y="1953833"/>
                <a:ext cx="38645" cy="28607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13" extrusionOk="0">
                    <a:moveTo>
                      <a:pt x="55" y="0"/>
                    </a:moveTo>
                    <a:lnTo>
                      <a:pt x="1" y="84"/>
                    </a:lnTo>
                    <a:lnTo>
                      <a:pt x="639" y="513"/>
                    </a:lnTo>
                    <a:lnTo>
                      <a:pt x="693" y="429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8"/>
              <p:cNvSpPr/>
              <p:nvPr/>
            </p:nvSpPr>
            <p:spPr>
              <a:xfrm>
                <a:off x="2088780" y="1923888"/>
                <a:ext cx="38645" cy="28663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14" extrusionOk="0">
                    <a:moveTo>
                      <a:pt x="54" y="1"/>
                    </a:moveTo>
                    <a:lnTo>
                      <a:pt x="1" y="84"/>
                    </a:lnTo>
                    <a:lnTo>
                      <a:pt x="639" y="513"/>
                    </a:lnTo>
                    <a:lnTo>
                      <a:pt x="692" y="430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8"/>
              <p:cNvSpPr/>
              <p:nvPr/>
            </p:nvSpPr>
            <p:spPr>
              <a:xfrm>
                <a:off x="2302246" y="1663580"/>
                <a:ext cx="28273" cy="25931"/>
              </a:xfrm>
              <a:custGeom>
                <a:avLst/>
                <a:gdLst/>
                <a:ahLst/>
                <a:cxnLst/>
                <a:rect l="l" t="t" r="r" b="b"/>
                <a:pathLst>
                  <a:path w="507" h="465" extrusionOk="0">
                    <a:moveTo>
                      <a:pt x="197" y="0"/>
                    </a:moveTo>
                    <a:lnTo>
                      <a:pt x="0" y="298"/>
                    </a:lnTo>
                    <a:lnTo>
                      <a:pt x="197" y="430"/>
                    </a:lnTo>
                    <a:cubicBezTo>
                      <a:pt x="230" y="453"/>
                      <a:pt x="267" y="464"/>
                      <a:pt x="303" y="464"/>
                    </a:cubicBezTo>
                    <a:cubicBezTo>
                      <a:pt x="360" y="464"/>
                      <a:pt x="415" y="436"/>
                      <a:pt x="447" y="382"/>
                    </a:cubicBezTo>
                    <a:cubicBezTo>
                      <a:pt x="507" y="298"/>
                      <a:pt x="483" y="185"/>
                      <a:pt x="400" y="132"/>
                    </a:cubicBez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8"/>
              <p:cNvSpPr/>
              <p:nvPr/>
            </p:nvSpPr>
            <p:spPr>
              <a:xfrm>
                <a:off x="2201814" y="1676852"/>
                <a:ext cx="124412" cy="181961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3263" extrusionOk="0">
                    <a:moveTo>
                      <a:pt x="2129" y="1"/>
                    </a:moveTo>
                    <a:lnTo>
                      <a:pt x="42" y="3095"/>
                    </a:lnTo>
                    <a:cubicBezTo>
                      <a:pt x="1" y="3143"/>
                      <a:pt x="19" y="3226"/>
                      <a:pt x="78" y="3262"/>
                    </a:cubicBezTo>
                    <a:lnTo>
                      <a:pt x="2230" y="66"/>
                    </a:lnTo>
                    <a:lnTo>
                      <a:pt x="21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8"/>
              <p:cNvSpPr/>
              <p:nvPr/>
            </p:nvSpPr>
            <p:spPr>
              <a:xfrm>
                <a:off x="2208115" y="1754643"/>
                <a:ext cx="68591" cy="96641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733" extrusionOk="0">
                    <a:moveTo>
                      <a:pt x="1158" y="1"/>
                    </a:moveTo>
                    <a:lnTo>
                      <a:pt x="1" y="1712"/>
                    </a:lnTo>
                    <a:cubicBezTo>
                      <a:pt x="24" y="1726"/>
                      <a:pt x="50" y="1732"/>
                      <a:pt x="76" y="1732"/>
                    </a:cubicBezTo>
                    <a:cubicBezTo>
                      <a:pt x="118" y="1732"/>
                      <a:pt x="158" y="1715"/>
                      <a:pt x="180" y="1682"/>
                    </a:cubicBezTo>
                    <a:lnTo>
                      <a:pt x="1193" y="186"/>
                    </a:lnTo>
                    <a:cubicBezTo>
                      <a:pt x="1229" y="120"/>
                      <a:pt x="1217" y="37"/>
                      <a:pt x="11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/>
          <p:nvPr/>
        </p:nvSpPr>
        <p:spPr>
          <a:xfrm>
            <a:off x="0" y="4608500"/>
            <a:ext cx="9144000" cy="60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29"/>
          <p:cNvGrpSpPr/>
          <p:nvPr/>
        </p:nvGrpSpPr>
        <p:grpSpPr>
          <a:xfrm>
            <a:off x="252102" y="146789"/>
            <a:ext cx="905124" cy="4848336"/>
            <a:chOff x="252102" y="146789"/>
            <a:chExt cx="905124" cy="4848336"/>
          </a:xfrm>
        </p:grpSpPr>
        <p:grpSp>
          <p:nvGrpSpPr>
            <p:cNvPr id="264" name="Google Shape;264;p29"/>
            <p:cNvGrpSpPr/>
            <p:nvPr/>
          </p:nvGrpSpPr>
          <p:grpSpPr>
            <a:xfrm>
              <a:off x="292335" y="146789"/>
              <a:ext cx="845519" cy="916623"/>
              <a:chOff x="140098" y="893514"/>
              <a:chExt cx="845519" cy="916623"/>
            </a:xfrm>
          </p:grpSpPr>
          <p:sp>
            <p:nvSpPr>
              <p:cNvPr id="265" name="Google Shape;265;p29"/>
              <p:cNvSpPr/>
              <p:nvPr/>
            </p:nvSpPr>
            <p:spPr>
              <a:xfrm>
                <a:off x="547467" y="1413813"/>
                <a:ext cx="438150" cy="396324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9"/>
              <p:cNvSpPr/>
              <p:nvPr/>
            </p:nvSpPr>
            <p:spPr>
              <a:xfrm>
                <a:off x="140098" y="893514"/>
                <a:ext cx="770708" cy="863910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7" name="Google Shape;267;p29"/>
            <p:cNvGrpSpPr/>
            <p:nvPr/>
          </p:nvGrpSpPr>
          <p:grpSpPr>
            <a:xfrm>
              <a:off x="252102" y="4107775"/>
              <a:ext cx="905124" cy="887350"/>
              <a:chOff x="252102" y="4107775"/>
              <a:chExt cx="905124" cy="887350"/>
            </a:xfrm>
          </p:grpSpPr>
          <p:sp>
            <p:nvSpPr>
              <p:cNvPr id="268" name="Google Shape;268;p29"/>
              <p:cNvSpPr/>
              <p:nvPr/>
            </p:nvSpPr>
            <p:spPr>
              <a:xfrm rot="6978333">
                <a:off x="382771" y="4222537"/>
                <a:ext cx="664659" cy="657826"/>
              </a:xfrm>
              <a:custGeom>
                <a:avLst/>
                <a:gdLst/>
                <a:ahLst/>
                <a:cxnLst/>
                <a:rect l="l" t="t" r="r" b="b"/>
                <a:pathLst>
                  <a:path w="7782" h="7702" extrusionOk="0">
                    <a:moveTo>
                      <a:pt x="6112" y="1623"/>
                    </a:moveTo>
                    <a:cubicBezTo>
                      <a:pt x="6112" y="1623"/>
                      <a:pt x="6112" y="1623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12" y="1623"/>
                      <a:pt x="6112" y="1623"/>
                    </a:cubicBezTo>
                    <a:close/>
                    <a:moveTo>
                      <a:pt x="1032" y="1"/>
                    </a:moveTo>
                    <a:cubicBezTo>
                      <a:pt x="1032" y="1"/>
                      <a:pt x="1" y="4037"/>
                      <a:pt x="1909" y="6207"/>
                    </a:cubicBezTo>
                    <a:cubicBezTo>
                      <a:pt x="1909" y="6207"/>
                      <a:pt x="3569" y="7701"/>
                      <a:pt x="5835" y="7701"/>
                    </a:cubicBezTo>
                    <a:cubicBezTo>
                      <a:pt x="6447" y="7701"/>
                      <a:pt x="7102" y="7592"/>
                      <a:pt x="7781" y="7316"/>
                    </a:cubicBezTo>
                    <a:cubicBezTo>
                      <a:pt x="7781" y="7316"/>
                      <a:pt x="5635" y="6499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09" y="1623"/>
                      <a:pt x="6104" y="1623"/>
                    </a:cubicBezTo>
                    <a:cubicBezTo>
                      <a:pt x="5980" y="1623"/>
                      <a:pt x="4400" y="1465"/>
                      <a:pt x="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9"/>
              <p:cNvSpPr/>
              <p:nvPr/>
            </p:nvSpPr>
            <p:spPr>
              <a:xfrm rot="6978333">
                <a:off x="220720" y="4425421"/>
                <a:ext cx="501697" cy="241624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2829" extrusionOk="0">
                    <a:moveTo>
                      <a:pt x="5873" y="2367"/>
                    </a:moveTo>
                    <a:cubicBezTo>
                      <a:pt x="5872" y="2368"/>
                      <a:pt x="5870" y="2368"/>
                      <a:pt x="5869" y="2369"/>
                    </a:cubicBezTo>
                    <a:lnTo>
                      <a:pt x="5869" y="2369"/>
                    </a:lnTo>
                    <a:cubicBezTo>
                      <a:pt x="5872" y="2368"/>
                      <a:pt x="5874" y="2368"/>
                      <a:pt x="5873" y="2367"/>
                    </a:cubicBezTo>
                    <a:close/>
                    <a:moveTo>
                      <a:pt x="2141" y="0"/>
                    </a:moveTo>
                    <a:cubicBezTo>
                      <a:pt x="2141" y="0"/>
                      <a:pt x="1496" y="1415"/>
                      <a:pt x="546" y="1415"/>
                    </a:cubicBezTo>
                    <a:cubicBezTo>
                      <a:pt x="373" y="1415"/>
                      <a:pt x="191" y="1368"/>
                      <a:pt x="1" y="1258"/>
                    </a:cubicBezTo>
                    <a:lnTo>
                      <a:pt x="1" y="1258"/>
                    </a:lnTo>
                    <a:cubicBezTo>
                      <a:pt x="1" y="1258"/>
                      <a:pt x="1394" y="2828"/>
                      <a:pt x="3689" y="2828"/>
                    </a:cubicBezTo>
                    <a:cubicBezTo>
                      <a:pt x="4346" y="2828"/>
                      <a:pt x="5076" y="2700"/>
                      <a:pt x="5869" y="2369"/>
                    </a:cubicBezTo>
                    <a:lnTo>
                      <a:pt x="5869" y="2369"/>
                    </a:lnTo>
                    <a:cubicBezTo>
                      <a:pt x="5850" y="2374"/>
                      <a:pt x="5766" y="2386"/>
                      <a:pt x="5633" y="2386"/>
                    </a:cubicBezTo>
                    <a:cubicBezTo>
                      <a:pt x="5034" y="2386"/>
                      <a:pt x="3434" y="2150"/>
                      <a:pt x="2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0" r:id="rId7"/>
    <p:sldLayoutId id="2147483674" r:id="rId8"/>
    <p:sldLayoutId id="214748367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ctrTitle"/>
          </p:nvPr>
        </p:nvSpPr>
        <p:spPr>
          <a:xfrm flipH="1">
            <a:off x="3927760" y="1329653"/>
            <a:ext cx="4547400" cy="25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cap="all" dirty="0">
                <a:solidFill>
                  <a:srgbClr val="44546A"/>
                </a:solidFill>
                <a:effectLst/>
                <a:latin typeface="Calibri Light" panose="020F0302020204030204" pitchFamily="34" charset="0"/>
              </a:rPr>
              <a:t>Judiciary Information Management System</a:t>
            </a:r>
            <a:endParaRPr sz="4000" b="0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82" name="Google Shape;282;p33"/>
          <p:cNvCxnSpPr/>
          <p:nvPr/>
        </p:nvCxnSpPr>
        <p:spPr>
          <a:xfrm rot="10800000">
            <a:off x="4639158" y="3486658"/>
            <a:ext cx="3743100" cy="0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3" name="Google Shape;283;p33"/>
          <p:cNvGrpSpPr/>
          <p:nvPr/>
        </p:nvGrpSpPr>
        <p:grpSpPr>
          <a:xfrm>
            <a:off x="524550" y="611191"/>
            <a:ext cx="3980294" cy="4166809"/>
            <a:chOff x="524550" y="611191"/>
            <a:chExt cx="3980294" cy="4166809"/>
          </a:xfrm>
        </p:grpSpPr>
        <p:grpSp>
          <p:nvGrpSpPr>
            <p:cNvPr id="284" name="Google Shape;284;p33"/>
            <p:cNvGrpSpPr/>
            <p:nvPr/>
          </p:nvGrpSpPr>
          <p:grpSpPr>
            <a:xfrm flipH="1">
              <a:off x="3840211" y="2972930"/>
              <a:ext cx="664633" cy="664286"/>
              <a:chOff x="6212418" y="1482331"/>
              <a:chExt cx="627249" cy="626921"/>
            </a:xfrm>
          </p:grpSpPr>
          <p:sp>
            <p:nvSpPr>
              <p:cNvPr id="285" name="Google Shape;285;p33"/>
              <p:cNvSpPr/>
              <p:nvPr/>
            </p:nvSpPr>
            <p:spPr>
              <a:xfrm>
                <a:off x="6212418" y="1482331"/>
                <a:ext cx="627249" cy="620800"/>
              </a:xfrm>
              <a:custGeom>
                <a:avLst/>
                <a:gdLst/>
                <a:ahLst/>
                <a:cxnLst/>
                <a:rect l="l" t="t" r="r" b="b"/>
                <a:pathLst>
                  <a:path w="7782" h="7702" extrusionOk="0">
                    <a:moveTo>
                      <a:pt x="6112" y="1623"/>
                    </a:moveTo>
                    <a:cubicBezTo>
                      <a:pt x="6112" y="1623"/>
                      <a:pt x="6112" y="1623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12" y="1623"/>
                      <a:pt x="6112" y="1623"/>
                    </a:cubicBezTo>
                    <a:close/>
                    <a:moveTo>
                      <a:pt x="1032" y="1"/>
                    </a:moveTo>
                    <a:cubicBezTo>
                      <a:pt x="1032" y="1"/>
                      <a:pt x="1" y="4037"/>
                      <a:pt x="1909" y="6207"/>
                    </a:cubicBezTo>
                    <a:cubicBezTo>
                      <a:pt x="1909" y="6207"/>
                      <a:pt x="3569" y="7701"/>
                      <a:pt x="5835" y="7701"/>
                    </a:cubicBezTo>
                    <a:cubicBezTo>
                      <a:pt x="6447" y="7701"/>
                      <a:pt x="7102" y="7592"/>
                      <a:pt x="7781" y="7316"/>
                    </a:cubicBezTo>
                    <a:cubicBezTo>
                      <a:pt x="7781" y="7316"/>
                      <a:pt x="5635" y="6499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09" y="1623"/>
                      <a:pt x="6104" y="1623"/>
                    </a:cubicBezTo>
                    <a:cubicBezTo>
                      <a:pt x="5980" y="1623"/>
                      <a:pt x="4400" y="1465"/>
                      <a:pt x="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3"/>
              <p:cNvSpPr/>
              <p:nvPr/>
            </p:nvSpPr>
            <p:spPr>
              <a:xfrm>
                <a:off x="6365722" y="1881228"/>
                <a:ext cx="473459" cy="228024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2829" extrusionOk="0">
                    <a:moveTo>
                      <a:pt x="5873" y="2367"/>
                    </a:moveTo>
                    <a:cubicBezTo>
                      <a:pt x="5872" y="2368"/>
                      <a:pt x="5870" y="2368"/>
                      <a:pt x="5869" y="2369"/>
                    </a:cubicBezTo>
                    <a:lnTo>
                      <a:pt x="5869" y="2369"/>
                    </a:lnTo>
                    <a:cubicBezTo>
                      <a:pt x="5872" y="2368"/>
                      <a:pt x="5874" y="2368"/>
                      <a:pt x="5873" y="2367"/>
                    </a:cubicBezTo>
                    <a:close/>
                    <a:moveTo>
                      <a:pt x="2141" y="0"/>
                    </a:moveTo>
                    <a:cubicBezTo>
                      <a:pt x="2141" y="0"/>
                      <a:pt x="1496" y="1415"/>
                      <a:pt x="546" y="1415"/>
                    </a:cubicBezTo>
                    <a:cubicBezTo>
                      <a:pt x="373" y="1415"/>
                      <a:pt x="191" y="1368"/>
                      <a:pt x="1" y="1258"/>
                    </a:cubicBezTo>
                    <a:lnTo>
                      <a:pt x="1" y="1258"/>
                    </a:lnTo>
                    <a:cubicBezTo>
                      <a:pt x="1" y="1258"/>
                      <a:pt x="1394" y="2828"/>
                      <a:pt x="3689" y="2828"/>
                    </a:cubicBezTo>
                    <a:cubicBezTo>
                      <a:pt x="4346" y="2828"/>
                      <a:pt x="5076" y="2700"/>
                      <a:pt x="5869" y="2369"/>
                    </a:cubicBezTo>
                    <a:lnTo>
                      <a:pt x="5869" y="2369"/>
                    </a:lnTo>
                    <a:cubicBezTo>
                      <a:pt x="5850" y="2374"/>
                      <a:pt x="5766" y="2386"/>
                      <a:pt x="5633" y="2386"/>
                    </a:cubicBezTo>
                    <a:cubicBezTo>
                      <a:pt x="5034" y="2386"/>
                      <a:pt x="3434" y="2150"/>
                      <a:pt x="2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" name="Google Shape;287;p33"/>
            <p:cNvGrpSpPr/>
            <p:nvPr/>
          </p:nvGrpSpPr>
          <p:grpSpPr>
            <a:xfrm flipH="1">
              <a:off x="998552" y="611191"/>
              <a:ext cx="845522" cy="916625"/>
              <a:chOff x="7511392" y="307000"/>
              <a:chExt cx="863570" cy="936192"/>
            </a:xfrm>
          </p:grpSpPr>
          <p:sp>
            <p:nvSpPr>
              <p:cNvPr id="288" name="Google Shape;288;p33"/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3"/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0" name="Google Shape;290;p33"/>
            <p:cNvSpPr/>
            <p:nvPr/>
          </p:nvSpPr>
          <p:spPr>
            <a:xfrm>
              <a:off x="524550" y="4609128"/>
              <a:ext cx="3273253" cy="168873"/>
            </a:xfrm>
            <a:custGeom>
              <a:avLst/>
              <a:gdLst/>
              <a:ahLst/>
              <a:cxnLst/>
              <a:rect l="l" t="t" r="r" b="b"/>
              <a:pathLst>
                <a:path w="17929" h="925" extrusionOk="0">
                  <a:moveTo>
                    <a:pt x="8961" y="1"/>
                  </a:moveTo>
                  <a:cubicBezTo>
                    <a:pt x="4013" y="1"/>
                    <a:pt x="1" y="209"/>
                    <a:pt x="1" y="466"/>
                  </a:cubicBezTo>
                  <a:cubicBezTo>
                    <a:pt x="1" y="722"/>
                    <a:pt x="4013" y="925"/>
                    <a:pt x="8961" y="925"/>
                  </a:cubicBezTo>
                  <a:cubicBezTo>
                    <a:pt x="13916" y="925"/>
                    <a:pt x="17928" y="722"/>
                    <a:pt x="17928" y="466"/>
                  </a:cubicBezTo>
                  <a:cubicBezTo>
                    <a:pt x="17928" y="209"/>
                    <a:pt x="13916" y="1"/>
                    <a:pt x="8961" y="1"/>
                  </a:cubicBezTo>
                  <a:close/>
                </a:path>
              </a:pathLst>
            </a:custGeom>
            <a:solidFill>
              <a:srgbClr val="434343">
                <a:alpha val="295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1" name="Google Shape;291;p33"/>
            <p:cNvGrpSpPr/>
            <p:nvPr/>
          </p:nvGrpSpPr>
          <p:grpSpPr>
            <a:xfrm>
              <a:off x="813848" y="4145244"/>
              <a:ext cx="2655916" cy="566303"/>
              <a:chOff x="6098010" y="4127346"/>
              <a:chExt cx="2020169" cy="430747"/>
            </a:xfrm>
          </p:grpSpPr>
          <p:sp>
            <p:nvSpPr>
              <p:cNvPr id="292" name="Google Shape;292;p33"/>
              <p:cNvSpPr/>
              <p:nvPr/>
            </p:nvSpPr>
            <p:spPr>
              <a:xfrm>
                <a:off x="6098010" y="4127346"/>
                <a:ext cx="1162557" cy="430744"/>
              </a:xfrm>
              <a:custGeom>
                <a:avLst/>
                <a:gdLst/>
                <a:ahLst/>
                <a:cxnLst/>
                <a:rect l="l" t="t" r="r" b="b"/>
                <a:pathLst>
                  <a:path w="8372" h="3102" extrusionOk="0">
                    <a:moveTo>
                      <a:pt x="358" y="1"/>
                    </a:moveTo>
                    <a:cubicBezTo>
                      <a:pt x="1" y="1038"/>
                      <a:pt x="1" y="2064"/>
                      <a:pt x="358" y="3101"/>
                    </a:cubicBezTo>
                    <a:lnTo>
                      <a:pt x="8371" y="3101"/>
                    </a:lnTo>
                    <a:lnTo>
                      <a:pt x="837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3"/>
              <p:cNvSpPr/>
              <p:nvPr/>
            </p:nvSpPr>
            <p:spPr>
              <a:xfrm>
                <a:off x="6098010" y="4127346"/>
                <a:ext cx="114423" cy="430744"/>
              </a:xfrm>
              <a:custGeom>
                <a:avLst/>
                <a:gdLst/>
                <a:ahLst/>
                <a:cxnLst/>
                <a:rect l="l" t="t" r="r" b="b"/>
                <a:pathLst>
                  <a:path w="824" h="3102" extrusionOk="0">
                    <a:moveTo>
                      <a:pt x="358" y="1"/>
                    </a:moveTo>
                    <a:cubicBezTo>
                      <a:pt x="1" y="1038"/>
                      <a:pt x="1" y="2064"/>
                      <a:pt x="358" y="3101"/>
                    </a:cubicBezTo>
                    <a:lnTo>
                      <a:pt x="794" y="3101"/>
                    </a:lnTo>
                    <a:cubicBezTo>
                      <a:pt x="472" y="2064"/>
                      <a:pt x="484" y="1038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3"/>
              <p:cNvSpPr/>
              <p:nvPr/>
            </p:nvSpPr>
            <p:spPr>
              <a:xfrm>
                <a:off x="6190770" y="4127346"/>
                <a:ext cx="67209" cy="430744"/>
              </a:xfrm>
              <a:custGeom>
                <a:avLst/>
                <a:gdLst/>
                <a:ahLst/>
                <a:cxnLst/>
                <a:rect l="l" t="t" r="r" b="b"/>
                <a:pathLst>
                  <a:path w="484" h="3102" extrusionOk="0">
                    <a:moveTo>
                      <a:pt x="364" y="1"/>
                    </a:moveTo>
                    <a:cubicBezTo>
                      <a:pt x="0" y="1038"/>
                      <a:pt x="0" y="2064"/>
                      <a:pt x="364" y="3101"/>
                    </a:cubicBezTo>
                    <a:lnTo>
                      <a:pt x="483" y="3101"/>
                    </a:lnTo>
                    <a:cubicBezTo>
                      <a:pt x="131" y="2064"/>
                      <a:pt x="131" y="1038"/>
                      <a:pt x="4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3"/>
              <p:cNvSpPr/>
              <p:nvPr/>
            </p:nvSpPr>
            <p:spPr>
              <a:xfrm>
                <a:off x="7027692" y="4127346"/>
                <a:ext cx="66376" cy="430744"/>
              </a:xfrm>
              <a:custGeom>
                <a:avLst/>
                <a:gdLst/>
                <a:ahLst/>
                <a:cxnLst/>
                <a:rect l="l" t="t" r="r" b="b"/>
                <a:pathLst>
                  <a:path w="478" h="3102" extrusionOk="0">
                    <a:moveTo>
                      <a:pt x="359" y="1"/>
                    </a:moveTo>
                    <a:cubicBezTo>
                      <a:pt x="1" y="1038"/>
                      <a:pt x="1" y="2064"/>
                      <a:pt x="359" y="3101"/>
                    </a:cubicBezTo>
                    <a:lnTo>
                      <a:pt x="478" y="3101"/>
                    </a:lnTo>
                    <a:cubicBezTo>
                      <a:pt x="126" y="2064"/>
                      <a:pt x="126" y="1038"/>
                      <a:pt x="4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3"/>
              <p:cNvSpPr/>
              <p:nvPr/>
            </p:nvSpPr>
            <p:spPr>
              <a:xfrm>
                <a:off x="7185856" y="4127346"/>
                <a:ext cx="932323" cy="46518"/>
              </a:xfrm>
              <a:custGeom>
                <a:avLst/>
                <a:gdLst/>
                <a:ahLst/>
                <a:cxnLst/>
                <a:rect l="l" t="t" r="r" b="b"/>
                <a:pathLst>
                  <a:path w="6714" h="335" extrusionOk="0">
                    <a:moveTo>
                      <a:pt x="1" y="1"/>
                    </a:moveTo>
                    <a:lnTo>
                      <a:pt x="1" y="335"/>
                    </a:lnTo>
                    <a:lnTo>
                      <a:pt x="6714" y="335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C4BD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33"/>
              <p:cNvSpPr/>
              <p:nvPr/>
            </p:nvSpPr>
            <p:spPr>
              <a:xfrm>
                <a:off x="7185856" y="4511575"/>
                <a:ext cx="932323" cy="46518"/>
              </a:xfrm>
              <a:custGeom>
                <a:avLst/>
                <a:gdLst/>
                <a:ahLst/>
                <a:cxnLst/>
                <a:rect l="l" t="t" r="r" b="b"/>
                <a:pathLst>
                  <a:path w="6714" h="335" extrusionOk="0">
                    <a:moveTo>
                      <a:pt x="1" y="0"/>
                    </a:moveTo>
                    <a:lnTo>
                      <a:pt x="1" y="334"/>
                    </a:lnTo>
                    <a:lnTo>
                      <a:pt x="6714" y="334"/>
                    </a:lnTo>
                    <a:lnTo>
                      <a:pt x="6714" y="0"/>
                    </a:lnTo>
                    <a:close/>
                  </a:path>
                </a:pathLst>
              </a:custGeom>
              <a:solidFill>
                <a:srgbClr val="C4BD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33"/>
              <p:cNvSpPr/>
              <p:nvPr/>
            </p:nvSpPr>
            <p:spPr>
              <a:xfrm>
                <a:off x="7199881" y="4175392"/>
                <a:ext cx="887748" cy="336319"/>
              </a:xfrm>
              <a:custGeom>
                <a:avLst/>
                <a:gdLst/>
                <a:ahLst/>
                <a:cxnLst/>
                <a:rect l="l" t="t" r="r" b="b"/>
                <a:pathLst>
                  <a:path w="6393" h="2422" extrusionOk="0">
                    <a:moveTo>
                      <a:pt x="281" y="1"/>
                    </a:moveTo>
                    <a:cubicBezTo>
                      <a:pt x="1" y="806"/>
                      <a:pt x="1" y="1616"/>
                      <a:pt x="281" y="2421"/>
                    </a:cubicBezTo>
                    <a:lnTo>
                      <a:pt x="6392" y="2421"/>
                    </a:lnTo>
                    <a:cubicBezTo>
                      <a:pt x="6344" y="2296"/>
                      <a:pt x="6303" y="2159"/>
                      <a:pt x="6273" y="2034"/>
                    </a:cubicBezTo>
                    <a:cubicBezTo>
                      <a:pt x="6261" y="2016"/>
                      <a:pt x="6261" y="2004"/>
                      <a:pt x="6261" y="1992"/>
                    </a:cubicBezTo>
                    <a:cubicBezTo>
                      <a:pt x="6231" y="1873"/>
                      <a:pt x="6213" y="1754"/>
                      <a:pt x="6195" y="1634"/>
                    </a:cubicBezTo>
                    <a:cubicBezTo>
                      <a:pt x="6189" y="1622"/>
                      <a:pt x="6189" y="1605"/>
                      <a:pt x="6189" y="1593"/>
                    </a:cubicBezTo>
                    <a:cubicBezTo>
                      <a:pt x="6171" y="1473"/>
                      <a:pt x="6166" y="1354"/>
                      <a:pt x="6166" y="1235"/>
                    </a:cubicBezTo>
                    <a:lnTo>
                      <a:pt x="6166" y="1187"/>
                    </a:lnTo>
                    <a:cubicBezTo>
                      <a:pt x="6166" y="1068"/>
                      <a:pt x="6171" y="949"/>
                      <a:pt x="6189" y="829"/>
                    </a:cubicBezTo>
                    <a:cubicBezTo>
                      <a:pt x="6195" y="818"/>
                      <a:pt x="6195" y="806"/>
                      <a:pt x="6195" y="788"/>
                    </a:cubicBezTo>
                    <a:cubicBezTo>
                      <a:pt x="6213" y="669"/>
                      <a:pt x="6231" y="549"/>
                      <a:pt x="6261" y="430"/>
                    </a:cubicBezTo>
                    <a:cubicBezTo>
                      <a:pt x="6261" y="418"/>
                      <a:pt x="6273" y="400"/>
                      <a:pt x="6273" y="388"/>
                    </a:cubicBezTo>
                    <a:cubicBezTo>
                      <a:pt x="6303" y="257"/>
                      <a:pt x="6344" y="126"/>
                      <a:pt x="639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3"/>
              <p:cNvSpPr/>
              <p:nvPr/>
            </p:nvSpPr>
            <p:spPr>
              <a:xfrm>
                <a:off x="7308332" y="4227604"/>
                <a:ext cx="762633" cy="6804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9" extrusionOk="0">
                    <a:moveTo>
                      <a:pt x="25" y="0"/>
                    </a:moveTo>
                    <a:cubicBezTo>
                      <a:pt x="13" y="0"/>
                      <a:pt x="1" y="12"/>
                      <a:pt x="1" y="24"/>
                    </a:cubicBezTo>
                    <a:cubicBezTo>
                      <a:pt x="1" y="42"/>
                      <a:pt x="13" y="48"/>
                      <a:pt x="25" y="48"/>
                    </a:cubicBezTo>
                    <a:lnTo>
                      <a:pt x="5480" y="48"/>
                    </a:lnTo>
                    <a:cubicBezTo>
                      <a:pt x="5480" y="30"/>
                      <a:pt x="5492" y="18"/>
                      <a:pt x="549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3"/>
              <p:cNvSpPr/>
              <p:nvPr/>
            </p:nvSpPr>
            <p:spPr>
              <a:xfrm>
                <a:off x="7363877" y="4283843"/>
                <a:ext cx="695562" cy="5971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43" extrusionOk="0">
                    <a:moveTo>
                      <a:pt x="24" y="1"/>
                    </a:moveTo>
                    <a:cubicBezTo>
                      <a:pt x="6" y="1"/>
                      <a:pt x="0" y="7"/>
                      <a:pt x="0" y="25"/>
                    </a:cubicBezTo>
                    <a:cubicBezTo>
                      <a:pt x="0" y="37"/>
                      <a:pt x="6" y="43"/>
                      <a:pt x="24" y="43"/>
                    </a:cubicBezTo>
                    <a:lnTo>
                      <a:pt x="4996" y="43"/>
                    </a:lnTo>
                    <a:cubicBezTo>
                      <a:pt x="5008" y="31"/>
                      <a:pt x="5008" y="13"/>
                      <a:pt x="50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3"/>
              <p:cNvSpPr/>
              <p:nvPr/>
            </p:nvSpPr>
            <p:spPr>
              <a:xfrm>
                <a:off x="7288475" y="4339387"/>
                <a:ext cx="767632" cy="6665"/>
              </a:xfrm>
              <a:custGeom>
                <a:avLst/>
                <a:gdLst/>
                <a:ahLst/>
                <a:cxnLst/>
                <a:rect l="l" t="t" r="r" b="b"/>
                <a:pathLst>
                  <a:path w="5528" h="48" extrusionOk="0">
                    <a:moveTo>
                      <a:pt x="19" y="0"/>
                    </a:moveTo>
                    <a:cubicBezTo>
                      <a:pt x="7" y="0"/>
                      <a:pt x="1" y="12"/>
                      <a:pt x="1" y="24"/>
                    </a:cubicBezTo>
                    <a:cubicBezTo>
                      <a:pt x="1" y="42"/>
                      <a:pt x="7" y="48"/>
                      <a:pt x="19" y="48"/>
                    </a:cubicBezTo>
                    <a:lnTo>
                      <a:pt x="5528" y="48"/>
                    </a:lnTo>
                    <a:lnTo>
                      <a:pt x="552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3"/>
              <p:cNvSpPr/>
              <p:nvPr/>
            </p:nvSpPr>
            <p:spPr>
              <a:xfrm>
                <a:off x="7344020" y="4395626"/>
                <a:ext cx="715420" cy="5971"/>
              </a:xfrm>
              <a:custGeom>
                <a:avLst/>
                <a:gdLst/>
                <a:ahLst/>
                <a:cxnLst/>
                <a:rect l="l" t="t" r="r" b="b"/>
                <a:pathLst>
                  <a:path w="5152" h="43" extrusionOk="0">
                    <a:moveTo>
                      <a:pt x="24" y="1"/>
                    </a:moveTo>
                    <a:cubicBezTo>
                      <a:pt x="6" y="1"/>
                      <a:pt x="0" y="7"/>
                      <a:pt x="0" y="25"/>
                    </a:cubicBezTo>
                    <a:cubicBezTo>
                      <a:pt x="0" y="36"/>
                      <a:pt x="6" y="42"/>
                      <a:pt x="24" y="42"/>
                    </a:cubicBezTo>
                    <a:lnTo>
                      <a:pt x="5151" y="42"/>
                    </a:lnTo>
                    <a:lnTo>
                      <a:pt x="515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3"/>
              <p:cNvSpPr/>
              <p:nvPr/>
            </p:nvSpPr>
            <p:spPr>
              <a:xfrm>
                <a:off x="7308332" y="4451170"/>
                <a:ext cx="762633" cy="666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8" extrusionOk="0">
                    <a:moveTo>
                      <a:pt x="25" y="0"/>
                    </a:moveTo>
                    <a:cubicBezTo>
                      <a:pt x="13" y="0"/>
                      <a:pt x="1" y="12"/>
                      <a:pt x="1" y="24"/>
                    </a:cubicBezTo>
                    <a:cubicBezTo>
                      <a:pt x="1" y="42"/>
                      <a:pt x="13" y="48"/>
                      <a:pt x="25" y="48"/>
                    </a:cubicBezTo>
                    <a:lnTo>
                      <a:pt x="5492" y="48"/>
                    </a:lnTo>
                    <a:cubicBezTo>
                      <a:pt x="5480" y="30"/>
                      <a:pt x="5480" y="18"/>
                      <a:pt x="54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3"/>
              <p:cNvSpPr/>
              <p:nvPr/>
            </p:nvSpPr>
            <p:spPr>
              <a:xfrm>
                <a:off x="7237235" y="4175392"/>
                <a:ext cx="850394" cy="336319"/>
              </a:xfrm>
              <a:custGeom>
                <a:avLst/>
                <a:gdLst/>
                <a:ahLst/>
                <a:cxnLst/>
                <a:rect l="l" t="t" r="r" b="b"/>
                <a:pathLst>
                  <a:path w="6124" h="2422" extrusionOk="0">
                    <a:moveTo>
                      <a:pt x="0" y="1"/>
                    </a:moveTo>
                    <a:cubicBezTo>
                      <a:pt x="0" y="1"/>
                      <a:pt x="3440" y="806"/>
                      <a:pt x="5169" y="2421"/>
                    </a:cubicBezTo>
                    <a:lnTo>
                      <a:pt x="6123" y="2421"/>
                    </a:lnTo>
                    <a:cubicBezTo>
                      <a:pt x="6075" y="2296"/>
                      <a:pt x="6034" y="2159"/>
                      <a:pt x="6004" y="2034"/>
                    </a:cubicBezTo>
                    <a:cubicBezTo>
                      <a:pt x="5992" y="2016"/>
                      <a:pt x="5992" y="2004"/>
                      <a:pt x="5986" y="1992"/>
                    </a:cubicBezTo>
                    <a:cubicBezTo>
                      <a:pt x="5956" y="1873"/>
                      <a:pt x="5932" y="1754"/>
                      <a:pt x="5920" y="1634"/>
                    </a:cubicBezTo>
                    <a:cubicBezTo>
                      <a:pt x="5908" y="1622"/>
                      <a:pt x="5908" y="1605"/>
                      <a:pt x="5908" y="1593"/>
                    </a:cubicBezTo>
                    <a:cubicBezTo>
                      <a:pt x="5897" y="1473"/>
                      <a:pt x="5891" y="1354"/>
                      <a:pt x="5891" y="1235"/>
                    </a:cubicBezTo>
                    <a:lnTo>
                      <a:pt x="5891" y="1187"/>
                    </a:lnTo>
                    <a:cubicBezTo>
                      <a:pt x="5891" y="1068"/>
                      <a:pt x="5897" y="949"/>
                      <a:pt x="5908" y="829"/>
                    </a:cubicBezTo>
                    <a:cubicBezTo>
                      <a:pt x="5920" y="818"/>
                      <a:pt x="5920" y="806"/>
                      <a:pt x="5920" y="788"/>
                    </a:cubicBezTo>
                    <a:cubicBezTo>
                      <a:pt x="5932" y="669"/>
                      <a:pt x="5956" y="549"/>
                      <a:pt x="5986" y="430"/>
                    </a:cubicBezTo>
                    <a:cubicBezTo>
                      <a:pt x="5986" y="418"/>
                      <a:pt x="5992" y="400"/>
                      <a:pt x="5992" y="388"/>
                    </a:cubicBezTo>
                    <a:cubicBezTo>
                      <a:pt x="6022" y="257"/>
                      <a:pt x="6069" y="126"/>
                      <a:pt x="6111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3"/>
              <p:cNvSpPr/>
              <p:nvPr/>
            </p:nvSpPr>
            <p:spPr>
              <a:xfrm>
                <a:off x="7129617" y="4127346"/>
                <a:ext cx="987729" cy="430744"/>
              </a:xfrm>
              <a:custGeom>
                <a:avLst/>
                <a:gdLst/>
                <a:ahLst/>
                <a:cxnLst/>
                <a:rect l="l" t="t" r="r" b="b"/>
                <a:pathLst>
                  <a:path w="7113" h="3102" extrusionOk="0">
                    <a:moveTo>
                      <a:pt x="471" y="1"/>
                    </a:moveTo>
                    <a:cubicBezTo>
                      <a:pt x="471" y="1"/>
                      <a:pt x="60" y="561"/>
                      <a:pt x="30" y="1509"/>
                    </a:cubicBezTo>
                    <a:cubicBezTo>
                      <a:pt x="0" y="2451"/>
                      <a:pt x="268" y="3101"/>
                      <a:pt x="268" y="3101"/>
                    </a:cubicBezTo>
                    <a:lnTo>
                      <a:pt x="7113" y="3101"/>
                    </a:lnTo>
                    <a:lnTo>
                      <a:pt x="7113" y="2767"/>
                    </a:lnTo>
                    <a:lnTo>
                      <a:pt x="775" y="2767"/>
                    </a:lnTo>
                    <a:cubicBezTo>
                      <a:pt x="775" y="2767"/>
                      <a:pt x="549" y="2058"/>
                      <a:pt x="567" y="1497"/>
                    </a:cubicBezTo>
                    <a:cubicBezTo>
                      <a:pt x="590" y="943"/>
                      <a:pt x="698" y="454"/>
                      <a:pt x="775" y="335"/>
                    </a:cubicBezTo>
                    <a:lnTo>
                      <a:pt x="7113" y="335"/>
                    </a:lnTo>
                    <a:lnTo>
                      <a:pt x="71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3"/>
              <p:cNvSpPr/>
              <p:nvPr/>
            </p:nvSpPr>
            <p:spPr>
              <a:xfrm>
                <a:off x="7080737" y="4127346"/>
                <a:ext cx="114423" cy="430744"/>
              </a:xfrm>
              <a:custGeom>
                <a:avLst/>
                <a:gdLst/>
                <a:ahLst/>
                <a:cxnLst/>
                <a:rect l="l" t="t" r="r" b="b"/>
                <a:pathLst>
                  <a:path w="824" h="3102" extrusionOk="0">
                    <a:moveTo>
                      <a:pt x="364" y="1"/>
                    </a:moveTo>
                    <a:cubicBezTo>
                      <a:pt x="0" y="1038"/>
                      <a:pt x="0" y="2064"/>
                      <a:pt x="364" y="3101"/>
                    </a:cubicBezTo>
                    <a:lnTo>
                      <a:pt x="793" y="3101"/>
                    </a:lnTo>
                    <a:cubicBezTo>
                      <a:pt x="471" y="2064"/>
                      <a:pt x="489" y="1038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7" name="Google Shape;307;p33"/>
            <p:cNvGrpSpPr/>
            <p:nvPr/>
          </p:nvGrpSpPr>
          <p:grpSpPr>
            <a:xfrm>
              <a:off x="1139576" y="1451653"/>
              <a:ext cx="2741920" cy="2134502"/>
              <a:chOff x="6328726" y="268400"/>
              <a:chExt cx="1863097" cy="1450168"/>
            </a:xfrm>
          </p:grpSpPr>
          <p:sp>
            <p:nvSpPr>
              <p:cNvPr id="308" name="Google Shape;308;p33"/>
              <p:cNvSpPr/>
              <p:nvPr/>
            </p:nvSpPr>
            <p:spPr>
              <a:xfrm>
                <a:off x="7246326" y="450597"/>
                <a:ext cx="869827" cy="133412"/>
              </a:xfrm>
              <a:custGeom>
                <a:avLst/>
                <a:gdLst/>
                <a:ahLst/>
                <a:cxnLst/>
                <a:rect l="l" t="t" r="r" b="b"/>
                <a:pathLst>
                  <a:path w="11162" h="1712" extrusionOk="0">
                    <a:moveTo>
                      <a:pt x="3126" y="1"/>
                    </a:moveTo>
                    <a:cubicBezTo>
                      <a:pt x="2077" y="1"/>
                      <a:pt x="1062" y="103"/>
                      <a:pt x="0" y="262"/>
                    </a:cubicBezTo>
                    <a:lnTo>
                      <a:pt x="167" y="1711"/>
                    </a:lnTo>
                    <a:cubicBezTo>
                      <a:pt x="167" y="1711"/>
                      <a:pt x="1049" y="1086"/>
                      <a:pt x="3184" y="1086"/>
                    </a:cubicBezTo>
                    <a:cubicBezTo>
                      <a:pt x="3507" y="1086"/>
                      <a:pt x="3858" y="1100"/>
                      <a:pt x="4239" y="1133"/>
                    </a:cubicBezTo>
                    <a:cubicBezTo>
                      <a:pt x="5184" y="1217"/>
                      <a:pt x="6318" y="1285"/>
                      <a:pt x="7379" y="1285"/>
                    </a:cubicBezTo>
                    <a:cubicBezTo>
                      <a:pt x="9403" y="1285"/>
                      <a:pt x="11162" y="1038"/>
                      <a:pt x="10833" y="185"/>
                    </a:cubicBezTo>
                    <a:cubicBezTo>
                      <a:pt x="10809" y="124"/>
                      <a:pt x="10754" y="90"/>
                      <a:pt x="10698" y="90"/>
                    </a:cubicBezTo>
                    <a:cubicBezTo>
                      <a:pt x="10655" y="90"/>
                      <a:pt x="10611" y="111"/>
                      <a:pt x="10583" y="155"/>
                    </a:cubicBezTo>
                    <a:cubicBezTo>
                      <a:pt x="10404" y="425"/>
                      <a:pt x="9965" y="857"/>
                      <a:pt x="8984" y="857"/>
                    </a:cubicBezTo>
                    <a:cubicBezTo>
                      <a:pt x="8622" y="857"/>
                      <a:pt x="8186" y="798"/>
                      <a:pt x="7661" y="650"/>
                    </a:cubicBezTo>
                    <a:cubicBezTo>
                      <a:pt x="5966" y="181"/>
                      <a:pt x="4516" y="1"/>
                      <a:pt x="31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3"/>
              <p:cNvSpPr/>
              <p:nvPr/>
            </p:nvSpPr>
            <p:spPr>
              <a:xfrm>
                <a:off x="6414836" y="471014"/>
                <a:ext cx="844578" cy="222093"/>
              </a:xfrm>
              <a:custGeom>
                <a:avLst/>
                <a:gdLst/>
                <a:ahLst/>
                <a:cxnLst/>
                <a:rect l="l" t="t" r="r" b="b"/>
                <a:pathLst>
                  <a:path w="10838" h="2850" extrusionOk="0">
                    <a:moveTo>
                      <a:pt x="10688" y="0"/>
                    </a:moveTo>
                    <a:cubicBezTo>
                      <a:pt x="8196" y="149"/>
                      <a:pt x="6014" y="537"/>
                      <a:pt x="3277" y="1968"/>
                    </a:cubicBezTo>
                    <a:cubicBezTo>
                      <a:pt x="2509" y="2368"/>
                      <a:pt x="1914" y="2505"/>
                      <a:pt x="1459" y="2505"/>
                    </a:cubicBezTo>
                    <a:cubicBezTo>
                      <a:pt x="859" y="2505"/>
                      <a:pt x="503" y="2267"/>
                      <a:pt x="320" y="2087"/>
                    </a:cubicBezTo>
                    <a:cubicBezTo>
                      <a:pt x="292" y="2059"/>
                      <a:pt x="257" y="2046"/>
                      <a:pt x="223" y="2046"/>
                    </a:cubicBezTo>
                    <a:cubicBezTo>
                      <a:pt x="155" y="2046"/>
                      <a:pt x="90" y="2095"/>
                      <a:pt x="82" y="2170"/>
                    </a:cubicBezTo>
                    <a:cubicBezTo>
                      <a:pt x="1" y="2663"/>
                      <a:pt x="490" y="2850"/>
                      <a:pt x="1272" y="2850"/>
                    </a:cubicBezTo>
                    <a:cubicBezTo>
                      <a:pt x="2678" y="2850"/>
                      <a:pt x="5032" y="2246"/>
                      <a:pt x="6729" y="1729"/>
                    </a:cubicBezTo>
                    <a:cubicBezTo>
                      <a:pt x="7925" y="1367"/>
                      <a:pt x="8850" y="1264"/>
                      <a:pt x="9516" y="1264"/>
                    </a:cubicBezTo>
                    <a:cubicBezTo>
                      <a:pt x="10407" y="1264"/>
                      <a:pt x="10837" y="1449"/>
                      <a:pt x="10837" y="1449"/>
                    </a:cubicBezTo>
                    <a:lnTo>
                      <a:pt x="1068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3"/>
              <p:cNvSpPr/>
              <p:nvPr/>
            </p:nvSpPr>
            <p:spPr>
              <a:xfrm>
                <a:off x="7204011" y="473741"/>
                <a:ext cx="17300" cy="99513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277" extrusionOk="0">
                    <a:moveTo>
                      <a:pt x="62" y="0"/>
                    </a:moveTo>
                    <a:cubicBezTo>
                      <a:pt x="53" y="0"/>
                      <a:pt x="45" y="2"/>
                      <a:pt x="36" y="7"/>
                    </a:cubicBezTo>
                    <a:lnTo>
                      <a:pt x="1" y="1259"/>
                    </a:lnTo>
                    <a:lnTo>
                      <a:pt x="173" y="1277"/>
                    </a:lnTo>
                    <a:lnTo>
                      <a:pt x="221" y="174"/>
                    </a:lnTo>
                    <a:cubicBezTo>
                      <a:pt x="221" y="174"/>
                      <a:pt x="139" y="0"/>
                      <a:pt x="62" y="0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3"/>
              <p:cNvSpPr/>
              <p:nvPr/>
            </p:nvSpPr>
            <p:spPr>
              <a:xfrm>
                <a:off x="7286303" y="462909"/>
                <a:ext cx="26028" cy="10294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321" extrusionOk="0">
                    <a:moveTo>
                      <a:pt x="192" y="0"/>
                    </a:moveTo>
                    <a:cubicBezTo>
                      <a:pt x="105" y="0"/>
                      <a:pt x="0" y="212"/>
                      <a:pt x="6" y="218"/>
                    </a:cubicBezTo>
                    <a:lnTo>
                      <a:pt x="143" y="1321"/>
                    </a:lnTo>
                    <a:lnTo>
                      <a:pt x="334" y="1255"/>
                    </a:lnTo>
                    <a:lnTo>
                      <a:pt x="209" y="3"/>
                    </a:lnTo>
                    <a:cubicBezTo>
                      <a:pt x="203" y="1"/>
                      <a:pt x="198" y="0"/>
                      <a:pt x="192" y="0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3"/>
              <p:cNvSpPr/>
              <p:nvPr/>
            </p:nvSpPr>
            <p:spPr>
              <a:xfrm>
                <a:off x="7168710" y="436180"/>
                <a:ext cx="167778" cy="1184342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15198" extrusionOk="0">
                    <a:moveTo>
                      <a:pt x="1139" y="0"/>
                    </a:moveTo>
                    <a:cubicBezTo>
                      <a:pt x="877" y="0"/>
                      <a:pt x="668" y="203"/>
                      <a:pt x="650" y="465"/>
                    </a:cubicBezTo>
                    <a:lnTo>
                      <a:pt x="644" y="644"/>
                    </a:lnTo>
                    <a:lnTo>
                      <a:pt x="638" y="871"/>
                    </a:lnTo>
                    <a:lnTo>
                      <a:pt x="591" y="1926"/>
                    </a:lnTo>
                    <a:lnTo>
                      <a:pt x="203" y="10392"/>
                    </a:lnTo>
                    <a:lnTo>
                      <a:pt x="197" y="10499"/>
                    </a:lnTo>
                    <a:lnTo>
                      <a:pt x="191" y="10666"/>
                    </a:lnTo>
                    <a:lnTo>
                      <a:pt x="179" y="10982"/>
                    </a:lnTo>
                    <a:lnTo>
                      <a:pt x="167" y="11143"/>
                    </a:lnTo>
                    <a:lnTo>
                      <a:pt x="161" y="11256"/>
                    </a:lnTo>
                    <a:lnTo>
                      <a:pt x="30" y="14094"/>
                    </a:lnTo>
                    <a:cubicBezTo>
                      <a:pt x="0" y="14696"/>
                      <a:pt x="477" y="15197"/>
                      <a:pt x="1080" y="15197"/>
                    </a:cubicBezTo>
                    <a:cubicBezTo>
                      <a:pt x="1676" y="15197"/>
                      <a:pt x="2153" y="14696"/>
                      <a:pt x="2141" y="14100"/>
                    </a:cubicBezTo>
                    <a:lnTo>
                      <a:pt x="2039" y="11244"/>
                    </a:lnTo>
                    <a:lnTo>
                      <a:pt x="2033" y="11137"/>
                    </a:lnTo>
                    <a:lnTo>
                      <a:pt x="2022" y="10970"/>
                    </a:lnTo>
                    <a:lnTo>
                      <a:pt x="2010" y="10660"/>
                    </a:lnTo>
                    <a:lnTo>
                      <a:pt x="2004" y="10493"/>
                    </a:lnTo>
                    <a:lnTo>
                      <a:pt x="1992" y="10380"/>
                    </a:lnTo>
                    <a:lnTo>
                      <a:pt x="1676" y="1908"/>
                    </a:lnTo>
                    <a:lnTo>
                      <a:pt x="1634" y="841"/>
                    </a:lnTo>
                    <a:lnTo>
                      <a:pt x="1628" y="632"/>
                    </a:lnTo>
                    <a:lnTo>
                      <a:pt x="1622" y="465"/>
                    </a:lnTo>
                    <a:cubicBezTo>
                      <a:pt x="1616" y="334"/>
                      <a:pt x="1562" y="215"/>
                      <a:pt x="1473" y="137"/>
                    </a:cubicBezTo>
                    <a:cubicBezTo>
                      <a:pt x="1384" y="54"/>
                      <a:pt x="1270" y="0"/>
                      <a:pt x="11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3"/>
              <p:cNvSpPr/>
              <p:nvPr/>
            </p:nvSpPr>
            <p:spPr>
              <a:xfrm>
                <a:off x="7191932" y="268400"/>
                <a:ext cx="129671" cy="118138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1516" extrusionOk="0">
                    <a:moveTo>
                      <a:pt x="829" y="1"/>
                    </a:moveTo>
                    <a:cubicBezTo>
                      <a:pt x="829" y="1"/>
                      <a:pt x="1" y="1515"/>
                      <a:pt x="829" y="1515"/>
                    </a:cubicBezTo>
                    <a:cubicBezTo>
                      <a:pt x="1664" y="1515"/>
                      <a:pt x="829" y="1"/>
                      <a:pt x="8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3"/>
              <p:cNvSpPr/>
              <p:nvPr/>
            </p:nvSpPr>
            <p:spPr>
              <a:xfrm>
                <a:off x="7214220" y="297701"/>
                <a:ext cx="85097" cy="76759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985" extrusionOk="0">
                    <a:moveTo>
                      <a:pt x="543" y="1"/>
                    </a:moveTo>
                    <a:cubicBezTo>
                      <a:pt x="543" y="1"/>
                      <a:pt x="1" y="984"/>
                      <a:pt x="543" y="984"/>
                    </a:cubicBezTo>
                    <a:cubicBezTo>
                      <a:pt x="1092" y="984"/>
                      <a:pt x="543" y="1"/>
                      <a:pt x="5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3"/>
              <p:cNvSpPr/>
              <p:nvPr/>
            </p:nvSpPr>
            <p:spPr>
              <a:xfrm>
                <a:off x="7217493" y="436647"/>
                <a:ext cx="78161" cy="79954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1026" extrusionOk="0">
                    <a:moveTo>
                      <a:pt x="507" y="0"/>
                    </a:moveTo>
                    <a:cubicBezTo>
                      <a:pt x="245" y="0"/>
                      <a:pt x="36" y="203"/>
                      <a:pt x="18" y="465"/>
                    </a:cubicBezTo>
                    <a:lnTo>
                      <a:pt x="0" y="877"/>
                    </a:lnTo>
                    <a:cubicBezTo>
                      <a:pt x="138" y="972"/>
                      <a:pt x="305" y="1026"/>
                      <a:pt x="483" y="1026"/>
                    </a:cubicBezTo>
                    <a:cubicBezTo>
                      <a:pt x="686" y="1026"/>
                      <a:pt x="865" y="960"/>
                      <a:pt x="1002" y="847"/>
                    </a:cubicBezTo>
                    <a:lnTo>
                      <a:pt x="990" y="465"/>
                    </a:lnTo>
                    <a:cubicBezTo>
                      <a:pt x="984" y="340"/>
                      <a:pt x="931" y="221"/>
                      <a:pt x="841" y="137"/>
                    </a:cubicBezTo>
                    <a:cubicBezTo>
                      <a:pt x="752" y="54"/>
                      <a:pt x="638" y="0"/>
                      <a:pt x="507" y="0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3"/>
              <p:cNvSpPr/>
              <p:nvPr/>
            </p:nvSpPr>
            <p:spPr>
              <a:xfrm>
                <a:off x="7182815" y="370175"/>
                <a:ext cx="144244" cy="13216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696" extrusionOk="0">
                    <a:moveTo>
                      <a:pt x="923" y="1"/>
                    </a:moveTo>
                    <a:cubicBezTo>
                      <a:pt x="413" y="1"/>
                      <a:pt x="1" y="460"/>
                      <a:pt x="94" y="990"/>
                    </a:cubicBezTo>
                    <a:cubicBezTo>
                      <a:pt x="153" y="1342"/>
                      <a:pt x="434" y="1622"/>
                      <a:pt x="785" y="1682"/>
                    </a:cubicBezTo>
                    <a:cubicBezTo>
                      <a:pt x="836" y="1691"/>
                      <a:pt x="886" y="1695"/>
                      <a:pt x="935" y="1695"/>
                    </a:cubicBezTo>
                    <a:cubicBezTo>
                      <a:pt x="1441" y="1695"/>
                      <a:pt x="1850" y="1237"/>
                      <a:pt x="1763" y="710"/>
                    </a:cubicBezTo>
                    <a:cubicBezTo>
                      <a:pt x="1709" y="358"/>
                      <a:pt x="1429" y="72"/>
                      <a:pt x="1066" y="13"/>
                    </a:cubicBezTo>
                    <a:cubicBezTo>
                      <a:pt x="1018" y="5"/>
                      <a:pt x="970" y="1"/>
                      <a:pt x="9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3"/>
              <p:cNvSpPr/>
              <p:nvPr/>
            </p:nvSpPr>
            <p:spPr>
              <a:xfrm>
                <a:off x="7217025" y="398541"/>
                <a:ext cx="75823" cy="75823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73" extrusionOk="0">
                    <a:moveTo>
                      <a:pt x="489" y="0"/>
                    </a:moveTo>
                    <a:cubicBezTo>
                      <a:pt x="221" y="0"/>
                      <a:pt x="1" y="215"/>
                      <a:pt x="1" y="483"/>
                    </a:cubicBezTo>
                    <a:cubicBezTo>
                      <a:pt x="1" y="751"/>
                      <a:pt x="221" y="972"/>
                      <a:pt x="489" y="972"/>
                    </a:cubicBezTo>
                    <a:cubicBezTo>
                      <a:pt x="758" y="972"/>
                      <a:pt x="972" y="751"/>
                      <a:pt x="972" y="483"/>
                    </a:cubicBezTo>
                    <a:cubicBezTo>
                      <a:pt x="972" y="215"/>
                      <a:pt x="758" y="0"/>
                      <a:pt x="4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3"/>
              <p:cNvSpPr/>
              <p:nvPr/>
            </p:nvSpPr>
            <p:spPr>
              <a:xfrm>
                <a:off x="7919934" y="538344"/>
                <a:ext cx="66550" cy="66550"/>
              </a:xfrm>
              <a:custGeom>
                <a:avLst/>
                <a:gdLst/>
                <a:ahLst/>
                <a:cxnLst/>
                <a:rect l="l" t="t" r="r" b="b"/>
                <a:pathLst>
                  <a:path w="854" h="854" extrusionOk="0">
                    <a:moveTo>
                      <a:pt x="424" y="102"/>
                    </a:moveTo>
                    <a:cubicBezTo>
                      <a:pt x="603" y="102"/>
                      <a:pt x="752" y="251"/>
                      <a:pt x="752" y="430"/>
                    </a:cubicBezTo>
                    <a:cubicBezTo>
                      <a:pt x="752" y="603"/>
                      <a:pt x="603" y="752"/>
                      <a:pt x="424" y="752"/>
                    </a:cubicBezTo>
                    <a:cubicBezTo>
                      <a:pt x="245" y="752"/>
                      <a:pt x="96" y="603"/>
                      <a:pt x="96" y="430"/>
                    </a:cubicBezTo>
                    <a:cubicBezTo>
                      <a:pt x="96" y="251"/>
                      <a:pt x="245" y="102"/>
                      <a:pt x="424" y="102"/>
                    </a:cubicBezTo>
                    <a:close/>
                    <a:moveTo>
                      <a:pt x="424" y="1"/>
                    </a:moveTo>
                    <a:cubicBezTo>
                      <a:pt x="186" y="1"/>
                      <a:pt x="1" y="198"/>
                      <a:pt x="1" y="430"/>
                    </a:cubicBezTo>
                    <a:cubicBezTo>
                      <a:pt x="1" y="669"/>
                      <a:pt x="198" y="853"/>
                      <a:pt x="424" y="853"/>
                    </a:cubicBezTo>
                    <a:cubicBezTo>
                      <a:pt x="657" y="853"/>
                      <a:pt x="853" y="669"/>
                      <a:pt x="847" y="430"/>
                    </a:cubicBezTo>
                    <a:cubicBezTo>
                      <a:pt x="847" y="186"/>
                      <a:pt x="657" y="1"/>
                      <a:pt x="4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3"/>
              <p:cNvSpPr/>
              <p:nvPr/>
            </p:nvSpPr>
            <p:spPr>
              <a:xfrm>
                <a:off x="7758780" y="593517"/>
                <a:ext cx="183597" cy="563805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7235" extrusionOk="0">
                    <a:moveTo>
                      <a:pt x="2303" y="1"/>
                    </a:moveTo>
                    <a:cubicBezTo>
                      <a:pt x="2286" y="1"/>
                      <a:pt x="2264" y="12"/>
                      <a:pt x="2254" y="32"/>
                    </a:cubicBezTo>
                    <a:lnTo>
                      <a:pt x="6" y="7175"/>
                    </a:lnTo>
                    <a:cubicBezTo>
                      <a:pt x="0" y="7192"/>
                      <a:pt x="12" y="7222"/>
                      <a:pt x="36" y="7234"/>
                    </a:cubicBezTo>
                    <a:lnTo>
                      <a:pt x="48" y="7234"/>
                    </a:lnTo>
                    <a:cubicBezTo>
                      <a:pt x="72" y="7234"/>
                      <a:pt x="90" y="7216"/>
                      <a:pt x="96" y="7204"/>
                    </a:cubicBezTo>
                    <a:lnTo>
                      <a:pt x="2343" y="62"/>
                    </a:lnTo>
                    <a:cubicBezTo>
                      <a:pt x="2355" y="38"/>
                      <a:pt x="2337" y="8"/>
                      <a:pt x="2313" y="2"/>
                    </a:cubicBezTo>
                    <a:cubicBezTo>
                      <a:pt x="2310" y="1"/>
                      <a:pt x="2307" y="1"/>
                      <a:pt x="2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3"/>
              <p:cNvSpPr/>
              <p:nvPr/>
            </p:nvSpPr>
            <p:spPr>
              <a:xfrm>
                <a:off x="7961782" y="595388"/>
                <a:ext cx="183597" cy="563338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7229" extrusionOk="0">
                    <a:moveTo>
                      <a:pt x="49" y="1"/>
                    </a:moveTo>
                    <a:cubicBezTo>
                      <a:pt x="45" y="1"/>
                      <a:pt x="40" y="1"/>
                      <a:pt x="36" y="2"/>
                    </a:cubicBezTo>
                    <a:cubicBezTo>
                      <a:pt x="18" y="8"/>
                      <a:pt x="0" y="38"/>
                      <a:pt x="6" y="62"/>
                    </a:cubicBezTo>
                    <a:lnTo>
                      <a:pt x="2260" y="7198"/>
                    </a:lnTo>
                    <a:cubicBezTo>
                      <a:pt x="2266" y="7216"/>
                      <a:pt x="2278" y="7228"/>
                      <a:pt x="2302" y="7228"/>
                    </a:cubicBezTo>
                    <a:lnTo>
                      <a:pt x="2320" y="7228"/>
                    </a:lnTo>
                    <a:cubicBezTo>
                      <a:pt x="2344" y="7222"/>
                      <a:pt x="2355" y="7192"/>
                      <a:pt x="2349" y="7168"/>
                    </a:cubicBezTo>
                    <a:lnTo>
                      <a:pt x="96" y="32"/>
                    </a:lnTo>
                    <a:cubicBezTo>
                      <a:pt x="91" y="12"/>
                      <a:pt x="70" y="1"/>
                      <a:pt x="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3"/>
              <p:cNvSpPr/>
              <p:nvPr/>
            </p:nvSpPr>
            <p:spPr>
              <a:xfrm>
                <a:off x="7949703" y="597803"/>
                <a:ext cx="7013" cy="559519"/>
              </a:xfrm>
              <a:custGeom>
                <a:avLst/>
                <a:gdLst/>
                <a:ahLst/>
                <a:cxnLst/>
                <a:rect l="l" t="t" r="r" b="b"/>
                <a:pathLst>
                  <a:path w="90" h="7180" extrusionOk="0">
                    <a:moveTo>
                      <a:pt x="42" y="1"/>
                    </a:moveTo>
                    <a:cubicBezTo>
                      <a:pt x="24" y="1"/>
                      <a:pt x="0" y="25"/>
                      <a:pt x="0" y="43"/>
                    </a:cubicBezTo>
                    <a:lnTo>
                      <a:pt x="0" y="7131"/>
                    </a:lnTo>
                    <a:cubicBezTo>
                      <a:pt x="0" y="7155"/>
                      <a:pt x="18" y="7179"/>
                      <a:pt x="42" y="7179"/>
                    </a:cubicBezTo>
                    <a:cubicBezTo>
                      <a:pt x="66" y="7179"/>
                      <a:pt x="90" y="7155"/>
                      <a:pt x="90" y="7131"/>
                    </a:cubicBezTo>
                    <a:lnTo>
                      <a:pt x="90" y="43"/>
                    </a:lnTo>
                    <a:cubicBezTo>
                      <a:pt x="90" y="19"/>
                      <a:pt x="66" y="1"/>
                      <a:pt x="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3"/>
              <p:cNvSpPr/>
              <p:nvPr/>
            </p:nvSpPr>
            <p:spPr>
              <a:xfrm>
                <a:off x="7714595" y="1132626"/>
                <a:ext cx="477228" cy="196144"/>
              </a:xfrm>
              <a:custGeom>
                <a:avLst/>
                <a:gdLst/>
                <a:ahLst/>
                <a:cxnLst/>
                <a:rect l="l" t="t" r="r" b="b"/>
                <a:pathLst>
                  <a:path w="6124" h="2517" extrusionOk="0">
                    <a:moveTo>
                      <a:pt x="1" y="0"/>
                    </a:moveTo>
                    <a:cubicBezTo>
                      <a:pt x="281" y="1437"/>
                      <a:pt x="1539" y="2516"/>
                      <a:pt x="3059" y="2516"/>
                    </a:cubicBezTo>
                    <a:cubicBezTo>
                      <a:pt x="4579" y="2516"/>
                      <a:pt x="5849" y="1437"/>
                      <a:pt x="61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3"/>
              <p:cNvSpPr/>
              <p:nvPr/>
            </p:nvSpPr>
            <p:spPr>
              <a:xfrm>
                <a:off x="7714595" y="1132626"/>
                <a:ext cx="477228" cy="196144"/>
              </a:xfrm>
              <a:custGeom>
                <a:avLst/>
                <a:gdLst/>
                <a:ahLst/>
                <a:cxnLst/>
                <a:rect l="l" t="t" r="r" b="b"/>
                <a:pathLst>
                  <a:path w="6124" h="2517" extrusionOk="0">
                    <a:moveTo>
                      <a:pt x="5295" y="0"/>
                    </a:moveTo>
                    <a:cubicBezTo>
                      <a:pt x="4484" y="823"/>
                      <a:pt x="3626" y="1097"/>
                      <a:pt x="2841" y="1097"/>
                    </a:cubicBezTo>
                    <a:cubicBezTo>
                      <a:pt x="1273" y="1097"/>
                      <a:pt x="1" y="0"/>
                      <a:pt x="1" y="0"/>
                    </a:cubicBezTo>
                    <a:lnTo>
                      <a:pt x="1" y="0"/>
                    </a:lnTo>
                    <a:cubicBezTo>
                      <a:pt x="281" y="1437"/>
                      <a:pt x="1539" y="2516"/>
                      <a:pt x="3059" y="2516"/>
                    </a:cubicBezTo>
                    <a:cubicBezTo>
                      <a:pt x="4579" y="2516"/>
                      <a:pt x="5849" y="1437"/>
                      <a:pt x="6124" y="0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3"/>
              <p:cNvSpPr/>
              <p:nvPr/>
            </p:nvSpPr>
            <p:spPr>
              <a:xfrm>
                <a:off x="6534533" y="678225"/>
                <a:ext cx="66083" cy="66472"/>
              </a:xfrm>
              <a:custGeom>
                <a:avLst/>
                <a:gdLst/>
                <a:ahLst/>
                <a:cxnLst/>
                <a:rect l="l" t="t" r="r" b="b"/>
                <a:pathLst>
                  <a:path w="848" h="853" extrusionOk="0">
                    <a:moveTo>
                      <a:pt x="424" y="96"/>
                    </a:moveTo>
                    <a:cubicBezTo>
                      <a:pt x="603" y="96"/>
                      <a:pt x="752" y="245"/>
                      <a:pt x="752" y="424"/>
                    </a:cubicBezTo>
                    <a:cubicBezTo>
                      <a:pt x="752" y="597"/>
                      <a:pt x="603" y="746"/>
                      <a:pt x="424" y="746"/>
                    </a:cubicBezTo>
                    <a:cubicBezTo>
                      <a:pt x="245" y="746"/>
                      <a:pt x="96" y="597"/>
                      <a:pt x="96" y="424"/>
                    </a:cubicBezTo>
                    <a:cubicBezTo>
                      <a:pt x="96" y="245"/>
                      <a:pt x="245" y="96"/>
                      <a:pt x="424" y="96"/>
                    </a:cubicBezTo>
                    <a:close/>
                    <a:moveTo>
                      <a:pt x="424" y="0"/>
                    </a:moveTo>
                    <a:cubicBezTo>
                      <a:pt x="185" y="0"/>
                      <a:pt x="0" y="197"/>
                      <a:pt x="0" y="430"/>
                    </a:cubicBezTo>
                    <a:cubicBezTo>
                      <a:pt x="0" y="668"/>
                      <a:pt x="191" y="853"/>
                      <a:pt x="424" y="853"/>
                    </a:cubicBezTo>
                    <a:cubicBezTo>
                      <a:pt x="656" y="853"/>
                      <a:pt x="847" y="662"/>
                      <a:pt x="847" y="430"/>
                    </a:cubicBezTo>
                    <a:cubicBezTo>
                      <a:pt x="847" y="191"/>
                      <a:pt x="656" y="0"/>
                      <a:pt x="4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3"/>
              <p:cNvSpPr/>
              <p:nvPr/>
            </p:nvSpPr>
            <p:spPr>
              <a:xfrm>
                <a:off x="6372833" y="732931"/>
                <a:ext cx="183597" cy="563728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7234" extrusionOk="0">
                    <a:moveTo>
                      <a:pt x="2307" y="0"/>
                    </a:moveTo>
                    <a:cubicBezTo>
                      <a:pt x="2287" y="0"/>
                      <a:pt x="2265" y="12"/>
                      <a:pt x="2260" y="32"/>
                    </a:cubicBezTo>
                    <a:lnTo>
                      <a:pt x="7" y="7174"/>
                    </a:lnTo>
                    <a:cubicBezTo>
                      <a:pt x="1" y="7192"/>
                      <a:pt x="13" y="7222"/>
                      <a:pt x="36" y="7234"/>
                    </a:cubicBezTo>
                    <a:lnTo>
                      <a:pt x="54" y="7234"/>
                    </a:lnTo>
                    <a:cubicBezTo>
                      <a:pt x="78" y="7234"/>
                      <a:pt x="90" y="7222"/>
                      <a:pt x="96" y="7204"/>
                    </a:cubicBezTo>
                    <a:lnTo>
                      <a:pt x="2350" y="61"/>
                    </a:lnTo>
                    <a:cubicBezTo>
                      <a:pt x="2356" y="38"/>
                      <a:pt x="2344" y="8"/>
                      <a:pt x="2320" y="2"/>
                    </a:cubicBezTo>
                    <a:cubicBezTo>
                      <a:pt x="2316" y="1"/>
                      <a:pt x="2312" y="0"/>
                      <a:pt x="2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3"/>
              <p:cNvSpPr/>
              <p:nvPr/>
            </p:nvSpPr>
            <p:spPr>
              <a:xfrm>
                <a:off x="6576380" y="735269"/>
                <a:ext cx="183519" cy="563728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7234" extrusionOk="0">
                    <a:moveTo>
                      <a:pt x="48" y="0"/>
                    </a:moveTo>
                    <a:cubicBezTo>
                      <a:pt x="44" y="0"/>
                      <a:pt x="40" y="1"/>
                      <a:pt x="36" y="2"/>
                    </a:cubicBezTo>
                    <a:cubicBezTo>
                      <a:pt x="12" y="8"/>
                      <a:pt x="0" y="37"/>
                      <a:pt x="6" y="61"/>
                    </a:cubicBezTo>
                    <a:lnTo>
                      <a:pt x="2254" y="7204"/>
                    </a:lnTo>
                    <a:cubicBezTo>
                      <a:pt x="2266" y="7216"/>
                      <a:pt x="2277" y="7234"/>
                      <a:pt x="2301" y="7234"/>
                    </a:cubicBezTo>
                    <a:lnTo>
                      <a:pt x="2313" y="7234"/>
                    </a:lnTo>
                    <a:cubicBezTo>
                      <a:pt x="2337" y="7222"/>
                      <a:pt x="2355" y="7192"/>
                      <a:pt x="2343" y="7174"/>
                    </a:cubicBezTo>
                    <a:lnTo>
                      <a:pt x="95" y="31"/>
                    </a:lnTo>
                    <a:cubicBezTo>
                      <a:pt x="90" y="12"/>
                      <a:pt x="69" y="0"/>
                      <a:pt x="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3"/>
              <p:cNvSpPr/>
              <p:nvPr/>
            </p:nvSpPr>
            <p:spPr>
              <a:xfrm>
                <a:off x="6563834" y="737217"/>
                <a:ext cx="7013" cy="559442"/>
              </a:xfrm>
              <a:custGeom>
                <a:avLst/>
                <a:gdLst/>
                <a:ahLst/>
                <a:cxnLst/>
                <a:rect l="l" t="t" r="r" b="b"/>
                <a:pathLst>
                  <a:path w="90" h="7179" extrusionOk="0">
                    <a:moveTo>
                      <a:pt x="48" y="1"/>
                    </a:moveTo>
                    <a:cubicBezTo>
                      <a:pt x="24" y="1"/>
                      <a:pt x="0" y="24"/>
                      <a:pt x="0" y="42"/>
                    </a:cubicBezTo>
                    <a:lnTo>
                      <a:pt x="0" y="7131"/>
                    </a:lnTo>
                    <a:cubicBezTo>
                      <a:pt x="0" y="7155"/>
                      <a:pt x="24" y="7179"/>
                      <a:pt x="48" y="7179"/>
                    </a:cubicBezTo>
                    <a:cubicBezTo>
                      <a:pt x="72" y="7179"/>
                      <a:pt x="89" y="7161"/>
                      <a:pt x="89" y="7131"/>
                    </a:cubicBezTo>
                    <a:lnTo>
                      <a:pt x="89" y="42"/>
                    </a:lnTo>
                    <a:cubicBezTo>
                      <a:pt x="89" y="18"/>
                      <a:pt x="66" y="1"/>
                      <a:pt x="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3"/>
              <p:cNvSpPr/>
              <p:nvPr/>
            </p:nvSpPr>
            <p:spPr>
              <a:xfrm>
                <a:off x="6328726" y="1272429"/>
                <a:ext cx="477696" cy="196611"/>
              </a:xfrm>
              <a:custGeom>
                <a:avLst/>
                <a:gdLst/>
                <a:ahLst/>
                <a:cxnLst/>
                <a:rect l="l" t="t" r="r" b="b"/>
                <a:pathLst>
                  <a:path w="6130" h="2523" extrusionOk="0">
                    <a:moveTo>
                      <a:pt x="0" y="1"/>
                    </a:moveTo>
                    <a:cubicBezTo>
                      <a:pt x="281" y="1443"/>
                      <a:pt x="1544" y="2523"/>
                      <a:pt x="3065" y="2523"/>
                    </a:cubicBezTo>
                    <a:cubicBezTo>
                      <a:pt x="4585" y="2523"/>
                      <a:pt x="5849" y="1443"/>
                      <a:pt x="61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3"/>
              <p:cNvSpPr/>
              <p:nvPr/>
            </p:nvSpPr>
            <p:spPr>
              <a:xfrm>
                <a:off x="6328726" y="1272429"/>
                <a:ext cx="477696" cy="196611"/>
              </a:xfrm>
              <a:custGeom>
                <a:avLst/>
                <a:gdLst/>
                <a:ahLst/>
                <a:cxnLst/>
                <a:rect l="l" t="t" r="r" b="b"/>
                <a:pathLst>
                  <a:path w="6130" h="2523" extrusionOk="0">
                    <a:moveTo>
                      <a:pt x="5300" y="1"/>
                    </a:moveTo>
                    <a:cubicBezTo>
                      <a:pt x="4488" y="823"/>
                      <a:pt x="3628" y="1098"/>
                      <a:pt x="2843" y="1098"/>
                    </a:cubicBezTo>
                    <a:cubicBezTo>
                      <a:pt x="1272" y="1098"/>
                      <a:pt x="1" y="1"/>
                      <a:pt x="0" y="1"/>
                    </a:cubicBezTo>
                    <a:lnTo>
                      <a:pt x="0" y="1"/>
                    </a:lnTo>
                    <a:cubicBezTo>
                      <a:pt x="281" y="1443"/>
                      <a:pt x="1544" y="2523"/>
                      <a:pt x="3065" y="2523"/>
                    </a:cubicBezTo>
                    <a:cubicBezTo>
                      <a:pt x="4585" y="2523"/>
                      <a:pt x="5849" y="1443"/>
                      <a:pt x="6129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3"/>
              <p:cNvSpPr/>
              <p:nvPr/>
            </p:nvSpPr>
            <p:spPr>
              <a:xfrm>
                <a:off x="7181256" y="1267364"/>
                <a:ext cx="144088" cy="24703"/>
              </a:xfrm>
              <a:custGeom>
                <a:avLst/>
                <a:gdLst/>
                <a:ahLst/>
                <a:cxnLst/>
                <a:rect l="l" t="t" r="r" b="b"/>
                <a:pathLst>
                  <a:path w="1849" h="317" extrusionOk="0">
                    <a:moveTo>
                      <a:pt x="18" y="0"/>
                    </a:moveTo>
                    <a:lnTo>
                      <a:pt x="0" y="316"/>
                    </a:lnTo>
                    <a:lnTo>
                      <a:pt x="1849" y="316"/>
                    </a:lnTo>
                    <a:lnTo>
                      <a:pt x="184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3"/>
              <p:cNvSpPr/>
              <p:nvPr/>
            </p:nvSpPr>
            <p:spPr>
              <a:xfrm>
                <a:off x="7183127" y="1245933"/>
                <a:ext cx="141283" cy="8962"/>
              </a:xfrm>
              <a:custGeom>
                <a:avLst/>
                <a:gdLst/>
                <a:ahLst/>
                <a:cxnLst/>
                <a:rect l="l" t="t" r="r" b="b"/>
                <a:pathLst>
                  <a:path w="1813" h="115" extrusionOk="0">
                    <a:moveTo>
                      <a:pt x="6" y="1"/>
                    </a:moveTo>
                    <a:lnTo>
                      <a:pt x="0" y="114"/>
                    </a:lnTo>
                    <a:lnTo>
                      <a:pt x="1813" y="114"/>
                    </a:lnTo>
                    <a:lnTo>
                      <a:pt x="18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3"/>
              <p:cNvSpPr/>
              <p:nvPr/>
            </p:nvSpPr>
            <p:spPr>
              <a:xfrm>
                <a:off x="7180789" y="1304536"/>
                <a:ext cx="145491" cy="8416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108" extrusionOk="0">
                    <a:moveTo>
                      <a:pt x="0" y="0"/>
                    </a:moveTo>
                    <a:lnTo>
                      <a:pt x="0" y="107"/>
                    </a:lnTo>
                    <a:lnTo>
                      <a:pt x="1867" y="107"/>
                    </a:lnTo>
                    <a:lnTo>
                      <a:pt x="18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3"/>
              <p:cNvSpPr/>
              <p:nvPr/>
            </p:nvSpPr>
            <p:spPr>
              <a:xfrm>
                <a:off x="6751952" y="1534035"/>
                <a:ext cx="1009161" cy="127334"/>
              </a:xfrm>
              <a:custGeom>
                <a:avLst/>
                <a:gdLst/>
                <a:ahLst/>
                <a:cxnLst/>
                <a:rect l="l" t="t" r="r" b="b"/>
                <a:pathLst>
                  <a:path w="12950" h="1634" extrusionOk="0">
                    <a:moveTo>
                      <a:pt x="1634" y="0"/>
                    </a:moveTo>
                    <a:cubicBezTo>
                      <a:pt x="1181" y="0"/>
                      <a:pt x="776" y="179"/>
                      <a:pt x="478" y="477"/>
                    </a:cubicBezTo>
                    <a:cubicBezTo>
                      <a:pt x="239" y="716"/>
                      <a:pt x="78" y="1020"/>
                      <a:pt x="24" y="1371"/>
                    </a:cubicBezTo>
                    <a:cubicBezTo>
                      <a:pt x="13" y="1461"/>
                      <a:pt x="1" y="1538"/>
                      <a:pt x="1" y="1634"/>
                    </a:cubicBezTo>
                    <a:lnTo>
                      <a:pt x="12950" y="1634"/>
                    </a:lnTo>
                    <a:cubicBezTo>
                      <a:pt x="12950" y="1544"/>
                      <a:pt x="12938" y="1455"/>
                      <a:pt x="12932" y="1371"/>
                    </a:cubicBezTo>
                    <a:cubicBezTo>
                      <a:pt x="12813" y="596"/>
                      <a:pt x="12133" y="0"/>
                      <a:pt x="113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3"/>
              <p:cNvSpPr/>
              <p:nvPr/>
            </p:nvSpPr>
            <p:spPr>
              <a:xfrm>
                <a:off x="6700364" y="1660356"/>
                <a:ext cx="1110467" cy="58212"/>
              </a:xfrm>
              <a:custGeom>
                <a:avLst/>
                <a:gdLst/>
                <a:ahLst/>
                <a:cxnLst/>
                <a:rect l="l" t="t" r="r" b="b"/>
                <a:pathLst>
                  <a:path w="14250" h="747" extrusionOk="0">
                    <a:moveTo>
                      <a:pt x="376" y="1"/>
                    </a:moveTo>
                    <a:cubicBezTo>
                      <a:pt x="168" y="1"/>
                      <a:pt x="1" y="168"/>
                      <a:pt x="1" y="376"/>
                    </a:cubicBezTo>
                    <a:cubicBezTo>
                      <a:pt x="1" y="585"/>
                      <a:pt x="168" y="746"/>
                      <a:pt x="376" y="746"/>
                    </a:cubicBezTo>
                    <a:lnTo>
                      <a:pt x="13880" y="746"/>
                    </a:lnTo>
                    <a:cubicBezTo>
                      <a:pt x="14089" y="746"/>
                      <a:pt x="14250" y="585"/>
                      <a:pt x="14250" y="376"/>
                    </a:cubicBezTo>
                    <a:cubicBezTo>
                      <a:pt x="14250" y="168"/>
                      <a:pt x="14089" y="1"/>
                      <a:pt x="13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3"/>
              <p:cNvSpPr/>
              <p:nvPr/>
            </p:nvSpPr>
            <p:spPr>
              <a:xfrm>
                <a:off x="6752887" y="1640874"/>
                <a:ext cx="1008694" cy="20495"/>
              </a:xfrm>
              <a:custGeom>
                <a:avLst/>
                <a:gdLst/>
                <a:ahLst/>
                <a:cxnLst/>
                <a:rect l="l" t="t" r="r" b="b"/>
                <a:pathLst>
                  <a:path w="12944" h="263" extrusionOk="0">
                    <a:moveTo>
                      <a:pt x="12" y="0"/>
                    </a:moveTo>
                    <a:lnTo>
                      <a:pt x="1" y="263"/>
                    </a:lnTo>
                    <a:lnTo>
                      <a:pt x="12944" y="263"/>
                    </a:lnTo>
                    <a:cubicBezTo>
                      <a:pt x="12944" y="167"/>
                      <a:pt x="12932" y="84"/>
                      <a:pt x="12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33"/>
            <p:cNvGrpSpPr/>
            <p:nvPr/>
          </p:nvGrpSpPr>
          <p:grpSpPr>
            <a:xfrm>
              <a:off x="1079546" y="3579305"/>
              <a:ext cx="2655916" cy="567212"/>
              <a:chOff x="6348934" y="3696877"/>
              <a:chExt cx="2020169" cy="431438"/>
            </a:xfrm>
          </p:grpSpPr>
          <p:sp>
            <p:nvSpPr>
              <p:cNvPr id="337" name="Google Shape;337;p33"/>
              <p:cNvSpPr/>
              <p:nvPr/>
            </p:nvSpPr>
            <p:spPr>
              <a:xfrm>
                <a:off x="6348934" y="3696877"/>
                <a:ext cx="1161585" cy="430605"/>
              </a:xfrm>
              <a:custGeom>
                <a:avLst/>
                <a:gdLst/>
                <a:ahLst/>
                <a:cxnLst/>
                <a:rect l="l" t="t" r="r" b="b"/>
                <a:pathLst>
                  <a:path w="8365" h="3101" extrusionOk="0">
                    <a:moveTo>
                      <a:pt x="358" y="1"/>
                    </a:moveTo>
                    <a:cubicBezTo>
                      <a:pt x="0" y="1038"/>
                      <a:pt x="0" y="2064"/>
                      <a:pt x="358" y="3101"/>
                    </a:cubicBezTo>
                    <a:lnTo>
                      <a:pt x="8365" y="3101"/>
                    </a:lnTo>
                    <a:lnTo>
                      <a:pt x="83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3"/>
              <p:cNvSpPr/>
              <p:nvPr/>
            </p:nvSpPr>
            <p:spPr>
              <a:xfrm>
                <a:off x="6348934" y="3697710"/>
                <a:ext cx="113451" cy="430605"/>
              </a:xfrm>
              <a:custGeom>
                <a:avLst/>
                <a:gdLst/>
                <a:ahLst/>
                <a:cxnLst/>
                <a:rect l="l" t="t" r="r" b="b"/>
                <a:pathLst>
                  <a:path w="817" h="3101" extrusionOk="0">
                    <a:moveTo>
                      <a:pt x="358" y="1"/>
                    </a:moveTo>
                    <a:cubicBezTo>
                      <a:pt x="0" y="1038"/>
                      <a:pt x="0" y="2070"/>
                      <a:pt x="358" y="3101"/>
                    </a:cubicBezTo>
                    <a:lnTo>
                      <a:pt x="787" y="3101"/>
                    </a:lnTo>
                    <a:cubicBezTo>
                      <a:pt x="465" y="2070"/>
                      <a:pt x="483" y="1032"/>
                      <a:pt x="8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3"/>
              <p:cNvSpPr/>
              <p:nvPr/>
            </p:nvSpPr>
            <p:spPr>
              <a:xfrm>
                <a:off x="7435947" y="3697710"/>
                <a:ext cx="933156" cy="46518"/>
              </a:xfrm>
              <a:custGeom>
                <a:avLst/>
                <a:gdLst/>
                <a:ahLst/>
                <a:cxnLst/>
                <a:rect l="l" t="t" r="r" b="b"/>
                <a:pathLst>
                  <a:path w="6720" h="335" extrusionOk="0">
                    <a:moveTo>
                      <a:pt x="0" y="1"/>
                    </a:moveTo>
                    <a:lnTo>
                      <a:pt x="0" y="335"/>
                    </a:lnTo>
                    <a:lnTo>
                      <a:pt x="6719" y="335"/>
                    </a:lnTo>
                    <a:lnTo>
                      <a:pt x="6719" y="1"/>
                    </a:lnTo>
                    <a:close/>
                  </a:path>
                </a:pathLst>
              </a:custGeom>
              <a:solidFill>
                <a:srgbClr val="9999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3"/>
              <p:cNvSpPr/>
              <p:nvPr/>
            </p:nvSpPr>
            <p:spPr>
              <a:xfrm>
                <a:off x="7435947" y="4081105"/>
                <a:ext cx="933156" cy="46379"/>
              </a:xfrm>
              <a:custGeom>
                <a:avLst/>
                <a:gdLst/>
                <a:ahLst/>
                <a:cxnLst/>
                <a:rect l="l" t="t" r="r" b="b"/>
                <a:pathLst>
                  <a:path w="6720" h="334" extrusionOk="0">
                    <a:moveTo>
                      <a:pt x="0" y="0"/>
                    </a:moveTo>
                    <a:lnTo>
                      <a:pt x="0" y="334"/>
                    </a:lnTo>
                    <a:lnTo>
                      <a:pt x="6719" y="334"/>
                    </a:lnTo>
                    <a:lnTo>
                      <a:pt x="6719" y="0"/>
                    </a:lnTo>
                    <a:close/>
                  </a:path>
                </a:pathLst>
              </a:custGeom>
              <a:solidFill>
                <a:srgbClr val="9999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3"/>
              <p:cNvSpPr/>
              <p:nvPr/>
            </p:nvSpPr>
            <p:spPr>
              <a:xfrm>
                <a:off x="7450805" y="3744923"/>
                <a:ext cx="886776" cy="336319"/>
              </a:xfrm>
              <a:custGeom>
                <a:avLst/>
                <a:gdLst/>
                <a:ahLst/>
                <a:cxnLst/>
                <a:rect l="l" t="t" r="r" b="b"/>
                <a:pathLst>
                  <a:path w="6386" h="2422" extrusionOk="0">
                    <a:moveTo>
                      <a:pt x="275" y="1"/>
                    </a:moveTo>
                    <a:cubicBezTo>
                      <a:pt x="0" y="805"/>
                      <a:pt x="0" y="1616"/>
                      <a:pt x="275" y="2421"/>
                    </a:cubicBezTo>
                    <a:lnTo>
                      <a:pt x="6386" y="2421"/>
                    </a:lnTo>
                    <a:cubicBezTo>
                      <a:pt x="6344" y="2296"/>
                      <a:pt x="6296" y="2159"/>
                      <a:pt x="6266" y="2034"/>
                    </a:cubicBezTo>
                    <a:cubicBezTo>
                      <a:pt x="6260" y="2016"/>
                      <a:pt x="6260" y="2010"/>
                      <a:pt x="6260" y="1992"/>
                    </a:cubicBezTo>
                    <a:cubicBezTo>
                      <a:pt x="6231" y="1873"/>
                      <a:pt x="6207" y="1753"/>
                      <a:pt x="6195" y="1634"/>
                    </a:cubicBezTo>
                    <a:cubicBezTo>
                      <a:pt x="6183" y="1622"/>
                      <a:pt x="6183" y="1604"/>
                      <a:pt x="6183" y="1592"/>
                    </a:cubicBezTo>
                    <a:cubicBezTo>
                      <a:pt x="6171" y="1473"/>
                      <a:pt x="6159" y="1354"/>
                      <a:pt x="6159" y="1235"/>
                    </a:cubicBezTo>
                    <a:lnTo>
                      <a:pt x="6159" y="1187"/>
                    </a:lnTo>
                    <a:cubicBezTo>
                      <a:pt x="6159" y="1074"/>
                      <a:pt x="6171" y="949"/>
                      <a:pt x="6183" y="835"/>
                    </a:cubicBezTo>
                    <a:cubicBezTo>
                      <a:pt x="6195" y="817"/>
                      <a:pt x="6195" y="805"/>
                      <a:pt x="6195" y="788"/>
                    </a:cubicBezTo>
                    <a:cubicBezTo>
                      <a:pt x="6207" y="668"/>
                      <a:pt x="6231" y="549"/>
                      <a:pt x="6260" y="430"/>
                    </a:cubicBezTo>
                    <a:cubicBezTo>
                      <a:pt x="6260" y="418"/>
                      <a:pt x="6266" y="400"/>
                      <a:pt x="6266" y="388"/>
                    </a:cubicBezTo>
                    <a:cubicBezTo>
                      <a:pt x="6296" y="257"/>
                      <a:pt x="6344" y="126"/>
                      <a:pt x="638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3"/>
              <p:cNvSpPr/>
              <p:nvPr/>
            </p:nvSpPr>
            <p:spPr>
              <a:xfrm>
                <a:off x="7559256" y="3798801"/>
                <a:ext cx="761800" cy="5832"/>
              </a:xfrm>
              <a:custGeom>
                <a:avLst/>
                <a:gdLst/>
                <a:ahLst/>
                <a:cxnLst/>
                <a:rect l="l" t="t" r="r" b="b"/>
                <a:pathLst>
                  <a:path w="5486" h="42" extrusionOk="0">
                    <a:moveTo>
                      <a:pt x="24" y="0"/>
                    </a:moveTo>
                    <a:cubicBezTo>
                      <a:pt x="6" y="0"/>
                      <a:pt x="0" y="6"/>
                      <a:pt x="0" y="18"/>
                    </a:cubicBezTo>
                    <a:cubicBezTo>
                      <a:pt x="0" y="36"/>
                      <a:pt x="6" y="42"/>
                      <a:pt x="24" y="42"/>
                    </a:cubicBezTo>
                    <a:lnTo>
                      <a:pt x="5479" y="42"/>
                    </a:lnTo>
                    <a:cubicBezTo>
                      <a:pt x="5479" y="30"/>
                      <a:pt x="5485" y="12"/>
                      <a:pt x="54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3"/>
              <p:cNvSpPr/>
              <p:nvPr/>
            </p:nvSpPr>
            <p:spPr>
              <a:xfrm>
                <a:off x="7613829" y="3854206"/>
                <a:ext cx="695562" cy="6804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49" extrusionOk="0">
                    <a:moveTo>
                      <a:pt x="25" y="1"/>
                    </a:moveTo>
                    <a:cubicBezTo>
                      <a:pt x="13" y="1"/>
                      <a:pt x="1" y="7"/>
                      <a:pt x="1" y="24"/>
                    </a:cubicBezTo>
                    <a:cubicBezTo>
                      <a:pt x="1" y="36"/>
                      <a:pt x="13" y="48"/>
                      <a:pt x="25" y="48"/>
                    </a:cubicBezTo>
                    <a:lnTo>
                      <a:pt x="5003" y="48"/>
                    </a:lnTo>
                    <a:cubicBezTo>
                      <a:pt x="5009" y="30"/>
                      <a:pt x="5009" y="18"/>
                      <a:pt x="500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3"/>
              <p:cNvSpPr/>
              <p:nvPr/>
            </p:nvSpPr>
            <p:spPr>
              <a:xfrm>
                <a:off x="7538566" y="3910445"/>
                <a:ext cx="768326" cy="5971"/>
              </a:xfrm>
              <a:custGeom>
                <a:avLst/>
                <a:gdLst/>
                <a:ahLst/>
                <a:cxnLst/>
                <a:rect l="l" t="t" r="r" b="b"/>
                <a:pathLst>
                  <a:path w="5533" h="43" extrusionOk="0">
                    <a:moveTo>
                      <a:pt x="24" y="1"/>
                    </a:moveTo>
                    <a:cubicBezTo>
                      <a:pt x="6" y="1"/>
                      <a:pt x="0" y="7"/>
                      <a:pt x="0" y="19"/>
                    </a:cubicBezTo>
                    <a:cubicBezTo>
                      <a:pt x="0" y="37"/>
                      <a:pt x="6" y="43"/>
                      <a:pt x="24" y="43"/>
                    </a:cubicBezTo>
                    <a:lnTo>
                      <a:pt x="5533" y="43"/>
                    </a:lnTo>
                    <a:lnTo>
                      <a:pt x="553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3"/>
              <p:cNvSpPr/>
              <p:nvPr/>
            </p:nvSpPr>
            <p:spPr>
              <a:xfrm>
                <a:off x="7594805" y="3965156"/>
                <a:ext cx="714586" cy="5971"/>
              </a:xfrm>
              <a:custGeom>
                <a:avLst/>
                <a:gdLst/>
                <a:ahLst/>
                <a:cxnLst/>
                <a:rect l="l" t="t" r="r" b="b"/>
                <a:pathLst>
                  <a:path w="5146" h="43" extrusionOk="0">
                    <a:moveTo>
                      <a:pt x="19" y="0"/>
                    </a:moveTo>
                    <a:cubicBezTo>
                      <a:pt x="7" y="0"/>
                      <a:pt x="1" y="6"/>
                      <a:pt x="1" y="24"/>
                    </a:cubicBezTo>
                    <a:cubicBezTo>
                      <a:pt x="1" y="36"/>
                      <a:pt x="7" y="42"/>
                      <a:pt x="19" y="42"/>
                    </a:cubicBezTo>
                    <a:lnTo>
                      <a:pt x="5146" y="42"/>
                    </a:lnTo>
                    <a:lnTo>
                      <a:pt x="514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3"/>
              <p:cNvSpPr/>
              <p:nvPr/>
            </p:nvSpPr>
            <p:spPr>
              <a:xfrm>
                <a:off x="7559256" y="4020562"/>
                <a:ext cx="761800" cy="6804"/>
              </a:xfrm>
              <a:custGeom>
                <a:avLst/>
                <a:gdLst/>
                <a:ahLst/>
                <a:cxnLst/>
                <a:rect l="l" t="t" r="r" b="b"/>
                <a:pathLst>
                  <a:path w="5486" h="49" extrusionOk="0">
                    <a:moveTo>
                      <a:pt x="24" y="1"/>
                    </a:moveTo>
                    <a:cubicBezTo>
                      <a:pt x="6" y="1"/>
                      <a:pt x="0" y="13"/>
                      <a:pt x="0" y="25"/>
                    </a:cubicBezTo>
                    <a:cubicBezTo>
                      <a:pt x="0" y="43"/>
                      <a:pt x="6" y="49"/>
                      <a:pt x="24" y="49"/>
                    </a:cubicBezTo>
                    <a:lnTo>
                      <a:pt x="5485" y="49"/>
                    </a:lnTo>
                    <a:cubicBezTo>
                      <a:pt x="5479" y="31"/>
                      <a:pt x="5479" y="25"/>
                      <a:pt x="54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3"/>
              <p:cNvSpPr/>
              <p:nvPr/>
            </p:nvSpPr>
            <p:spPr>
              <a:xfrm>
                <a:off x="7488020" y="3744923"/>
                <a:ext cx="849561" cy="336319"/>
              </a:xfrm>
              <a:custGeom>
                <a:avLst/>
                <a:gdLst/>
                <a:ahLst/>
                <a:cxnLst/>
                <a:rect l="l" t="t" r="r" b="b"/>
                <a:pathLst>
                  <a:path w="6118" h="2422" extrusionOk="0">
                    <a:moveTo>
                      <a:pt x="1" y="1"/>
                    </a:moveTo>
                    <a:cubicBezTo>
                      <a:pt x="1" y="1"/>
                      <a:pt x="3435" y="805"/>
                      <a:pt x="5164" y="2421"/>
                    </a:cubicBezTo>
                    <a:lnTo>
                      <a:pt x="6118" y="2421"/>
                    </a:lnTo>
                    <a:cubicBezTo>
                      <a:pt x="6076" y="2296"/>
                      <a:pt x="6028" y="2159"/>
                      <a:pt x="5998" y="2034"/>
                    </a:cubicBezTo>
                    <a:cubicBezTo>
                      <a:pt x="5992" y="2016"/>
                      <a:pt x="5992" y="2010"/>
                      <a:pt x="5980" y="1992"/>
                    </a:cubicBezTo>
                    <a:cubicBezTo>
                      <a:pt x="5957" y="1873"/>
                      <a:pt x="5933" y="1753"/>
                      <a:pt x="5915" y="1634"/>
                    </a:cubicBezTo>
                    <a:cubicBezTo>
                      <a:pt x="5909" y="1622"/>
                      <a:pt x="5909" y="1604"/>
                      <a:pt x="5909" y="1592"/>
                    </a:cubicBezTo>
                    <a:cubicBezTo>
                      <a:pt x="5891" y="1473"/>
                      <a:pt x="5885" y="1354"/>
                      <a:pt x="5885" y="1235"/>
                    </a:cubicBezTo>
                    <a:lnTo>
                      <a:pt x="5885" y="1187"/>
                    </a:lnTo>
                    <a:cubicBezTo>
                      <a:pt x="5885" y="1074"/>
                      <a:pt x="5891" y="949"/>
                      <a:pt x="5909" y="835"/>
                    </a:cubicBezTo>
                    <a:cubicBezTo>
                      <a:pt x="5915" y="817"/>
                      <a:pt x="5915" y="805"/>
                      <a:pt x="5915" y="788"/>
                    </a:cubicBezTo>
                    <a:cubicBezTo>
                      <a:pt x="5933" y="668"/>
                      <a:pt x="5957" y="549"/>
                      <a:pt x="5980" y="430"/>
                    </a:cubicBezTo>
                    <a:cubicBezTo>
                      <a:pt x="5980" y="418"/>
                      <a:pt x="5992" y="400"/>
                      <a:pt x="5992" y="388"/>
                    </a:cubicBezTo>
                    <a:cubicBezTo>
                      <a:pt x="6022" y="257"/>
                      <a:pt x="6064" y="126"/>
                      <a:pt x="6112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3"/>
              <p:cNvSpPr/>
              <p:nvPr/>
            </p:nvSpPr>
            <p:spPr>
              <a:xfrm>
                <a:off x="7331522" y="3697710"/>
                <a:ext cx="114423" cy="430605"/>
              </a:xfrm>
              <a:custGeom>
                <a:avLst/>
                <a:gdLst/>
                <a:ahLst/>
                <a:cxnLst/>
                <a:rect l="l" t="t" r="r" b="b"/>
                <a:pathLst>
                  <a:path w="824" h="3101" extrusionOk="0">
                    <a:moveTo>
                      <a:pt x="359" y="1"/>
                    </a:moveTo>
                    <a:cubicBezTo>
                      <a:pt x="1" y="1038"/>
                      <a:pt x="1" y="2070"/>
                      <a:pt x="359" y="3101"/>
                    </a:cubicBezTo>
                    <a:lnTo>
                      <a:pt x="794" y="3101"/>
                    </a:lnTo>
                    <a:cubicBezTo>
                      <a:pt x="472" y="2070"/>
                      <a:pt x="484" y="1032"/>
                      <a:pt x="82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3"/>
              <p:cNvSpPr/>
              <p:nvPr/>
            </p:nvSpPr>
            <p:spPr>
              <a:xfrm>
                <a:off x="7380402" y="3697710"/>
                <a:ext cx="987035" cy="430605"/>
              </a:xfrm>
              <a:custGeom>
                <a:avLst/>
                <a:gdLst/>
                <a:ahLst/>
                <a:cxnLst/>
                <a:rect l="l" t="t" r="r" b="b"/>
                <a:pathLst>
                  <a:path w="7108" h="3101" extrusionOk="0">
                    <a:moveTo>
                      <a:pt x="472" y="1"/>
                    </a:moveTo>
                    <a:cubicBezTo>
                      <a:pt x="472" y="1"/>
                      <a:pt x="60" y="561"/>
                      <a:pt x="30" y="1509"/>
                    </a:cubicBezTo>
                    <a:cubicBezTo>
                      <a:pt x="1" y="2457"/>
                      <a:pt x="269" y="3101"/>
                      <a:pt x="269" y="3101"/>
                    </a:cubicBezTo>
                    <a:lnTo>
                      <a:pt x="7107" y="3101"/>
                    </a:lnTo>
                    <a:lnTo>
                      <a:pt x="7107" y="2767"/>
                    </a:lnTo>
                    <a:lnTo>
                      <a:pt x="776" y="2767"/>
                    </a:lnTo>
                    <a:cubicBezTo>
                      <a:pt x="776" y="2767"/>
                      <a:pt x="543" y="2058"/>
                      <a:pt x="567" y="1503"/>
                    </a:cubicBezTo>
                    <a:cubicBezTo>
                      <a:pt x="591" y="943"/>
                      <a:pt x="692" y="460"/>
                      <a:pt x="776" y="341"/>
                    </a:cubicBezTo>
                    <a:lnTo>
                      <a:pt x="7107" y="341"/>
                    </a:lnTo>
                    <a:lnTo>
                      <a:pt x="710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u="sng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Judiciary of </a:t>
            </a:r>
            <a:r>
              <a:rPr lang="en-US" sz="2800" u="sng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Hawai`I</a:t>
            </a:r>
            <a:br>
              <a:rPr lang="en-US" b="1" u="sng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/>
          </a:p>
        </p:txBody>
      </p:sp>
      <p:sp>
        <p:nvSpPr>
          <p:cNvPr id="356" name="Google Shape;356;p34"/>
          <p:cNvSpPr txBox="1"/>
          <p:nvPr/>
        </p:nvSpPr>
        <p:spPr>
          <a:xfrm>
            <a:off x="720000" y="1145811"/>
            <a:ext cx="6835941" cy="3342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Two Separate Court Systems: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Federal Court System –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Handles cases under U.S. federal law.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State Court System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Handles cases under Hawai`i state law (funded by the state Legislature).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State Court System (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Managed by JIMS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) 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</a:p>
          <a:p>
            <a:pPr lvl="2"/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-&gt; Appellate Courts (Statewide, based in Honolulu) :-</a:t>
            </a:r>
          </a:p>
          <a:p>
            <a:pPr lvl="7"/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	-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Hawai`i Supreme Court</a:t>
            </a:r>
          </a:p>
          <a:p>
            <a:pPr lvl="4"/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	- Intermediate Court of Appeals</a:t>
            </a:r>
          </a:p>
          <a:p>
            <a:pPr lvl="1"/>
            <a:endParaRPr lang="en-US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lvl="1"/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-&gt; Trial Courts (Four Judicial Circuits)</a:t>
            </a:r>
          </a:p>
          <a:p>
            <a:pPr lvl="1"/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	-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First Circuit – </a:t>
            </a:r>
            <a:r>
              <a:rPr lang="en-US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O`ahu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&amp; other islands not in another circuit</a:t>
            </a:r>
          </a:p>
          <a:p>
            <a:pPr lvl="1"/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	- Second Circuit – Maui, Molokai, Lanai, </a:t>
            </a:r>
            <a:r>
              <a:rPr lang="en-US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Kaho`olawe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Molokini</a:t>
            </a:r>
          </a:p>
          <a:p>
            <a:pPr lvl="1"/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	- Third Circuit – Hawai`i (Big Island)</a:t>
            </a:r>
          </a:p>
          <a:p>
            <a:pPr lvl="1"/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	- Fifth Circuit – Kauai &amp; Niihau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9" name="Google Shape;359;p34"/>
          <p:cNvGrpSpPr/>
          <p:nvPr/>
        </p:nvGrpSpPr>
        <p:grpSpPr>
          <a:xfrm>
            <a:off x="7143450" y="122481"/>
            <a:ext cx="1280540" cy="1453345"/>
            <a:chOff x="7143450" y="122481"/>
            <a:chExt cx="1280540" cy="1453345"/>
          </a:xfrm>
        </p:grpSpPr>
        <p:grpSp>
          <p:nvGrpSpPr>
            <p:cNvPr id="360" name="Google Shape;360;p34"/>
            <p:cNvGrpSpPr/>
            <p:nvPr/>
          </p:nvGrpSpPr>
          <p:grpSpPr>
            <a:xfrm>
              <a:off x="7662926" y="122481"/>
              <a:ext cx="761064" cy="825066"/>
              <a:chOff x="7511392" y="307000"/>
              <a:chExt cx="863570" cy="936192"/>
            </a:xfrm>
          </p:grpSpPr>
          <p:sp>
            <p:nvSpPr>
              <p:cNvPr id="361" name="Google Shape;361;p34"/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4"/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3" name="Google Shape;363;p34"/>
            <p:cNvGrpSpPr/>
            <p:nvPr/>
          </p:nvGrpSpPr>
          <p:grpSpPr>
            <a:xfrm>
              <a:off x="7143450" y="750750"/>
              <a:ext cx="822267" cy="825076"/>
              <a:chOff x="7143450" y="750750"/>
              <a:chExt cx="822267" cy="825076"/>
            </a:xfrm>
          </p:grpSpPr>
          <p:sp>
            <p:nvSpPr>
              <p:cNvPr id="364" name="Google Shape;364;p34"/>
              <p:cNvSpPr/>
              <p:nvPr/>
            </p:nvSpPr>
            <p:spPr>
              <a:xfrm>
                <a:off x="7143450" y="1168291"/>
                <a:ext cx="414826" cy="407534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359" extrusionOk="0">
                    <a:moveTo>
                      <a:pt x="1" y="0"/>
                    </a:moveTo>
                    <a:lnTo>
                      <a:pt x="1068" y="4358"/>
                    </a:lnTo>
                    <a:lnTo>
                      <a:pt x="4437" y="13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4"/>
              <p:cNvSpPr/>
              <p:nvPr/>
            </p:nvSpPr>
            <p:spPr>
              <a:xfrm>
                <a:off x="7555940" y="991028"/>
                <a:ext cx="409778" cy="408656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4371" extrusionOk="0">
                    <a:moveTo>
                      <a:pt x="3316" y="0"/>
                    </a:moveTo>
                    <a:lnTo>
                      <a:pt x="1" y="3238"/>
                    </a:lnTo>
                    <a:lnTo>
                      <a:pt x="4383" y="4370"/>
                    </a:lnTo>
                    <a:lnTo>
                      <a:pt x="33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4"/>
              <p:cNvSpPr/>
              <p:nvPr/>
            </p:nvSpPr>
            <p:spPr>
              <a:xfrm>
                <a:off x="7243300" y="1293665"/>
                <a:ext cx="722417" cy="282160"/>
              </a:xfrm>
              <a:custGeom>
                <a:avLst/>
                <a:gdLst/>
                <a:ahLst/>
                <a:cxnLst/>
                <a:rect l="l" t="t" r="r" b="b"/>
                <a:pathLst>
                  <a:path w="7727" h="3018" extrusionOk="0">
                    <a:moveTo>
                      <a:pt x="3345" y="1"/>
                    </a:moveTo>
                    <a:lnTo>
                      <a:pt x="0" y="3017"/>
                    </a:lnTo>
                    <a:lnTo>
                      <a:pt x="7727" y="1133"/>
                    </a:lnTo>
                    <a:lnTo>
                      <a:pt x="334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4"/>
              <p:cNvSpPr/>
              <p:nvPr/>
            </p:nvSpPr>
            <p:spPr>
              <a:xfrm>
                <a:off x="7143450" y="765802"/>
                <a:ext cx="722510" cy="527952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5647" extrusionOk="0">
                    <a:moveTo>
                      <a:pt x="3035" y="1"/>
                    </a:moveTo>
                    <a:lnTo>
                      <a:pt x="1" y="4305"/>
                    </a:lnTo>
                    <a:lnTo>
                      <a:pt x="4413" y="5647"/>
                    </a:lnTo>
                    <a:lnTo>
                      <a:pt x="7728" y="2409"/>
                    </a:lnTo>
                    <a:lnTo>
                      <a:pt x="303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4"/>
              <p:cNvSpPr/>
              <p:nvPr/>
            </p:nvSpPr>
            <p:spPr>
              <a:xfrm>
                <a:off x="7162429" y="750750"/>
                <a:ext cx="635562" cy="541883"/>
              </a:xfrm>
              <a:custGeom>
                <a:avLst/>
                <a:gdLst/>
                <a:ahLst/>
                <a:cxnLst/>
                <a:rect l="l" t="t" r="r" b="b"/>
                <a:pathLst>
                  <a:path w="6798" h="5796" extrusionOk="0">
                    <a:moveTo>
                      <a:pt x="5998" y="1"/>
                    </a:moveTo>
                    <a:lnTo>
                      <a:pt x="1" y="1467"/>
                    </a:lnTo>
                    <a:lnTo>
                      <a:pt x="805" y="4770"/>
                    </a:lnTo>
                    <a:lnTo>
                      <a:pt x="4216" y="5796"/>
                    </a:lnTo>
                    <a:lnTo>
                      <a:pt x="6797" y="3280"/>
                    </a:lnTo>
                    <a:lnTo>
                      <a:pt x="599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4"/>
              <p:cNvSpPr/>
              <p:nvPr/>
            </p:nvSpPr>
            <p:spPr>
              <a:xfrm>
                <a:off x="7210391" y="857052"/>
                <a:ext cx="515144" cy="131450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6" extrusionOk="0">
                    <a:moveTo>
                      <a:pt x="5461" y="1"/>
                    </a:moveTo>
                    <a:cubicBezTo>
                      <a:pt x="5458" y="1"/>
                      <a:pt x="5454" y="1"/>
                      <a:pt x="5449" y="2"/>
                    </a:cubicBezTo>
                    <a:lnTo>
                      <a:pt x="36" y="1320"/>
                    </a:lnTo>
                    <a:cubicBezTo>
                      <a:pt x="12" y="1332"/>
                      <a:pt x="0" y="1350"/>
                      <a:pt x="6" y="1374"/>
                    </a:cubicBezTo>
                    <a:cubicBezTo>
                      <a:pt x="16" y="1393"/>
                      <a:pt x="30" y="1405"/>
                      <a:pt x="48" y="1405"/>
                    </a:cubicBezTo>
                    <a:cubicBezTo>
                      <a:pt x="52" y="1405"/>
                      <a:pt x="56" y="1405"/>
                      <a:pt x="60" y="1404"/>
                    </a:cubicBezTo>
                    <a:lnTo>
                      <a:pt x="5473" y="86"/>
                    </a:lnTo>
                    <a:cubicBezTo>
                      <a:pt x="5491" y="80"/>
                      <a:pt x="5509" y="56"/>
                      <a:pt x="5503" y="32"/>
                    </a:cubicBezTo>
                    <a:cubicBezTo>
                      <a:pt x="5493" y="13"/>
                      <a:pt x="5479" y="1"/>
                      <a:pt x="54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4"/>
              <p:cNvSpPr/>
              <p:nvPr/>
            </p:nvSpPr>
            <p:spPr>
              <a:xfrm>
                <a:off x="7201415" y="820309"/>
                <a:ext cx="515144" cy="131357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5" extrusionOk="0">
                    <a:moveTo>
                      <a:pt x="5460" y="0"/>
                    </a:moveTo>
                    <a:cubicBezTo>
                      <a:pt x="5456" y="0"/>
                      <a:pt x="5453" y="1"/>
                      <a:pt x="5450" y="2"/>
                    </a:cubicBezTo>
                    <a:lnTo>
                      <a:pt x="37" y="1320"/>
                    </a:lnTo>
                    <a:cubicBezTo>
                      <a:pt x="13" y="1326"/>
                      <a:pt x="1" y="1349"/>
                      <a:pt x="7" y="1373"/>
                    </a:cubicBezTo>
                    <a:cubicBezTo>
                      <a:pt x="12" y="1393"/>
                      <a:pt x="29" y="1405"/>
                      <a:pt x="48" y="1405"/>
                    </a:cubicBezTo>
                    <a:cubicBezTo>
                      <a:pt x="52" y="1405"/>
                      <a:pt x="56" y="1404"/>
                      <a:pt x="61" y="1403"/>
                    </a:cubicBezTo>
                    <a:lnTo>
                      <a:pt x="5468" y="85"/>
                    </a:lnTo>
                    <a:cubicBezTo>
                      <a:pt x="5492" y="74"/>
                      <a:pt x="5510" y="56"/>
                      <a:pt x="5498" y="32"/>
                    </a:cubicBezTo>
                    <a:cubicBezTo>
                      <a:pt x="5493" y="12"/>
                      <a:pt x="5476" y="0"/>
                      <a:pt x="54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4"/>
              <p:cNvSpPr/>
              <p:nvPr/>
            </p:nvSpPr>
            <p:spPr>
              <a:xfrm>
                <a:off x="7228809" y="931753"/>
                <a:ext cx="514489" cy="131357"/>
              </a:xfrm>
              <a:custGeom>
                <a:avLst/>
                <a:gdLst/>
                <a:ahLst/>
                <a:cxnLst/>
                <a:rect l="l" t="t" r="r" b="b"/>
                <a:pathLst>
                  <a:path w="5503" h="1405" extrusionOk="0">
                    <a:moveTo>
                      <a:pt x="5455" y="1"/>
                    </a:moveTo>
                    <a:cubicBezTo>
                      <a:pt x="5451" y="1"/>
                      <a:pt x="5447" y="1"/>
                      <a:pt x="5443" y="2"/>
                    </a:cubicBezTo>
                    <a:lnTo>
                      <a:pt x="36" y="1320"/>
                    </a:lnTo>
                    <a:cubicBezTo>
                      <a:pt x="12" y="1326"/>
                      <a:pt x="0" y="1350"/>
                      <a:pt x="6" y="1374"/>
                    </a:cubicBezTo>
                    <a:cubicBezTo>
                      <a:pt x="11" y="1393"/>
                      <a:pt x="28" y="1405"/>
                      <a:pt x="47" y="1405"/>
                    </a:cubicBezTo>
                    <a:cubicBezTo>
                      <a:pt x="51" y="1405"/>
                      <a:pt x="56" y="1404"/>
                      <a:pt x="60" y="1403"/>
                    </a:cubicBezTo>
                    <a:lnTo>
                      <a:pt x="5467" y="86"/>
                    </a:lnTo>
                    <a:cubicBezTo>
                      <a:pt x="5491" y="74"/>
                      <a:pt x="5503" y="56"/>
                      <a:pt x="5497" y="32"/>
                    </a:cubicBezTo>
                    <a:cubicBezTo>
                      <a:pt x="5492" y="12"/>
                      <a:pt x="5475" y="1"/>
                      <a:pt x="54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4"/>
              <p:cNvSpPr/>
              <p:nvPr/>
            </p:nvSpPr>
            <p:spPr>
              <a:xfrm>
                <a:off x="7219273" y="893888"/>
                <a:ext cx="515144" cy="131544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7" extrusionOk="0">
                    <a:moveTo>
                      <a:pt x="5459" y="1"/>
                    </a:moveTo>
                    <a:cubicBezTo>
                      <a:pt x="5456" y="1"/>
                      <a:pt x="5453" y="1"/>
                      <a:pt x="5450" y="2"/>
                    </a:cubicBezTo>
                    <a:lnTo>
                      <a:pt x="42" y="1325"/>
                    </a:lnTo>
                    <a:cubicBezTo>
                      <a:pt x="19" y="1331"/>
                      <a:pt x="1" y="1355"/>
                      <a:pt x="13" y="1373"/>
                    </a:cubicBezTo>
                    <a:cubicBezTo>
                      <a:pt x="17" y="1392"/>
                      <a:pt x="33" y="1407"/>
                      <a:pt x="48" y="1407"/>
                    </a:cubicBezTo>
                    <a:cubicBezTo>
                      <a:pt x="52" y="1407"/>
                      <a:pt x="56" y="1406"/>
                      <a:pt x="60" y="1403"/>
                    </a:cubicBezTo>
                    <a:lnTo>
                      <a:pt x="5474" y="85"/>
                    </a:lnTo>
                    <a:cubicBezTo>
                      <a:pt x="5498" y="85"/>
                      <a:pt x="5510" y="62"/>
                      <a:pt x="5504" y="32"/>
                    </a:cubicBezTo>
                    <a:cubicBezTo>
                      <a:pt x="5498" y="16"/>
                      <a:pt x="5480" y="1"/>
                      <a:pt x="54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4"/>
              <p:cNvSpPr/>
              <p:nvPr/>
            </p:nvSpPr>
            <p:spPr>
              <a:xfrm>
                <a:off x="7246572" y="1005426"/>
                <a:ext cx="515144" cy="131544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7" extrusionOk="0">
                    <a:moveTo>
                      <a:pt x="5459" y="0"/>
                    </a:moveTo>
                    <a:cubicBezTo>
                      <a:pt x="5456" y="0"/>
                      <a:pt x="5453" y="1"/>
                      <a:pt x="5450" y="1"/>
                    </a:cubicBezTo>
                    <a:lnTo>
                      <a:pt x="37" y="1325"/>
                    </a:lnTo>
                    <a:cubicBezTo>
                      <a:pt x="13" y="1331"/>
                      <a:pt x="1" y="1355"/>
                      <a:pt x="7" y="1373"/>
                    </a:cubicBezTo>
                    <a:cubicBezTo>
                      <a:pt x="16" y="1391"/>
                      <a:pt x="29" y="1406"/>
                      <a:pt x="46" y="1406"/>
                    </a:cubicBezTo>
                    <a:cubicBezTo>
                      <a:pt x="50" y="1406"/>
                      <a:pt x="55" y="1405"/>
                      <a:pt x="60" y="1402"/>
                    </a:cubicBezTo>
                    <a:lnTo>
                      <a:pt x="5474" y="85"/>
                    </a:lnTo>
                    <a:cubicBezTo>
                      <a:pt x="5492" y="79"/>
                      <a:pt x="5510" y="55"/>
                      <a:pt x="5504" y="31"/>
                    </a:cubicBezTo>
                    <a:cubicBezTo>
                      <a:pt x="5493" y="16"/>
                      <a:pt x="5479" y="0"/>
                      <a:pt x="5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4"/>
              <p:cNvSpPr/>
              <p:nvPr/>
            </p:nvSpPr>
            <p:spPr>
              <a:xfrm>
                <a:off x="7237691" y="968589"/>
                <a:ext cx="515144" cy="131357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5" extrusionOk="0">
                    <a:moveTo>
                      <a:pt x="5459" y="0"/>
                    </a:moveTo>
                    <a:cubicBezTo>
                      <a:pt x="5456" y="0"/>
                      <a:pt x="5453" y="1"/>
                      <a:pt x="5450" y="2"/>
                    </a:cubicBezTo>
                    <a:lnTo>
                      <a:pt x="36" y="1319"/>
                    </a:lnTo>
                    <a:cubicBezTo>
                      <a:pt x="12" y="1331"/>
                      <a:pt x="0" y="1349"/>
                      <a:pt x="6" y="1373"/>
                    </a:cubicBezTo>
                    <a:cubicBezTo>
                      <a:pt x="11" y="1393"/>
                      <a:pt x="29" y="1404"/>
                      <a:pt x="48" y="1404"/>
                    </a:cubicBezTo>
                    <a:cubicBezTo>
                      <a:pt x="52" y="1404"/>
                      <a:pt x="56" y="1404"/>
                      <a:pt x="60" y="1403"/>
                    </a:cubicBezTo>
                    <a:lnTo>
                      <a:pt x="5468" y="85"/>
                    </a:lnTo>
                    <a:cubicBezTo>
                      <a:pt x="5491" y="79"/>
                      <a:pt x="5509" y="55"/>
                      <a:pt x="5497" y="32"/>
                    </a:cubicBezTo>
                    <a:cubicBezTo>
                      <a:pt x="5492" y="12"/>
                      <a:pt x="5475" y="0"/>
                      <a:pt x="5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4"/>
              <p:cNvSpPr/>
              <p:nvPr/>
            </p:nvSpPr>
            <p:spPr>
              <a:xfrm>
                <a:off x="7255548" y="1042449"/>
                <a:ext cx="515144" cy="131544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7" extrusionOk="0">
                    <a:moveTo>
                      <a:pt x="5465" y="1"/>
                    </a:moveTo>
                    <a:cubicBezTo>
                      <a:pt x="5460" y="1"/>
                      <a:pt x="5455" y="2"/>
                      <a:pt x="5449" y="5"/>
                    </a:cubicBezTo>
                    <a:lnTo>
                      <a:pt x="42" y="1322"/>
                    </a:lnTo>
                    <a:cubicBezTo>
                      <a:pt x="18" y="1328"/>
                      <a:pt x="0" y="1352"/>
                      <a:pt x="12" y="1376"/>
                    </a:cubicBezTo>
                    <a:cubicBezTo>
                      <a:pt x="17" y="1392"/>
                      <a:pt x="36" y="1407"/>
                      <a:pt x="52" y="1407"/>
                    </a:cubicBezTo>
                    <a:cubicBezTo>
                      <a:pt x="55" y="1407"/>
                      <a:pt x="57" y="1407"/>
                      <a:pt x="60" y="1406"/>
                    </a:cubicBezTo>
                    <a:lnTo>
                      <a:pt x="5473" y="82"/>
                    </a:lnTo>
                    <a:cubicBezTo>
                      <a:pt x="5497" y="82"/>
                      <a:pt x="5509" y="52"/>
                      <a:pt x="5503" y="35"/>
                    </a:cubicBezTo>
                    <a:cubicBezTo>
                      <a:pt x="5498" y="16"/>
                      <a:pt x="5483" y="1"/>
                      <a:pt x="5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4"/>
              <p:cNvSpPr/>
              <p:nvPr/>
            </p:nvSpPr>
            <p:spPr>
              <a:xfrm>
                <a:off x="7556501" y="1292543"/>
                <a:ext cx="409217" cy="107142"/>
              </a:xfrm>
              <a:custGeom>
                <a:avLst/>
                <a:gdLst/>
                <a:ahLst/>
                <a:cxnLst/>
                <a:rect l="l" t="t" r="r" b="b"/>
                <a:pathLst>
                  <a:path w="4377" h="1146" extrusionOk="0">
                    <a:moveTo>
                      <a:pt x="1" y="1"/>
                    </a:moveTo>
                    <a:lnTo>
                      <a:pt x="4377" y="1145"/>
                    </a:lnTo>
                    <a:lnTo>
                      <a:pt x="4335" y="9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4"/>
              <p:cNvSpPr/>
              <p:nvPr/>
            </p:nvSpPr>
            <p:spPr>
              <a:xfrm>
                <a:off x="7238813" y="1292543"/>
                <a:ext cx="317781" cy="283282"/>
              </a:xfrm>
              <a:custGeom>
                <a:avLst/>
                <a:gdLst/>
                <a:ahLst/>
                <a:cxnLst/>
                <a:rect l="l" t="t" r="r" b="b"/>
                <a:pathLst>
                  <a:path w="3399" h="3030" extrusionOk="0">
                    <a:moveTo>
                      <a:pt x="3399" y="1"/>
                    </a:moveTo>
                    <a:lnTo>
                      <a:pt x="0" y="2845"/>
                    </a:lnTo>
                    <a:lnTo>
                      <a:pt x="48" y="3029"/>
                    </a:lnTo>
                    <a:lnTo>
                      <a:pt x="33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A4B4E71F-EBC7-AF5A-20F9-64FEE321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D3DB8E4E-F3F7-A3E4-E424-0F9F5492A6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u="sng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Hawai`i State Court System</a:t>
            </a:r>
            <a:br>
              <a:rPr lang="en-US" b="1" u="sng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dirty="0"/>
          </a:p>
        </p:txBody>
      </p:sp>
      <p:sp>
        <p:nvSpPr>
          <p:cNvPr id="356" name="Google Shape;356;p34">
            <a:extLst>
              <a:ext uri="{FF2B5EF4-FFF2-40B4-BE49-F238E27FC236}">
                <a16:creationId xmlns:a16="http://schemas.microsoft.com/office/drawing/2014/main" id="{04F1C1AE-8195-1A37-9AC3-9F878E9C535B}"/>
              </a:ext>
            </a:extLst>
          </p:cNvPr>
          <p:cNvSpPr txBox="1"/>
          <p:nvPr/>
        </p:nvSpPr>
        <p:spPr>
          <a:xfrm>
            <a:off x="720000" y="1145811"/>
            <a:ext cx="6835941" cy="3342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Chief Justice of the Supreme Court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Oversees the administration of all courts.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Types of Courts &amp; Their Purpose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Supreme Court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The highest court, final authority on state law.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Intermediate Court of Appeals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Hears most appeals from trial courts and state agencies.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Circuit Courts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Handles major civil and criminal cases, including jury trials.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District Courts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Handles traffic violations, minor criminal cases, and civil cases under $40,000.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Family Court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Resolves cases involving families and children.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Land Court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Oversees land title registration and disputes.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Tax Appeal Court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Handles tax-related disputes and appeals.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9" name="Google Shape;359;p34">
            <a:extLst>
              <a:ext uri="{FF2B5EF4-FFF2-40B4-BE49-F238E27FC236}">
                <a16:creationId xmlns:a16="http://schemas.microsoft.com/office/drawing/2014/main" id="{3D76B675-EBB6-0E5D-3B43-ECE13905BC4F}"/>
              </a:ext>
            </a:extLst>
          </p:cNvPr>
          <p:cNvGrpSpPr/>
          <p:nvPr/>
        </p:nvGrpSpPr>
        <p:grpSpPr>
          <a:xfrm>
            <a:off x="7143450" y="122481"/>
            <a:ext cx="1280540" cy="1453345"/>
            <a:chOff x="7143450" y="122481"/>
            <a:chExt cx="1280540" cy="1453345"/>
          </a:xfrm>
        </p:grpSpPr>
        <p:grpSp>
          <p:nvGrpSpPr>
            <p:cNvPr id="360" name="Google Shape;360;p34">
              <a:extLst>
                <a:ext uri="{FF2B5EF4-FFF2-40B4-BE49-F238E27FC236}">
                  <a16:creationId xmlns:a16="http://schemas.microsoft.com/office/drawing/2014/main" id="{CE369F56-BC60-8F10-2F0B-1DB406F7FEB2}"/>
                </a:ext>
              </a:extLst>
            </p:cNvPr>
            <p:cNvGrpSpPr/>
            <p:nvPr/>
          </p:nvGrpSpPr>
          <p:grpSpPr>
            <a:xfrm>
              <a:off x="7662926" y="122481"/>
              <a:ext cx="761064" cy="825066"/>
              <a:chOff x="7511392" y="307000"/>
              <a:chExt cx="863570" cy="936192"/>
            </a:xfrm>
          </p:grpSpPr>
          <p:sp>
            <p:nvSpPr>
              <p:cNvPr id="361" name="Google Shape;361;p34">
                <a:extLst>
                  <a:ext uri="{FF2B5EF4-FFF2-40B4-BE49-F238E27FC236}">
                    <a16:creationId xmlns:a16="http://schemas.microsoft.com/office/drawing/2014/main" id="{51488D6F-2931-11F6-0B49-723AB8BC31DC}"/>
                  </a:ext>
                </a:extLst>
              </p:cNvPr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4">
                <a:extLst>
                  <a:ext uri="{FF2B5EF4-FFF2-40B4-BE49-F238E27FC236}">
                    <a16:creationId xmlns:a16="http://schemas.microsoft.com/office/drawing/2014/main" id="{3A7E3EDD-C7E9-EA16-D044-8C014E153311}"/>
                  </a:ext>
                </a:extLst>
              </p:cNvPr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3" name="Google Shape;363;p34">
              <a:extLst>
                <a:ext uri="{FF2B5EF4-FFF2-40B4-BE49-F238E27FC236}">
                  <a16:creationId xmlns:a16="http://schemas.microsoft.com/office/drawing/2014/main" id="{68479CE7-9D77-25A1-DDF9-90F5A29F5F43}"/>
                </a:ext>
              </a:extLst>
            </p:cNvPr>
            <p:cNvGrpSpPr/>
            <p:nvPr/>
          </p:nvGrpSpPr>
          <p:grpSpPr>
            <a:xfrm>
              <a:off x="7143450" y="750750"/>
              <a:ext cx="822267" cy="825076"/>
              <a:chOff x="7143450" y="750750"/>
              <a:chExt cx="822267" cy="825076"/>
            </a:xfrm>
          </p:grpSpPr>
          <p:sp>
            <p:nvSpPr>
              <p:cNvPr id="364" name="Google Shape;364;p34">
                <a:extLst>
                  <a:ext uri="{FF2B5EF4-FFF2-40B4-BE49-F238E27FC236}">
                    <a16:creationId xmlns:a16="http://schemas.microsoft.com/office/drawing/2014/main" id="{D2C38A31-EBDF-D992-CB7B-F92EC0EEC84C}"/>
                  </a:ext>
                </a:extLst>
              </p:cNvPr>
              <p:cNvSpPr/>
              <p:nvPr/>
            </p:nvSpPr>
            <p:spPr>
              <a:xfrm>
                <a:off x="7143450" y="1168291"/>
                <a:ext cx="414826" cy="407534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359" extrusionOk="0">
                    <a:moveTo>
                      <a:pt x="1" y="0"/>
                    </a:moveTo>
                    <a:lnTo>
                      <a:pt x="1068" y="4358"/>
                    </a:lnTo>
                    <a:lnTo>
                      <a:pt x="4437" y="13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4">
                <a:extLst>
                  <a:ext uri="{FF2B5EF4-FFF2-40B4-BE49-F238E27FC236}">
                    <a16:creationId xmlns:a16="http://schemas.microsoft.com/office/drawing/2014/main" id="{3A527B6A-28A1-699A-680A-F7DEF732A74B}"/>
                  </a:ext>
                </a:extLst>
              </p:cNvPr>
              <p:cNvSpPr/>
              <p:nvPr/>
            </p:nvSpPr>
            <p:spPr>
              <a:xfrm>
                <a:off x="7555940" y="991028"/>
                <a:ext cx="409778" cy="408656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4371" extrusionOk="0">
                    <a:moveTo>
                      <a:pt x="3316" y="0"/>
                    </a:moveTo>
                    <a:lnTo>
                      <a:pt x="1" y="3238"/>
                    </a:lnTo>
                    <a:lnTo>
                      <a:pt x="4383" y="4370"/>
                    </a:lnTo>
                    <a:lnTo>
                      <a:pt x="33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4">
                <a:extLst>
                  <a:ext uri="{FF2B5EF4-FFF2-40B4-BE49-F238E27FC236}">
                    <a16:creationId xmlns:a16="http://schemas.microsoft.com/office/drawing/2014/main" id="{3CCCD900-FDF7-E149-E366-9432524B7C8D}"/>
                  </a:ext>
                </a:extLst>
              </p:cNvPr>
              <p:cNvSpPr/>
              <p:nvPr/>
            </p:nvSpPr>
            <p:spPr>
              <a:xfrm>
                <a:off x="7243300" y="1293665"/>
                <a:ext cx="722417" cy="282160"/>
              </a:xfrm>
              <a:custGeom>
                <a:avLst/>
                <a:gdLst/>
                <a:ahLst/>
                <a:cxnLst/>
                <a:rect l="l" t="t" r="r" b="b"/>
                <a:pathLst>
                  <a:path w="7727" h="3018" extrusionOk="0">
                    <a:moveTo>
                      <a:pt x="3345" y="1"/>
                    </a:moveTo>
                    <a:lnTo>
                      <a:pt x="0" y="3017"/>
                    </a:lnTo>
                    <a:lnTo>
                      <a:pt x="7727" y="1133"/>
                    </a:lnTo>
                    <a:lnTo>
                      <a:pt x="334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4">
                <a:extLst>
                  <a:ext uri="{FF2B5EF4-FFF2-40B4-BE49-F238E27FC236}">
                    <a16:creationId xmlns:a16="http://schemas.microsoft.com/office/drawing/2014/main" id="{A26074F6-63A8-F03A-97AF-FBCAFF3C2896}"/>
                  </a:ext>
                </a:extLst>
              </p:cNvPr>
              <p:cNvSpPr/>
              <p:nvPr/>
            </p:nvSpPr>
            <p:spPr>
              <a:xfrm>
                <a:off x="7143450" y="765802"/>
                <a:ext cx="722510" cy="527952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5647" extrusionOk="0">
                    <a:moveTo>
                      <a:pt x="3035" y="1"/>
                    </a:moveTo>
                    <a:lnTo>
                      <a:pt x="1" y="4305"/>
                    </a:lnTo>
                    <a:lnTo>
                      <a:pt x="4413" y="5647"/>
                    </a:lnTo>
                    <a:lnTo>
                      <a:pt x="7728" y="2409"/>
                    </a:lnTo>
                    <a:lnTo>
                      <a:pt x="303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4">
                <a:extLst>
                  <a:ext uri="{FF2B5EF4-FFF2-40B4-BE49-F238E27FC236}">
                    <a16:creationId xmlns:a16="http://schemas.microsoft.com/office/drawing/2014/main" id="{30738C90-A36F-28C7-D76B-9712424EE38A}"/>
                  </a:ext>
                </a:extLst>
              </p:cNvPr>
              <p:cNvSpPr/>
              <p:nvPr/>
            </p:nvSpPr>
            <p:spPr>
              <a:xfrm>
                <a:off x="7162429" y="750750"/>
                <a:ext cx="635562" cy="541883"/>
              </a:xfrm>
              <a:custGeom>
                <a:avLst/>
                <a:gdLst/>
                <a:ahLst/>
                <a:cxnLst/>
                <a:rect l="l" t="t" r="r" b="b"/>
                <a:pathLst>
                  <a:path w="6798" h="5796" extrusionOk="0">
                    <a:moveTo>
                      <a:pt x="5998" y="1"/>
                    </a:moveTo>
                    <a:lnTo>
                      <a:pt x="1" y="1467"/>
                    </a:lnTo>
                    <a:lnTo>
                      <a:pt x="805" y="4770"/>
                    </a:lnTo>
                    <a:lnTo>
                      <a:pt x="4216" y="5796"/>
                    </a:lnTo>
                    <a:lnTo>
                      <a:pt x="6797" y="3280"/>
                    </a:lnTo>
                    <a:lnTo>
                      <a:pt x="599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4">
                <a:extLst>
                  <a:ext uri="{FF2B5EF4-FFF2-40B4-BE49-F238E27FC236}">
                    <a16:creationId xmlns:a16="http://schemas.microsoft.com/office/drawing/2014/main" id="{09E70E03-BA05-444C-182B-D8F117A482D5}"/>
                  </a:ext>
                </a:extLst>
              </p:cNvPr>
              <p:cNvSpPr/>
              <p:nvPr/>
            </p:nvSpPr>
            <p:spPr>
              <a:xfrm>
                <a:off x="7210391" y="857052"/>
                <a:ext cx="515144" cy="131450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6" extrusionOk="0">
                    <a:moveTo>
                      <a:pt x="5461" y="1"/>
                    </a:moveTo>
                    <a:cubicBezTo>
                      <a:pt x="5458" y="1"/>
                      <a:pt x="5454" y="1"/>
                      <a:pt x="5449" y="2"/>
                    </a:cubicBezTo>
                    <a:lnTo>
                      <a:pt x="36" y="1320"/>
                    </a:lnTo>
                    <a:cubicBezTo>
                      <a:pt x="12" y="1332"/>
                      <a:pt x="0" y="1350"/>
                      <a:pt x="6" y="1374"/>
                    </a:cubicBezTo>
                    <a:cubicBezTo>
                      <a:pt x="16" y="1393"/>
                      <a:pt x="30" y="1405"/>
                      <a:pt x="48" y="1405"/>
                    </a:cubicBezTo>
                    <a:cubicBezTo>
                      <a:pt x="52" y="1405"/>
                      <a:pt x="56" y="1405"/>
                      <a:pt x="60" y="1404"/>
                    </a:cubicBezTo>
                    <a:lnTo>
                      <a:pt x="5473" y="86"/>
                    </a:lnTo>
                    <a:cubicBezTo>
                      <a:pt x="5491" y="80"/>
                      <a:pt x="5509" y="56"/>
                      <a:pt x="5503" y="32"/>
                    </a:cubicBezTo>
                    <a:cubicBezTo>
                      <a:pt x="5493" y="13"/>
                      <a:pt x="5479" y="1"/>
                      <a:pt x="54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4">
                <a:extLst>
                  <a:ext uri="{FF2B5EF4-FFF2-40B4-BE49-F238E27FC236}">
                    <a16:creationId xmlns:a16="http://schemas.microsoft.com/office/drawing/2014/main" id="{60434F3B-B08D-F35C-C4E7-A29455C2FA99}"/>
                  </a:ext>
                </a:extLst>
              </p:cNvPr>
              <p:cNvSpPr/>
              <p:nvPr/>
            </p:nvSpPr>
            <p:spPr>
              <a:xfrm>
                <a:off x="7201415" y="820309"/>
                <a:ext cx="515144" cy="131357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5" extrusionOk="0">
                    <a:moveTo>
                      <a:pt x="5460" y="0"/>
                    </a:moveTo>
                    <a:cubicBezTo>
                      <a:pt x="5456" y="0"/>
                      <a:pt x="5453" y="1"/>
                      <a:pt x="5450" y="2"/>
                    </a:cubicBezTo>
                    <a:lnTo>
                      <a:pt x="37" y="1320"/>
                    </a:lnTo>
                    <a:cubicBezTo>
                      <a:pt x="13" y="1326"/>
                      <a:pt x="1" y="1349"/>
                      <a:pt x="7" y="1373"/>
                    </a:cubicBezTo>
                    <a:cubicBezTo>
                      <a:pt x="12" y="1393"/>
                      <a:pt x="29" y="1405"/>
                      <a:pt x="48" y="1405"/>
                    </a:cubicBezTo>
                    <a:cubicBezTo>
                      <a:pt x="52" y="1405"/>
                      <a:pt x="56" y="1404"/>
                      <a:pt x="61" y="1403"/>
                    </a:cubicBezTo>
                    <a:lnTo>
                      <a:pt x="5468" y="85"/>
                    </a:lnTo>
                    <a:cubicBezTo>
                      <a:pt x="5492" y="74"/>
                      <a:pt x="5510" y="56"/>
                      <a:pt x="5498" y="32"/>
                    </a:cubicBezTo>
                    <a:cubicBezTo>
                      <a:pt x="5493" y="12"/>
                      <a:pt x="5476" y="0"/>
                      <a:pt x="54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4">
                <a:extLst>
                  <a:ext uri="{FF2B5EF4-FFF2-40B4-BE49-F238E27FC236}">
                    <a16:creationId xmlns:a16="http://schemas.microsoft.com/office/drawing/2014/main" id="{CC23BF65-B680-84E8-7A1E-E45E97E78A79}"/>
                  </a:ext>
                </a:extLst>
              </p:cNvPr>
              <p:cNvSpPr/>
              <p:nvPr/>
            </p:nvSpPr>
            <p:spPr>
              <a:xfrm>
                <a:off x="7228809" y="931753"/>
                <a:ext cx="514489" cy="131357"/>
              </a:xfrm>
              <a:custGeom>
                <a:avLst/>
                <a:gdLst/>
                <a:ahLst/>
                <a:cxnLst/>
                <a:rect l="l" t="t" r="r" b="b"/>
                <a:pathLst>
                  <a:path w="5503" h="1405" extrusionOk="0">
                    <a:moveTo>
                      <a:pt x="5455" y="1"/>
                    </a:moveTo>
                    <a:cubicBezTo>
                      <a:pt x="5451" y="1"/>
                      <a:pt x="5447" y="1"/>
                      <a:pt x="5443" y="2"/>
                    </a:cubicBezTo>
                    <a:lnTo>
                      <a:pt x="36" y="1320"/>
                    </a:lnTo>
                    <a:cubicBezTo>
                      <a:pt x="12" y="1326"/>
                      <a:pt x="0" y="1350"/>
                      <a:pt x="6" y="1374"/>
                    </a:cubicBezTo>
                    <a:cubicBezTo>
                      <a:pt x="11" y="1393"/>
                      <a:pt x="28" y="1405"/>
                      <a:pt x="47" y="1405"/>
                    </a:cubicBezTo>
                    <a:cubicBezTo>
                      <a:pt x="51" y="1405"/>
                      <a:pt x="56" y="1404"/>
                      <a:pt x="60" y="1403"/>
                    </a:cubicBezTo>
                    <a:lnTo>
                      <a:pt x="5467" y="86"/>
                    </a:lnTo>
                    <a:cubicBezTo>
                      <a:pt x="5491" y="74"/>
                      <a:pt x="5503" y="56"/>
                      <a:pt x="5497" y="32"/>
                    </a:cubicBezTo>
                    <a:cubicBezTo>
                      <a:pt x="5492" y="12"/>
                      <a:pt x="5475" y="1"/>
                      <a:pt x="54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4">
                <a:extLst>
                  <a:ext uri="{FF2B5EF4-FFF2-40B4-BE49-F238E27FC236}">
                    <a16:creationId xmlns:a16="http://schemas.microsoft.com/office/drawing/2014/main" id="{93C25E0B-1A2E-DD7D-61FD-B0FA7E89B625}"/>
                  </a:ext>
                </a:extLst>
              </p:cNvPr>
              <p:cNvSpPr/>
              <p:nvPr/>
            </p:nvSpPr>
            <p:spPr>
              <a:xfrm>
                <a:off x="7219273" y="893888"/>
                <a:ext cx="515144" cy="131544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7" extrusionOk="0">
                    <a:moveTo>
                      <a:pt x="5459" y="1"/>
                    </a:moveTo>
                    <a:cubicBezTo>
                      <a:pt x="5456" y="1"/>
                      <a:pt x="5453" y="1"/>
                      <a:pt x="5450" y="2"/>
                    </a:cubicBezTo>
                    <a:lnTo>
                      <a:pt x="42" y="1325"/>
                    </a:lnTo>
                    <a:cubicBezTo>
                      <a:pt x="19" y="1331"/>
                      <a:pt x="1" y="1355"/>
                      <a:pt x="13" y="1373"/>
                    </a:cubicBezTo>
                    <a:cubicBezTo>
                      <a:pt x="17" y="1392"/>
                      <a:pt x="33" y="1407"/>
                      <a:pt x="48" y="1407"/>
                    </a:cubicBezTo>
                    <a:cubicBezTo>
                      <a:pt x="52" y="1407"/>
                      <a:pt x="56" y="1406"/>
                      <a:pt x="60" y="1403"/>
                    </a:cubicBezTo>
                    <a:lnTo>
                      <a:pt x="5474" y="85"/>
                    </a:lnTo>
                    <a:cubicBezTo>
                      <a:pt x="5498" y="85"/>
                      <a:pt x="5510" y="62"/>
                      <a:pt x="5504" y="32"/>
                    </a:cubicBezTo>
                    <a:cubicBezTo>
                      <a:pt x="5498" y="16"/>
                      <a:pt x="5480" y="1"/>
                      <a:pt x="54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4">
                <a:extLst>
                  <a:ext uri="{FF2B5EF4-FFF2-40B4-BE49-F238E27FC236}">
                    <a16:creationId xmlns:a16="http://schemas.microsoft.com/office/drawing/2014/main" id="{95DB6566-DCBE-0F05-81D9-ABA77D2416BA}"/>
                  </a:ext>
                </a:extLst>
              </p:cNvPr>
              <p:cNvSpPr/>
              <p:nvPr/>
            </p:nvSpPr>
            <p:spPr>
              <a:xfrm>
                <a:off x="7246572" y="1005426"/>
                <a:ext cx="515144" cy="131544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7" extrusionOk="0">
                    <a:moveTo>
                      <a:pt x="5459" y="0"/>
                    </a:moveTo>
                    <a:cubicBezTo>
                      <a:pt x="5456" y="0"/>
                      <a:pt x="5453" y="1"/>
                      <a:pt x="5450" y="1"/>
                    </a:cubicBezTo>
                    <a:lnTo>
                      <a:pt x="37" y="1325"/>
                    </a:lnTo>
                    <a:cubicBezTo>
                      <a:pt x="13" y="1331"/>
                      <a:pt x="1" y="1355"/>
                      <a:pt x="7" y="1373"/>
                    </a:cubicBezTo>
                    <a:cubicBezTo>
                      <a:pt x="16" y="1391"/>
                      <a:pt x="29" y="1406"/>
                      <a:pt x="46" y="1406"/>
                    </a:cubicBezTo>
                    <a:cubicBezTo>
                      <a:pt x="50" y="1406"/>
                      <a:pt x="55" y="1405"/>
                      <a:pt x="60" y="1402"/>
                    </a:cubicBezTo>
                    <a:lnTo>
                      <a:pt x="5474" y="85"/>
                    </a:lnTo>
                    <a:cubicBezTo>
                      <a:pt x="5492" y="79"/>
                      <a:pt x="5510" y="55"/>
                      <a:pt x="5504" y="31"/>
                    </a:cubicBezTo>
                    <a:cubicBezTo>
                      <a:pt x="5493" y="16"/>
                      <a:pt x="5479" y="0"/>
                      <a:pt x="5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4">
                <a:extLst>
                  <a:ext uri="{FF2B5EF4-FFF2-40B4-BE49-F238E27FC236}">
                    <a16:creationId xmlns:a16="http://schemas.microsoft.com/office/drawing/2014/main" id="{D7C2DBBA-07FA-8BDB-C69A-F0726E046C3F}"/>
                  </a:ext>
                </a:extLst>
              </p:cNvPr>
              <p:cNvSpPr/>
              <p:nvPr/>
            </p:nvSpPr>
            <p:spPr>
              <a:xfrm>
                <a:off x="7237691" y="968589"/>
                <a:ext cx="515144" cy="131357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5" extrusionOk="0">
                    <a:moveTo>
                      <a:pt x="5459" y="0"/>
                    </a:moveTo>
                    <a:cubicBezTo>
                      <a:pt x="5456" y="0"/>
                      <a:pt x="5453" y="1"/>
                      <a:pt x="5450" y="2"/>
                    </a:cubicBezTo>
                    <a:lnTo>
                      <a:pt x="36" y="1319"/>
                    </a:lnTo>
                    <a:cubicBezTo>
                      <a:pt x="12" y="1331"/>
                      <a:pt x="0" y="1349"/>
                      <a:pt x="6" y="1373"/>
                    </a:cubicBezTo>
                    <a:cubicBezTo>
                      <a:pt x="11" y="1393"/>
                      <a:pt x="29" y="1404"/>
                      <a:pt x="48" y="1404"/>
                    </a:cubicBezTo>
                    <a:cubicBezTo>
                      <a:pt x="52" y="1404"/>
                      <a:pt x="56" y="1404"/>
                      <a:pt x="60" y="1403"/>
                    </a:cubicBezTo>
                    <a:lnTo>
                      <a:pt x="5468" y="85"/>
                    </a:lnTo>
                    <a:cubicBezTo>
                      <a:pt x="5491" y="79"/>
                      <a:pt x="5509" y="55"/>
                      <a:pt x="5497" y="32"/>
                    </a:cubicBezTo>
                    <a:cubicBezTo>
                      <a:pt x="5492" y="12"/>
                      <a:pt x="5475" y="0"/>
                      <a:pt x="5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4">
                <a:extLst>
                  <a:ext uri="{FF2B5EF4-FFF2-40B4-BE49-F238E27FC236}">
                    <a16:creationId xmlns:a16="http://schemas.microsoft.com/office/drawing/2014/main" id="{BE0EE145-3EB6-6655-A7CC-970BCDB3D5C3}"/>
                  </a:ext>
                </a:extLst>
              </p:cNvPr>
              <p:cNvSpPr/>
              <p:nvPr/>
            </p:nvSpPr>
            <p:spPr>
              <a:xfrm>
                <a:off x="7255548" y="1042449"/>
                <a:ext cx="515144" cy="131544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7" extrusionOk="0">
                    <a:moveTo>
                      <a:pt x="5465" y="1"/>
                    </a:moveTo>
                    <a:cubicBezTo>
                      <a:pt x="5460" y="1"/>
                      <a:pt x="5455" y="2"/>
                      <a:pt x="5449" y="5"/>
                    </a:cubicBezTo>
                    <a:lnTo>
                      <a:pt x="42" y="1322"/>
                    </a:lnTo>
                    <a:cubicBezTo>
                      <a:pt x="18" y="1328"/>
                      <a:pt x="0" y="1352"/>
                      <a:pt x="12" y="1376"/>
                    </a:cubicBezTo>
                    <a:cubicBezTo>
                      <a:pt x="17" y="1392"/>
                      <a:pt x="36" y="1407"/>
                      <a:pt x="52" y="1407"/>
                    </a:cubicBezTo>
                    <a:cubicBezTo>
                      <a:pt x="55" y="1407"/>
                      <a:pt x="57" y="1407"/>
                      <a:pt x="60" y="1406"/>
                    </a:cubicBezTo>
                    <a:lnTo>
                      <a:pt x="5473" y="82"/>
                    </a:lnTo>
                    <a:cubicBezTo>
                      <a:pt x="5497" y="82"/>
                      <a:pt x="5509" y="52"/>
                      <a:pt x="5503" y="35"/>
                    </a:cubicBezTo>
                    <a:cubicBezTo>
                      <a:pt x="5498" y="16"/>
                      <a:pt x="5483" y="1"/>
                      <a:pt x="5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4">
                <a:extLst>
                  <a:ext uri="{FF2B5EF4-FFF2-40B4-BE49-F238E27FC236}">
                    <a16:creationId xmlns:a16="http://schemas.microsoft.com/office/drawing/2014/main" id="{7BC3A27C-8865-189B-314B-79A5EBF23D51}"/>
                  </a:ext>
                </a:extLst>
              </p:cNvPr>
              <p:cNvSpPr/>
              <p:nvPr/>
            </p:nvSpPr>
            <p:spPr>
              <a:xfrm>
                <a:off x="7556501" y="1292543"/>
                <a:ext cx="409217" cy="107142"/>
              </a:xfrm>
              <a:custGeom>
                <a:avLst/>
                <a:gdLst/>
                <a:ahLst/>
                <a:cxnLst/>
                <a:rect l="l" t="t" r="r" b="b"/>
                <a:pathLst>
                  <a:path w="4377" h="1146" extrusionOk="0">
                    <a:moveTo>
                      <a:pt x="1" y="1"/>
                    </a:moveTo>
                    <a:lnTo>
                      <a:pt x="4377" y="1145"/>
                    </a:lnTo>
                    <a:lnTo>
                      <a:pt x="4335" y="9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4">
                <a:extLst>
                  <a:ext uri="{FF2B5EF4-FFF2-40B4-BE49-F238E27FC236}">
                    <a16:creationId xmlns:a16="http://schemas.microsoft.com/office/drawing/2014/main" id="{C22F4D42-6EBA-9C44-7FBE-9BC9A1C4F119}"/>
                  </a:ext>
                </a:extLst>
              </p:cNvPr>
              <p:cNvSpPr/>
              <p:nvPr/>
            </p:nvSpPr>
            <p:spPr>
              <a:xfrm>
                <a:off x="7238813" y="1292543"/>
                <a:ext cx="317781" cy="283282"/>
              </a:xfrm>
              <a:custGeom>
                <a:avLst/>
                <a:gdLst/>
                <a:ahLst/>
                <a:cxnLst/>
                <a:rect l="l" t="t" r="r" b="b"/>
                <a:pathLst>
                  <a:path w="3399" h="3030" extrusionOk="0">
                    <a:moveTo>
                      <a:pt x="3399" y="1"/>
                    </a:moveTo>
                    <a:lnTo>
                      <a:pt x="0" y="2845"/>
                    </a:lnTo>
                    <a:lnTo>
                      <a:pt x="48" y="3029"/>
                    </a:lnTo>
                    <a:lnTo>
                      <a:pt x="33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1558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2DDA022E-A546-050B-3FC3-9DE8AFF8C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F87433AE-D914-0A49-CF8E-9D868FFAA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u="sng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Judiciary Information Management System (JIMS)</a:t>
            </a:r>
            <a:br>
              <a:rPr lang="en-US" sz="2400" u="sng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lang="en-US" sz="2400" b="1" u="sng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2400" u="sng" dirty="0"/>
          </a:p>
        </p:txBody>
      </p:sp>
      <p:sp>
        <p:nvSpPr>
          <p:cNvPr id="356" name="Google Shape;356;p34">
            <a:extLst>
              <a:ext uri="{FF2B5EF4-FFF2-40B4-BE49-F238E27FC236}">
                <a16:creationId xmlns:a16="http://schemas.microsoft.com/office/drawing/2014/main" id="{57862AF9-0582-C881-C21A-CB77DD070109}"/>
              </a:ext>
            </a:extLst>
          </p:cNvPr>
          <p:cNvSpPr txBox="1"/>
          <p:nvPr/>
        </p:nvSpPr>
        <p:spPr>
          <a:xfrm>
            <a:off x="720000" y="1145811"/>
            <a:ext cx="6835941" cy="3342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JIMS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– Judiciary Information Management System, the case management system for the Judiciary.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Applications Under JIMS:-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JIMS Portal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Main access point for Judiciary services.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JEFS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– Judiciary Electronic Filing and Service System.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eCourt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Kokua (</a:t>
            </a:r>
            <a:r>
              <a:rPr lang="en-US" b="1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eCK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)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Case search and access system.</a:t>
            </a:r>
          </a:p>
          <a:p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-&gt; 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Internal </a:t>
            </a:r>
            <a:r>
              <a:rPr lang="en-US" b="1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eCourt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Kokua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For Judiciary staff.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-&gt; 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External </a:t>
            </a:r>
            <a:r>
              <a:rPr lang="en-US" b="1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eCourt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Kokua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For public access.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-&gt;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Kiosk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– Public self-service access to case information.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In-Court Processing (ICP)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Real-time court case management.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JIMS Oracle Forms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Database management tool for Judiciary operations.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eReminder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Notification system for court dates.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-&gt; 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Internal </a:t>
            </a:r>
            <a:r>
              <a:rPr lang="en-US" b="1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eReminder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– For Judiciary staff.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	-&gt; 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External </a:t>
            </a:r>
            <a:r>
              <a:rPr lang="en-US" b="1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eReminder</a:t>
            </a:r>
            <a:r>
              <a:rPr lang="en-US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(Self-Registration Portal) – For public users.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9" name="Google Shape;359;p34">
            <a:extLst>
              <a:ext uri="{FF2B5EF4-FFF2-40B4-BE49-F238E27FC236}">
                <a16:creationId xmlns:a16="http://schemas.microsoft.com/office/drawing/2014/main" id="{B25FDB06-4C59-67C6-3A5D-7C153AD8A35A}"/>
              </a:ext>
            </a:extLst>
          </p:cNvPr>
          <p:cNvGrpSpPr/>
          <p:nvPr/>
        </p:nvGrpSpPr>
        <p:grpSpPr>
          <a:xfrm>
            <a:off x="7558188" y="30432"/>
            <a:ext cx="1280540" cy="1453345"/>
            <a:chOff x="7143450" y="122481"/>
            <a:chExt cx="1280540" cy="1453345"/>
          </a:xfrm>
        </p:grpSpPr>
        <p:grpSp>
          <p:nvGrpSpPr>
            <p:cNvPr id="360" name="Google Shape;360;p34">
              <a:extLst>
                <a:ext uri="{FF2B5EF4-FFF2-40B4-BE49-F238E27FC236}">
                  <a16:creationId xmlns:a16="http://schemas.microsoft.com/office/drawing/2014/main" id="{D89DDB40-2A65-A368-DEC2-BE77FC6DBB38}"/>
                </a:ext>
              </a:extLst>
            </p:cNvPr>
            <p:cNvGrpSpPr/>
            <p:nvPr/>
          </p:nvGrpSpPr>
          <p:grpSpPr>
            <a:xfrm>
              <a:off x="7662926" y="122481"/>
              <a:ext cx="761064" cy="825066"/>
              <a:chOff x="7511392" y="307000"/>
              <a:chExt cx="863570" cy="936192"/>
            </a:xfrm>
          </p:grpSpPr>
          <p:sp>
            <p:nvSpPr>
              <p:cNvPr id="361" name="Google Shape;361;p34">
                <a:extLst>
                  <a:ext uri="{FF2B5EF4-FFF2-40B4-BE49-F238E27FC236}">
                    <a16:creationId xmlns:a16="http://schemas.microsoft.com/office/drawing/2014/main" id="{AB97E1BD-34E5-291A-B09D-B70EFDFFDE99}"/>
                  </a:ext>
                </a:extLst>
              </p:cNvPr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4">
                <a:extLst>
                  <a:ext uri="{FF2B5EF4-FFF2-40B4-BE49-F238E27FC236}">
                    <a16:creationId xmlns:a16="http://schemas.microsoft.com/office/drawing/2014/main" id="{93AE529E-F101-DED0-9576-7765661D48D8}"/>
                  </a:ext>
                </a:extLst>
              </p:cNvPr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3" name="Google Shape;363;p34">
              <a:extLst>
                <a:ext uri="{FF2B5EF4-FFF2-40B4-BE49-F238E27FC236}">
                  <a16:creationId xmlns:a16="http://schemas.microsoft.com/office/drawing/2014/main" id="{296C0C9F-D543-5987-073B-47AB1E96C5B9}"/>
                </a:ext>
              </a:extLst>
            </p:cNvPr>
            <p:cNvGrpSpPr/>
            <p:nvPr/>
          </p:nvGrpSpPr>
          <p:grpSpPr>
            <a:xfrm>
              <a:off x="7143450" y="750750"/>
              <a:ext cx="822267" cy="825076"/>
              <a:chOff x="7143450" y="750750"/>
              <a:chExt cx="822267" cy="825076"/>
            </a:xfrm>
          </p:grpSpPr>
          <p:sp>
            <p:nvSpPr>
              <p:cNvPr id="364" name="Google Shape;364;p34">
                <a:extLst>
                  <a:ext uri="{FF2B5EF4-FFF2-40B4-BE49-F238E27FC236}">
                    <a16:creationId xmlns:a16="http://schemas.microsoft.com/office/drawing/2014/main" id="{0BA55615-1DB3-4C2B-FD0E-89185DFC7A60}"/>
                  </a:ext>
                </a:extLst>
              </p:cNvPr>
              <p:cNvSpPr/>
              <p:nvPr/>
            </p:nvSpPr>
            <p:spPr>
              <a:xfrm>
                <a:off x="7143450" y="1168291"/>
                <a:ext cx="414826" cy="407534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359" extrusionOk="0">
                    <a:moveTo>
                      <a:pt x="1" y="0"/>
                    </a:moveTo>
                    <a:lnTo>
                      <a:pt x="1068" y="4358"/>
                    </a:lnTo>
                    <a:lnTo>
                      <a:pt x="4437" y="13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4">
                <a:extLst>
                  <a:ext uri="{FF2B5EF4-FFF2-40B4-BE49-F238E27FC236}">
                    <a16:creationId xmlns:a16="http://schemas.microsoft.com/office/drawing/2014/main" id="{7D8EFD5F-B754-8F5E-259A-828E2947B725}"/>
                  </a:ext>
                </a:extLst>
              </p:cNvPr>
              <p:cNvSpPr/>
              <p:nvPr/>
            </p:nvSpPr>
            <p:spPr>
              <a:xfrm>
                <a:off x="7555940" y="991028"/>
                <a:ext cx="409778" cy="408656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4371" extrusionOk="0">
                    <a:moveTo>
                      <a:pt x="3316" y="0"/>
                    </a:moveTo>
                    <a:lnTo>
                      <a:pt x="1" y="3238"/>
                    </a:lnTo>
                    <a:lnTo>
                      <a:pt x="4383" y="4370"/>
                    </a:lnTo>
                    <a:lnTo>
                      <a:pt x="33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4">
                <a:extLst>
                  <a:ext uri="{FF2B5EF4-FFF2-40B4-BE49-F238E27FC236}">
                    <a16:creationId xmlns:a16="http://schemas.microsoft.com/office/drawing/2014/main" id="{B0DEA0A7-E6E2-7661-0668-EE3EC61D67E3}"/>
                  </a:ext>
                </a:extLst>
              </p:cNvPr>
              <p:cNvSpPr/>
              <p:nvPr/>
            </p:nvSpPr>
            <p:spPr>
              <a:xfrm>
                <a:off x="7243300" y="1293665"/>
                <a:ext cx="722417" cy="282160"/>
              </a:xfrm>
              <a:custGeom>
                <a:avLst/>
                <a:gdLst/>
                <a:ahLst/>
                <a:cxnLst/>
                <a:rect l="l" t="t" r="r" b="b"/>
                <a:pathLst>
                  <a:path w="7727" h="3018" extrusionOk="0">
                    <a:moveTo>
                      <a:pt x="3345" y="1"/>
                    </a:moveTo>
                    <a:lnTo>
                      <a:pt x="0" y="3017"/>
                    </a:lnTo>
                    <a:lnTo>
                      <a:pt x="7727" y="1133"/>
                    </a:lnTo>
                    <a:lnTo>
                      <a:pt x="334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4">
                <a:extLst>
                  <a:ext uri="{FF2B5EF4-FFF2-40B4-BE49-F238E27FC236}">
                    <a16:creationId xmlns:a16="http://schemas.microsoft.com/office/drawing/2014/main" id="{396C2A40-A2B9-BB8C-8B96-A6CC3D4EDE4F}"/>
                  </a:ext>
                </a:extLst>
              </p:cNvPr>
              <p:cNvSpPr/>
              <p:nvPr/>
            </p:nvSpPr>
            <p:spPr>
              <a:xfrm>
                <a:off x="7143450" y="765802"/>
                <a:ext cx="722510" cy="527952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5647" extrusionOk="0">
                    <a:moveTo>
                      <a:pt x="3035" y="1"/>
                    </a:moveTo>
                    <a:lnTo>
                      <a:pt x="1" y="4305"/>
                    </a:lnTo>
                    <a:lnTo>
                      <a:pt x="4413" y="5647"/>
                    </a:lnTo>
                    <a:lnTo>
                      <a:pt x="7728" y="2409"/>
                    </a:lnTo>
                    <a:lnTo>
                      <a:pt x="303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4">
                <a:extLst>
                  <a:ext uri="{FF2B5EF4-FFF2-40B4-BE49-F238E27FC236}">
                    <a16:creationId xmlns:a16="http://schemas.microsoft.com/office/drawing/2014/main" id="{6879DC1A-7691-BAC8-195D-E8A961B88AEF}"/>
                  </a:ext>
                </a:extLst>
              </p:cNvPr>
              <p:cNvSpPr/>
              <p:nvPr/>
            </p:nvSpPr>
            <p:spPr>
              <a:xfrm>
                <a:off x="7162429" y="750750"/>
                <a:ext cx="635562" cy="541883"/>
              </a:xfrm>
              <a:custGeom>
                <a:avLst/>
                <a:gdLst/>
                <a:ahLst/>
                <a:cxnLst/>
                <a:rect l="l" t="t" r="r" b="b"/>
                <a:pathLst>
                  <a:path w="6798" h="5796" extrusionOk="0">
                    <a:moveTo>
                      <a:pt x="5998" y="1"/>
                    </a:moveTo>
                    <a:lnTo>
                      <a:pt x="1" y="1467"/>
                    </a:lnTo>
                    <a:lnTo>
                      <a:pt x="805" y="4770"/>
                    </a:lnTo>
                    <a:lnTo>
                      <a:pt x="4216" y="5796"/>
                    </a:lnTo>
                    <a:lnTo>
                      <a:pt x="6797" y="3280"/>
                    </a:lnTo>
                    <a:lnTo>
                      <a:pt x="599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4">
                <a:extLst>
                  <a:ext uri="{FF2B5EF4-FFF2-40B4-BE49-F238E27FC236}">
                    <a16:creationId xmlns:a16="http://schemas.microsoft.com/office/drawing/2014/main" id="{717FD892-B258-6020-7226-CEBEB929E1EB}"/>
                  </a:ext>
                </a:extLst>
              </p:cNvPr>
              <p:cNvSpPr/>
              <p:nvPr/>
            </p:nvSpPr>
            <p:spPr>
              <a:xfrm>
                <a:off x="7210391" y="857052"/>
                <a:ext cx="515144" cy="131450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6" extrusionOk="0">
                    <a:moveTo>
                      <a:pt x="5461" y="1"/>
                    </a:moveTo>
                    <a:cubicBezTo>
                      <a:pt x="5458" y="1"/>
                      <a:pt x="5454" y="1"/>
                      <a:pt x="5449" y="2"/>
                    </a:cubicBezTo>
                    <a:lnTo>
                      <a:pt x="36" y="1320"/>
                    </a:lnTo>
                    <a:cubicBezTo>
                      <a:pt x="12" y="1332"/>
                      <a:pt x="0" y="1350"/>
                      <a:pt x="6" y="1374"/>
                    </a:cubicBezTo>
                    <a:cubicBezTo>
                      <a:pt x="16" y="1393"/>
                      <a:pt x="30" y="1405"/>
                      <a:pt x="48" y="1405"/>
                    </a:cubicBezTo>
                    <a:cubicBezTo>
                      <a:pt x="52" y="1405"/>
                      <a:pt x="56" y="1405"/>
                      <a:pt x="60" y="1404"/>
                    </a:cubicBezTo>
                    <a:lnTo>
                      <a:pt x="5473" y="86"/>
                    </a:lnTo>
                    <a:cubicBezTo>
                      <a:pt x="5491" y="80"/>
                      <a:pt x="5509" y="56"/>
                      <a:pt x="5503" y="32"/>
                    </a:cubicBezTo>
                    <a:cubicBezTo>
                      <a:pt x="5493" y="13"/>
                      <a:pt x="5479" y="1"/>
                      <a:pt x="54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4">
                <a:extLst>
                  <a:ext uri="{FF2B5EF4-FFF2-40B4-BE49-F238E27FC236}">
                    <a16:creationId xmlns:a16="http://schemas.microsoft.com/office/drawing/2014/main" id="{3B99098B-DF30-932E-1235-930B3C8AF211}"/>
                  </a:ext>
                </a:extLst>
              </p:cNvPr>
              <p:cNvSpPr/>
              <p:nvPr/>
            </p:nvSpPr>
            <p:spPr>
              <a:xfrm>
                <a:off x="7201415" y="820309"/>
                <a:ext cx="515144" cy="131357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5" extrusionOk="0">
                    <a:moveTo>
                      <a:pt x="5460" y="0"/>
                    </a:moveTo>
                    <a:cubicBezTo>
                      <a:pt x="5456" y="0"/>
                      <a:pt x="5453" y="1"/>
                      <a:pt x="5450" y="2"/>
                    </a:cubicBezTo>
                    <a:lnTo>
                      <a:pt x="37" y="1320"/>
                    </a:lnTo>
                    <a:cubicBezTo>
                      <a:pt x="13" y="1326"/>
                      <a:pt x="1" y="1349"/>
                      <a:pt x="7" y="1373"/>
                    </a:cubicBezTo>
                    <a:cubicBezTo>
                      <a:pt x="12" y="1393"/>
                      <a:pt x="29" y="1405"/>
                      <a:pt x="48" y="1405"/>
                    </a:cubicBezTo>
                    <a:cubicBezTo>
                      <a:pt x="52" y="1405"/>
                      <a:pt x="56" y="1404"/>
                      <a:pt x="61" y="1403"/>
                    </a:cubicBezTo>
                    <a:lnTo>
                      <a:pt x="5468" y="85"/>
                    </a:lnTo>
                    <a:cubicBezTo>
                      <a:pt x="5492" y="74"/>
                      <a:pt x="5510" y="56"/>
                      <a:pt x="5498" y="32"/>
                    </a:cubicBezTo>
                    <a:cubicBezTo>
                      <a:pt x="5493" y="12"/>
                      <a:pt x="5476" y="0"/>
                      <a:pt x="54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4">
                <a:extLst>
                  <a:ext uri="{FF2B5EF4-FFF2-40B4-BE49-F238E27FC236}">
                    <a16:creationId xmlns:a16="http://schemas.microsoft.com/office/drawing/2014/main" id="{2FDD634D-EB5A-3E6B-5145-438832F3A708}"/>
                  </a:ext>
                </a:extLst>
              </p:cNvPr>
              <p:cNvSpPr/>
              <p:nvPr/>
            </p:nvSpPr>
            <p:spPr>
              <a:xfrm>
                <a:off x="7228809" y="931753"/>
                <a:ext cx="514489" cy="131357"/>
              </a:xfrm>
              <a:custGeom>
                <a:avLst/>
                <a:gdLst/>
                <a:ahLst/>
                <a:cxnLst/>
                <a:rect l="l" t="t" r="r" b="b"/>
                <a:pathLst>
                  <a:path w="5503" h="1405" extrusionOk="0">
                    <a:moveTo>
                      <a:pt x="5455" y="1"/>
                    </a:moveTo>
                    <a:cubicBezTo>
                      <a:pt x="5451" y="1"/>
                      <a:pt x="5447" y="1"/>
                      <a:pt x="5443" y="2"/>
                    </a:cubicBezTo>
                    <a:lnTo>
                      <a:pt x="36" y="1320"/>
                    </a:lnTo>
                    <a:cubicBezTo>
                      <a:pt x="12" y="1326"/>
                      <a:pt x="0" y="1350"/>
                      <a:pt x="6" y="1374"/>
                    </a:cubicBezTo>
                    <a:cubicBezTo>
                      <a:pt x="11" y="1393"/>
                      <a:pt x="28" y="1405"/>
                      <a:pt x="47" y="1405"/>
                    </a:cubicBezTo>
                    <a:cubicBezTo>
                      <a:pt x="51" y="1405"/>
                      <a:pt x="56" y="1404"/>
                      <a:pt x="60" y="1403"/>
                    </a:cubicBezTo>
                    <a:lnTo>
                      <a:pt x="5467" y="86"/>
                    </a:lnTo>
                    <a:cubicBezTo>
                      <a:pt x="5491" y="74"/>
                      <a:pt x="5503" y="56"/>
                      <a:pt x="5497" y="32"/>
                    </a:cubicBezTo>
                    <a:cubicBezTo>
                      <a:pt x="5492" y="12"/>
                      <a:pt x="5475" y="1"/>
                      <a:pt x="54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4">
                <a:extLst>
                  <a:ext uri="{FF2B5EF4-FFF2-40B4-BE49-F238E27FC236}">
                    <a16:creationId xmlns:a16="http://schemas.microsoft.com/office/drawing/2014/main" id="{423C07AD-CDEE-C8DC-7DF7-5D18D83BC453}"/>
                  </a:ext>
                </a:extLst>
              </p:cNvPr>
              <p:cNvSpPr/>
              <p:nvPr/>
            </p:nvSpPr>
            <p:spPr>
              <a:xfrm>
                <a:off x="7219273" y="893888"/>
                <a:ext cx="515144" cy="131544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7" extrusionOk="0">
                    <a:moveTo>
                      <a:pt x="5459" y="1"/>
                    </a:moveTo>
                    <a:cubicBezTo>
                      <a:pt x="5456" y="1"/>
                      <a:pt x="5453" y="1"/>
                      <a:pt x="5450" y="2"/>
                    </a:cubicBezTo>
                    <a:lnTo>
                      <a:pt x="42" y="1325"/>
                    </a:lnTo>
                    <a:cubicBezTo>
                      <a:pt x="19" y="1331"/>
                      <a:pt x="1" y="1355"/>
                      <a:pt x="13" y="1373"/>
                    </a:cubicBezTo>
                    <a:cubicBezTo>
                      <a:pt x="17" y="1392"/>
                      <a:pt x="33" y="1407"/>
                      <a:pt x="48" y="1407"/>
                    </a:cubicBezTo>
                    <a:cubicBezTo>
                      <a:pt x="52" y="1407"/>
                      <a:pt x="56" y="1406"/>
                      <a:pt x="60" y="1403"/>
                    </a:cubicBezTo>
                    <a:lnTo>
                      <a:pt x="5474" y="85"/>
                    </a:lnTo>
                    <a:cubicBezTo>
                      <a:pt x="5498" y="85"/>
                      <a:pt x="5510" y="62"/>
                      <a:pt x="5504" y="32"/>
                    </a:cubicBezTo>
                    <a:cubicBezTo>
                      <a:pt x="5498" y="16"/>
                      <a:pt x="5480" y="1"/>
                      <a:pt x="54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4">
                <a:extLst>
                  <a:ext uri="{FF2B5EF4-FFF2-40B4-BE49-F238E27FC236}">
                    <a16:creationId xmlns:a16="http://schemas.microsoft.com/office/drawing/2014/main" id="{5BFF0957-F3D3-B475-D965-64C49E35A43E}"/>
                  </a:ext>
                </a:extLst>
              </p:cNvPr>
              <p:cNvSpPr/>
              <p:nvPr/>
            </p:nvSpPr>
            <p:spPr>
              <a:xfrm>
                <a:off x="7246572" y="1005426"/>
                <a:ext cx="515144" cy="131544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7" extrusionOk="0">
                    <a:moveTo>
                      <a:pt x="5459" y="0"/>
                    </a:moveTo>
                    <a:cubicBezTo>
                      <a:pt x="5456" y="0"/>
                      <a:pt x="5453" y="1"/>
                      <a:pt x="5450" y="1"/>
                    </a:cubicBezTo>
                    <a:lnTo>
                      <a:pt x="37" y="1325"/>
                    </a:lnTo>
                    <a:cubicBezTo>
                      <a:pt x="13" y="1331"/>
                      <a:pt x="1" y="1355"/>
                      <a:pt x="7" y="1373"/>
                    </a:cubicBezTo>
                    <a:cubicBezTo>
                      <a:pt x="16" y="1391"/>
                      <a:pt x="29" y="1406"/>
                      <a:pt x="46" y="1406"/>
                    </a:cubicBezTo>
                    <a:cubicBezTo>
                      <a:pt x="50" y="1406"/>
                      <a:pt x="55" y="1405"/>
                      <a:pt x="60" y="1402"/>
                    </a:cubicBezTo>
                    <a:lnTo>
                      <a:pt x="5474" y="85"/>
                    </a:lnTo>
                    <a:cubicBezTo>
                      <a:pt x="5492" y="79"/>
                      <a:pt x="5510" y="55"/>
                      <a:pt x="5504" y="31"/>
                    </a:cubicBezTo>
                    <a:cubicBezTo>
                      <a:pt x="5493" y="16"/>
                      <a:pt x="5479" y="0"/>
                      <a:pt x="5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4">
                <a:extLst>
                  <a:ext uri="{FF2B5EF4-FFF2-40B4-BE49-F238E27FC236}">
                    <a16:creationId xmlns:a16="http://schemas.microsoft.com/office/drawing/2014/main" id="{E46E5298-A20A-1DE6-CA8C-44F321162948}"/>
                  </a:ext>
                </a:extLst>
              </p:cNvPr>
              <p:cNvSpPr/>
              <p:nvPr/>
            </p:nvSpPr>
            <p:spPr>
              <a:xfrm>
                <a:off x="7237691" y="968589"/>
                <a:ext cx="515144" cy="131357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5" extrusionOk="0">
                    <a:moveTo>
                      <a:pt x="5459" y="0"/>
                    </a:moveTo>
                    <a:cubicBezTo>
                      <a:pt x="5456" y="0"/>
                      <a:pt x="5453" y="1"/>
                      <a:pt x="5450" y="2"/>
                    </a:cubicBezTo>
                    <a:lnTo>
                      <a:pt x="36" y="1319"/>
                    </a:lnTo>
                    <a:cubicBezTo>
                      <a:pt x="12" y="1331"/>
                      <a:pt x="0" y="1349"/>
                      <a:pt x="6" y="1373"/>
                    </a:cubicBezTo>
                    <a:cubicBezTo>
                      <a:pt x="11" y="1393"/>
                      <a:pt x="29" y="1404"/>
                      <a:pt x="48" y="1404"/>
                    </a:cubicBezTo>
                    <a:cubicBezTo>
                      <a:pt x="52" y="1404"/>
                      <a:pt x="56" y="1404"/>
                      <a:pt x="60" y="1403"/>
                    </a:cubicBezTo>
                    <a:lnTo>
                      <a:pt x="5468" y="85"/>
                    </a:lnTo>
                    <a:cubicBezTo>
                      <a:pt x="5491" y="79"/>
                      <a:pt x="5509" y="55"/>
                      <a:pt x="5497" y="32"/>
                    </a:cubicBezTo>
                    <a:cubicBezTo>
                      <a:pt x="5492" y="12"/>
                      <a:pt x="5475" y="0"/>
                      <a:pt x="5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4">
                <a:extLst>
                  <a:ext uri="{FF2B5EF4-FFF2-40B4-BE49-F238E27FC236}">
                    <a16:creationId xmlns:a16="http://schemas.microsoft.com/office/drawing/2014/main" id="{56F7AE4B-D3F1-AAAC-0CCC-6C249A19D3BC}"/>
                  </a:ext>
                </a:extLst>
              </p:cNvPr>
              <p:cNvSpPr/>
              <p:nvPr/>
            </p:nvSpPr>
            <p:spPr>
              <a:xfrm>
                <a:off x="7255548" y="1042449"/>
                <a:ext cx="515144" cy="131544"/>
              </a:xfrm>
              <a:custGeom>
                <a:avLst/>
                <a:gdLst/>
                <a:ahLst/>
                <a:cxnLst/>
                <a:rect l="l" t="t" r="r" b="b"/>
                <a:pathLst>
                  <a:path w="5510" h="1407" extrusionOk="0">
                    <a:moveTo>
                      <a:pt x="5465" y="1"/>
                    </a:moveTo>
                    <a:cubicBezTo>
                      <a:pt x="5460" y="1"/>
                      <a:pt x="5455" y="2"/>
                      <a:pt x="5449" y="5"/>
                    </a:cubicBezTo>
                    <a:lnTo>
                      <a:pt x="42" y="1322"/>
                    </a:lnTo>
                    <a:cubicBezTo>
                      <a:pt x="18" y="1328"/>
                      <a:pt x="0" y="1352"/>
                      <a:pt x="12" y="1376"/>
                    </a:cubicBezTo>
                    <a:cubicBezTo>
                      <a:pt x="17" y="1392"/>
                      <a:pt x="36" y="1407"/>
                      <a:pt x="52" y="1407"/>
                    </a:cubicBezTo>
                    <a:cubicBezTo>
                      <a:pt x="55" y="1407"/>
                      <a:pt x="57" y="1407"/>
                      <a:pt x="60" y="1406"/>
                    </a:cubicBezTo>
                    <a:lnTo>
                      <a:pt x="5473" y="82"/>
                    </a:lnTo>
                    <a:cubicBezTo>
                      <a:pt x="5497" y="82"/>
                      <a:pt x="5509" y="52"/>
                      <a:pt x="5503" y="35"/>
                    </a:cubicBezTo>
                    <a:cubicBezTo>
                      <a:pt x="5498" y="16"/>
                      <a:pt x="5483" y="1"/>
                      <a:pt x="5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4">
                <a:extLst>
                  <a:ext uri="{FF2B5EF4-FFF2-40B4-BE49-F238E27FC236}">
                    <a16:creationId xmlns:a16="http://schemas.microsoft.com/office/drawing/2014/main" id="{B3EF3A9F-8D20-19A3-80B0-EEB369FC188F}"/>
                  </a:ext>
                </a:extLst>
              </p:cNvPr>
              <p:cNvSpPr/>
              <p:nvPr/>
            </p:nvSpPr>
            <p:spPr>
              <a:xfrm>
                <a:off x="7556501" y="1292543"/>
                <a:ext cx="409217" cy="107142"/>
              </a:xfrm>
              <a:custGeom>
                <a:avLst/>
                <a:gdLst/>
                <a:ahLst/>
                <a:cxnLst/>
                <a:rect l="l" t="t" r="r" b="b"/>
                <a:pathLst>
                  <a:path w="4377" h="1146" extrusionOk="0">
                    <a:moveTo>
                      <a:pt x="1" y="1"/>
                    </a:moveTo>
                    <a:lnTo>
                      <a:pt x="4377" y="1145"/>
                    </a:lnTo>
                    <a:lnTo>
                      <a:pt x="4335" y="9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4">
                <a:extLst>
                  <a:ext uri="{FF2B5EF4-FFF2-40B4-BE49-F238E27FC236}">
                    <a16:creationId xmlns:a16="http://schemas.microsoft.com/office/drawing/2014/main" id="{209A3F13-0C53-6A51-3024-5F9B115FC0BF}"/>
                  </a:ext>
                </a:extLst>
              </p:cNvPr>
              <p:cNvSpPr/>
              <p:nvPr/>
            </p:nvSpPr>
            <p:spPr>
              <a:xfrm>
                <a:off x="7238813" y="1292543"/>
                <a:ext cx="317781" cy="283282"/>
              </a:xfrm>
              <a:custGeom>
                <a:avLst/>
                <a:gdLst/>
                <a:ahLst/>
                <a:cxnLst/>
                <a:rect l="l" t="t" r="r" b="b"/>
                <a:pathLst>
                  <a:path w="3399" h="3030" extrusionOk="0">
                    <a:moveTo>
                      <a:pt x="3399" y="1"/>
                    </a:moveTo>
                    <a:lnTo>
                      <a:pt x="0" y="2845"/>
                    </a:lnTo>
                    <a:lnTo>
                      <a:pt x="48" y="3029"/>
                    </a:lnTo>
                    <a:lnTo>
                      <a:pt x="33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013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/>
          <p:cNvSpPr txBox="1">
            <a:spLocks noGrp="1"/>
          </p:cNvSpPr>
          <p:nvPr>
            <p:ph type="title" idx="15"/>
          </p:nvPr>
        </p:nvSpPr>
        <p:spPr>
          <a:xfrm>
            <a:off x="561657" y="185875"/>
            <a:ext cx="80206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u="sng" dirty="0"/>
              <a:t>JIMS Portal – Official Case Management System</a:t>
            </a:r>
            <a:br>
              <a:rPr lang="en-US" sz="2400" u="sng" dirty="0"/>
            </a:br>
            <a:endParaRPr sz="2400" u="sng" dirty="0"/>
          </a:p>
        </p:txBody>
      </p:sp>
      <p:grpSp>
        <p:nvGrpSpPr>
          <p:cNvPr id="399" name="Google Shape;399;p35"/>
          <p:cNvGrpSpPr/>
          <p:nvPr/>
        </p:nvGrpSpPr>
        <p:grpSpPr>
          <a:xfrm>
            <a:off x="195875" y="1246316"/>
            <a:ext cx="2849877" cy="3467883"/>
            <a:chOff x="195875" y="1246316"/>
            <a:chExt cx="2849877" cy="3467883"/>
          </a:xfrm>
        </p:grpSpPr>
        <p:grpSp>
          <p:nvGrpSpPr>
            <p:cNvPr id="400" name="Google Shape;400;p35"/>
            <p:cNvGrpSpPr/>
            <p:nvPr/>
          </p:nvGrpSpPr>
          <p:grpSpPr>
            <a:xfrm flipH="1">
              <a:off x="195875" y="3219050"/>
              <a:ext cx="2849877" cy="1495149"/>
              <a:chOff x="195875" y="3219050"/>
              <a:chExt cx="2849877" cy="1495149"/>
            </a:xfrm>
          </p:grpSpPr>
          <p:sp>
            <p:nvSpPr>
              <p:cNvPr id="401" name="Google Shape;401;p35"/>
              <p:cNvSpPr/>
              <p:nvPr/>
            </p:nvSpPr>
            <p:spPr>
              <a:xfrm>
                <a:off x="195875" y="4594800"/>
                <a:ext cx="1790426" cy="119399"/>
              </a:xfrm>
              <a:custGeom>
                <a:avLst/>
                <a:gdLst/>
                <a:ahLst/>
                <a:cxnLst/>
                <a:rect l="l" t="t" r="r" b="b"/>
                <a:pathLst>
                  <a:path w="20975" h="1504" extrusionOk="0">
                    <a:moveTo>
                      <a:pt x="10487" y="1"/>
                    </a:moveTo>
                    <a:cubicBezTo>
                      <a:pt x="4698" y="1"/>
                      <a:pt x="0" y="335"/>
                      <a:pt x="0" y="752"/>
                    </a:cubicBezTo>
                    <a:cubicBezTo>
                      <a:pt x="0" y="1169"/>
                      <a:pt x="4698" y="1503"/>
                      <a:pt x="10487" y="1503"/>
                    </a:cubicBezTo>
                    <a:cubicBezTo>
                      <a:pt x="16276" y="1503"/>
                      <a:pt x="20974" y="1169"/>
                      <a:pt x="20974" y="752"/>
                    </a:cubicBezTo>
                    <a:cubicBezTo>
                      <a:pt x="20974" y="335"/>
                      <a:pt x="16276" y="1"/>
                      <a:pt x="10487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5"/>
              <p:cNvSpPr/>
              <p:nvPr/>
            </p:nvSpPr>
            <p:spPr>
              <a:xfrm>
                <a:off x="712383" y="3546816"/>
                <a:ext cx="2333369" cy="808590"/>
              </a:xfrm>
              <a:custGeom>
                <a:avLst/>
                <a:gdLst/>
                <a:ahLst/>
                <a:cxnLst/>
                <a:rect l="l" t="t" r="r" b="b"/>
                <a:pathLst>
                  <a:path w="29394" h="10186" extrusionOk="0">
                    <a:moveTo>
                      <a:pt x="783" y="1"/>
                    </a:moveTo>
                    <a:cubicBezTo>
                      <a:pt x="456" y="1"/>
                      <a:pt x="158" y="210"/>
                      <a:pt x="60" y="528"/>
                    </a:cubicBezTo>
                    <a:cubicBezTo>
                      <a:pt x="1" y="718"/>
                      <a:pt x="31" y="921"/>
                      <a:pt x="120" y="1094"/>
                    </a:cubicBezTo>
                    <a:cubicBezTo>
                      <a:pt x="210" y="1261"/>
                      <a:pt x="365" y="1398"/>
                      <a:pt x="567" y="1458"/>
                    </a:cubicBezTo>
                    <a:lnTo>
                      <a:pt x="2630" y="2113"/>
                    </a:lnTo>
                    <a:lnTo>
                      <a:pt x="2940" y="2209"/>
                    </a:lnTo>
                    <a:lnTo>
                      <a:pt x="11007" y="4778"/>
                    </a:lnTo>
                    <a:lnTo>
                      <a:pt x="11317" y="4880"/>
                    </a:lnTo>
                    <a:lnTo>
                      <a:pt x="27754" y="10114"/>
                    </a:lnTo>
                    <a:cubicBezTo>
                      <a:pt x="27887" y="10163"/>
                      <a:pt x="28023" y="10186"/>
                      <a:pt x="28154" y="10186"/>
                    </a:cubicBezTo>
                    <a:cubicBezTo>
                      <a:pt x="28638" y="10186"/>
                      <a:pt x="29074" y="9877"/>
                      <a:pt x="29214" y="9399"/>
                    </a:cubicBezTo>
                    <a:cubicBezTo>
                      <a:pt x="29393" y="8803"/>
                      <a:pt x="29041" y="8165"/>
                      <a:pt x="28433" y="7980"/>
                    </a:cubicBezTo>
                    <a:lnTo>
                      <a:pt x="28415" y="7968"/>
                    </a:lnTo>
                    <a:lnTo>
                      <a:pt x="11835" y="3169"/>
                    </a:lnTo>
                    <a:lnTo>
                      <a:pt x="11531" y="3079"/>
                    </a:lnTo>
                    <a:lnTo>
                      <a:pt x="3393" y="724"/>
                    </a:lnTo>
                    <a:lnTo>
                      <a:pt x="3089" y="635"/>
                    </a:lnTo>
                    <a:lnTo>
                      <a:pt x="1002" y="33"/>
                    </a:lnTo>
                    <a:cubicBezTo>
                      <a:pt x="929" y="11"/>
                      <a:pt x="855" y="1"/>
                      <a:pt x="7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5"/>
              <p:cNvSpPr/>
              <p:nvPr/>
            </p:nvSpPr>
            <p:spPr>
              <a:xfrm>
                <a:off x="916874" y="3270648"/>
                <a:ext cx="741671" cy="970769"/>
              </a:xfrm>
              <a:custGeom>
                <a:avLst/>
                <a:gdLst/>
                <a:ahLst/>
                <a:cxnLst/>
                <a:rect l="l" t="t" r="r" b="b"/>
                <a:pathLst>
                  <a:path w="9343" h="12229" extrusionOk="0">
                    <a:moveTo>
                      <a:pt x="3142" y="0"/>
                    </a:moveTo>
                    <a:lnTo>
                      <a:pt x="0" y="10344"/>
                    </a:lnTo>
                    <a:lnTo>
                      <a:pt x="6195" y="12228"/>
                    </a:lnTo>
                    <a:lnTo>
                      <a:pt x="9343" y="1884"/>
                    </a:lnTo>
                    <a:lnTo>
                      <a:pt x="314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5"/>
              <p:cNvSpPr/>
              <p:nvPr/>
            </p:nvSpPr>
            <p:spPr>
              <a:xfrm>
                <a:off x="1327680" y="3395118"/>
                <a:ext cx="331343" cy="846297"/>
              </a:xfrm>
              <a:custGeom>
                <a:avLst/>
                <a:gdLst/>
                <a:ahLst/>
                <a:cxnLst/>
                <a:rect l="l" t="t" r="r" b="b"/>
                <a:pathLst>
                  <a:path w="4174" h="10661" extrusionOk="0">
                    <a:moveTo>
                      <a:pt x="3142" y="0"/>
                    </a:moveTo>
                    <a:lnTo>
                      <a:pt x="0" y="10350"/>
                    </a:lnTo>
                    <a:lnTo>
                      <a:pt x="1026" y="10660"/>
                    </a:lnTo>
                    <a:lnTo>
                      <a:pt x="4174" y="316"/>
                    </a:lnTo>
                    <a:lnTo>
                      <a:pt x="3142" y="0"/>
                    </a:ln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5"/>
              <p:cNvSpPr/>
              <p:nvPr/>
            </p:nvSpPr>
            <p:spPr>
              <a:xfrm>
                <a:off x="840190" y="3993495"/>
                <a:ext cx="655541" cy="313402"/>
              </a:xfrm>
              <a:custGeom>
                <a:avLst/>
                <a:gdLst/>
                <a:ahLst/>
                <a:cxnLst/>
                <a:rect l="l" t="t" r="r" b="b"/>
                <a:pathLst>
                  <a:path w="8258" h="3948" extrusionOk="0">
                    <a:moveTo>
                      <a:pt x="1084" y="1"/>
                    </a:moveTo>
                    <a:cubicBezTo>
                      <a:pt x="633" y="1"/>
                      <a:pt x="216" y="290"/>
                      <a:pt x="84" y="743"/>
                    </a:cubicBezTo>
                    <a:cubicBezTo>
                      <a:pt x="1" y="1018"/>
                      <a:pt x="36" y="1298"/>
                      <a:pt x="156" y="1536"/>
                    </a:cubicBezTo>
                    <a:cubicBezTo>
                      <a:pt x="245" y="1709"/>
                      <a:pt x="388" y="1852"/>
                      <a:pt x="561" y="1948"/>
                    </a:cubicBezTo>
                    <a:cubicBezTo>
                      <a:pt x="627" y="1983"/>
                      <a:pt x="704" y="2025"/>
                      <a:pt x="776" y="2043"/>
                    </a:cubicBezTo>
                    <a:lnTo>
                      <a:pt x="6875" y="3903"/>
                    </a:lnTo>
                    <a:cubicBezTo>
                      <a:pt x="6976" y="3933"/>
                      <a:pt x="7078" y="3948"/>
                      <a:pt x="7179" y="3948"/>
                    </a:cubicBezTo>
                    <a:cubicBezTo>
                      <a:pt x="7375" y="3948"/>
                      <a:pt x="7566" y="3892"/>
                      <a:pt x="7727" y="3790"/>
                    </a:cubicBezTo>
                    <a:cubicBezTo>
                      <a:pt x="7930" y="3665"/>
                      <a:pt x="8097" y="3462"/>
                      <a:pt x="8174" y="3206"/>
                    </a:cubicBezTo>
                    <a:cubicBezTo>
                      <a:pt x="8258" y="2931"/>
                      <a:pt x="8222" y="2651"/>
                      <a:pt x="8103" y="2413"/>
                    </a:cubicBezTo>
                    <a:cubicBezTo>
                      <a:pt x="8097" y="2389"/>
                      <a:pt x="8079" y="2371"/>
                      <a:pt x="8067" y="2353"/>
                    </a:cubicBezTo>
                    <a:cubicBezTo>
                      <a:pt x="7936" y="2144"/>
                      <a:pt x="7739" y="1977"/>
                      <a:pt x="7483" y="1906"/>
                    </a:cubicBezTo>
                    <a:lnTo>
                      <a:pt x="1390" y="46"/>
                    </a:lnTo>
                    <a:cubicBezTo>
                      <a:pt x="1288" y="15"/>
                      <a:pt x="1185" y="1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5"/>
              <p:cNvSpPr/>
              <p:nvPr/>
            </p:nvSpPr>
            <p:spPr>
              <a:xfrm>
                <a:off x="1067860" y="3219050"/>
                <a:ext cx="669750" cy="313402"/>
              </a:xfrm>
              <a:custGeom>
                <a:avLst/>
                <a:gdLst/>
                <a:ahLst/>
                <a:cxnLst/>
                <a:rect l="l" t="t" r="r" b="b"/>
                <a:pathLst>
                  <a:path w="8437" h="3948" extrusionOk="0">
                    <a:moveTo>
                      <a:pt x="1169" y="1"/>
                    </a:moveTo>
                    <a:cubicBezTo>
                      <a:pt x="722" y="1"/>
                      <a:pt x="309" y="293"/>
                      <a:pt x="173" y="740"/>
                    </a:cubicBezTo>
                    <a:cubicBezTo>
                      <a:pt x="0" y="1294"/>
                      <a:pt x="316" y="1878"/>
                      <a:pt x="865" y="2045"/>
                    </a:cubicBezTo>
                    <a:lnTo>
                      <a:pt x="6964" y="3899"/>
                    </a:lnTo>
                    <a:cubicBezTo>
                      <a:pt x="7067" y="3932"/>
                      <a:pt x="7171" y="3947"/>
                      <a:pt x="7274" y="3947"/>
                    </a:cubicBezTo>
                    <a:cubicBezTo>
                      <a:pt x="7719" y="3947"/>
                      <a:pt x="8134" y="3658"/>
                      <a:pt x="8269" y="3208"/>
                    </a:cubicBezTo>
                    <a:cubicBezTo>
                      <a:pt x="8436" y="2653"/>
                      <a:pt x="8126" y="2075"/>
                      <a:pt x="7572" y="1902"/>
                    </a:cubicBezTo>
                    <a:lnTo>
                      <a:pt x="1479" y="48"/>
                    </a:lnTo>
                    <a:cubicBezTo>
                      <a:pt x="1376" y="16"/>
                      <a:pt x="1272" y="1"/>
                      <a:pt x="11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5"/>
              <p:cNvSpPr/>
              <p:nvPr/>
            </p:nvSpPr>
            <p:spPr>
              <a:xfrm>
                <a:off x="924415" y="3524589"/>
                <a:ext cx="720396" cy="476295"/>
              </a:xfrm>
              <a:custGeom>
                <a:avLst/>
                <a:gdLst/>
                <a:ahLst/>
                <a:cxnLst/>
                <a:rect l="l" t="t" r="r" b="b"/>
                <a:pathLst>
                  <a:path w="9075" h="6000" extrusionOk="0">
                    <a:moveTo>
                      <a:pt x="1435" y="1"/>
                    </a:moveTo>
                    <a:cubicBezTo>
                      <a:pt x="1207" y="1"/>
                      <a:pt x="1000" y="146"/>
                      <a:pt x="931" y="372"/>
                    </a:cubicBezTo>
                    <a:lnTo>
                      <a:pt x="78" y="3169"/>
                    </a:lnTo>
                    <a:cubicBezTo>
                      <a:pt x="1" y="3443"/>
                      <a:pt x="156" y="3735"/>
                      <a:pt x="430" y="3818"/>
                    </a:cubicBezTo>
                    <a:lnTo>
                      <a:pt x="7531" y="5977"/>
                    </a:lnTo>
                    <a:cubicBezTo>
                      <a:pt x="7580" y="5992"/>
                      <a:pt x="7630" y="5999"/>
                      <a:pt x="7679" y="5999"/>
                    </a:cubicBezTo>
                    <a:cubicBezTo>
                      <a:pt x="7899" y="5999"/>
                      <a:pt x="8106" y="5854"/>
                      <a:pt x="8175" y="5625"/>
                    </a:cubicBezTo>
                    <a:lnTo>
                      <a:pt x="9021" y="2835"/>
                    </a:lnTo>
                    <a:cubicBezTo>
                      <a:pt x="9075" y="2650"/>
                      <a:pt x="9033" y="2465"/>
                      <a:pt x="8920" y="2340"/>
                    </a:cubicBezTo>
                    <a:cubicBezTo>
                      <a:pt x="8860" y="2268"/>
                      <a:pt x="8777" y="2215"/>
                      <a:pt x="8681" y="2185"/>
                    </a:cubicBezTo>
                    <a:lnTo>
                      <a:pt x="1581" y="21"/>
                    </a:lnTo>
                    <a:cubicBezTo>
                      <a:pt x="1532" y="7"/>
                      <a:pt x="1483" y="1"/>
                      <a:pt x="14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5"/>
              <p:cNvSpPr/>
              <p:nvPr/>
            </p:nvSpPr>
            <p:spPr>
              <a:xfrm>
                <a:off x="923462" y="3771307"/>
                <a:ext cx="650857" cy="229574"/>
              </a:xfrm>
              <a:custGeom>
                <a:avLst/>
                <a:gdLst/>
                <a:ahLst/>
                <a:cxnLst/>
                <a:rect l="l" t="t" r="r" b="b"/>
                <a:pathLst>
                  <a:path w="8199" h="2892" extrusionOk="0">
                    <a:moveTo>
                      <a:pt x="102" y="1"/>
                    </a:moveTo>
                    <a:lnTo>
                      <a:pt x="84" y="61"/>
                    </a:lnTo>
                    <a:cubicBezTo>
                      <a:pt x="1" y="335"/>
                      <a:pt x="162" y="627"/>
                      <a:pt x="436" y="710"/>
                    </a:cubicBezTo>
                    <a:lnTo>
                      <a:pt x="7537" y="2869"/>
                    </a:lnTo>
                    <a:cubicBezTo>
                      <a:pt x="7587" y="2884"/>
                      <a:pt x="7638" y="2891"/>
                      <a:pt x="7688" y="2891"/>
                    </a:cubicBezTo>
                    <a:cubicBezTo>
                      <a:pt x="7911" y="2891"/>
                      <a:pt x="8118" y="2746"/>
                      <a:pt x="8187" y="2517"/>
                    </a:cubicBezTo>
                    <a:lnTo>
                      <a:pt x="8199" y="2457"/>
                    </a:lnTo>
                    <a:lnTo>
                      <a:pt x="1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5"/>
              <p:cNvSpPr/>
              <p:nvPr/>
            </p:nvSpPr>
            <p:spPr>
              <a:xfrm>
                <a:off x="996415" y="3523954"/>
                <a:ext cx="650778" cy="229495"/>
              </a:xfrm>
              <a:custGeom>
                <a:avLst/>
                <a:gdLst/>
                <a:ahLst/>
                <a:cxnLst/>
                <a:rect l="l" t="t" r="r" b="b"/>
                <a:pathLst>
                  <a:path w="8198" h="2891" extrusionOk="0">
                    <a:moveTo>
                      <a:pt x="514" y="1"/>
                    </a:moveTo>
                    <a:cubicBezTo>
                      <a:pt x="290" y="1"/>
                      <a:pt x="82" y="149"/>
                      <a:pt x="18" y="374"/>
                    </a:cubicBezTo>
                    <a:lnTo>
                      <a:pt x="0" y="434"/>
                    </a:lnTo>
                    <a:lnTo>
                      <a:pt x="8102" y="2890"/>
                    </a:lnTo>
                    <a:lnTo>
                      <a:pt x="8114" y="2831"/>
                    </a:lnTo>
                    <a:cubicBezTo>
                      <a:pt x="8198" y="2556"/>
                      <a:pt x="8043" y="2264"/>
                      <a:pt x="7768" y="2187"/>
                    </a:cubicBezTo>
                    <a:lnTo>
                      <a:pt x="662" y="23"/>
                    </a:lnTo>
                    <a:cubicBezTo>
                      <a:pt x="613" y="8"/>
                      <a:pt x="563" y="1"/>
                      <a:pt x="5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5"/>
              <p:cNvSpPr/>
              <p:nvPr/>
            </p:nvSpPr>
            <p:spPr>
              <a:xfrm>
                <a:off x="924425" y="3710250"/>
                <a:ext cx="720372" cy="290628"/>
              </a:xfrm>
              <a:custGeom>
                <a:avLst/>
                <a:gdLst/>
                <a:ahLst/>
                <a:cxnLst/>
                <a:rect l="l" t="t" r="r" b="b"/>
                <a:pathLst>
                  <a:path w="9087" h="3661" extrusionOk="0">
                    <a:moveTo>
                      <a:pt x="8932" y="1"/>
                    </a:moveTo>
                    <a:cubicBezTo>
                      <a:pt x="7050" y="756"/>
                      <a:pt x="4401" y="916"/>
                      <a:pt x="2493" y="916"/>
                    </a:cubicBezTo>
                    <a:cubicBezTo>
                      <a:pt x="1088" y="916"/>
                      <a:pt x="84" y="830"/>
                      <a:pt x="84" y="830"/>
                    </a:cubicBezTo>
                    <a:lnTo>
                      <a:pt x="84" y="830"/>
                    </a:lnTo>
                    <a:cubicBezTo>
                      <a:pt x="1" y="1104"/>
                      <a:pt x="162" y="1396"/>
                      <a:pt x="436" y="1479"/>
                    </a:cubicBezTo>
                    <a:lnTo>
                      <a:pt x="7537" y="3638"/>
                    </a:lnTo>
                    <a:cubicBezTo>
                      <a:pt x="7587" y="3653"/>
                      <a:pt x="7638" y="3660"/>
                      <a:pt x="7688" y="3660"/>
                    </a:cubicBezTo>
                    <a:cubicBezTo>
                      <a:pt x="7911" y="3660"/>
                      <a:pt x="8118" y="3515"/>
                      <a:pt x="8187" y="3286"/>
                    </a:cubicBezTo>
                    <a:lnTo>
                      <a:pt x="9033" y="496"/>
                    </a:lnTo>
                    <a:cubicBezTo>
                      <a:pt x="9087" y="311"/>
                      <a:pt x="9045" y="126"/>
                      <a:pt x="8932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5"/>
              <p:cNvSpPr/>
              <p:nvPr/>
            </p:nvSpPr>
            <p:spPr>
              <a:xfrm>
                <a:off x="884247" y="4148527"/>
                <a:ext cx="611483" cy="158844"/>
              </a:xfrm>
              <a:custGeom>
                <a:avLst/>
                <a:gdLst/>
                <a:ahLst/>
                <a:cxnLst/>
                <a:rect l="l" t="t" r="r" b="b"/>
                <a:pathLst>
                  <a:path w="7703" h="200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66" y="42"/>
                      <a:pt x="137" y="78"/>
                      <a:pt x="215" y="102"/>
                    </a:cubicBezTo>
                    <a:lnTo>
                      <a:pt x="6308" y="1956"/>
                    </a:lnTo>
                    <a:cubicBezTo>
                      <a:pt x="6409" y="1986"/>
                      <a:pt x="6512" y="2001"/>
                      <a:pt x="6613" y="2001"/>
                    </a:cubicBezTo>
                    <a:cubicBezTo>
                      <a:pt x="6812" y="2001"/>
                      <a:pt x="7005" y="1945"/>
                      <a:pt x="7166" y="1843"/>
                    </a:cubicBezTo>
                    <a:cubicBezTo>
                      <a:pt x="7375" y="1712"/>
                      <a:pt x="7542" y="1509"/>
                      <a:pt x="7619" y="1253"/>
                    </a:cubicBezTo>
                    <a:cubicBezTo>
                      <a:pt x="7703" y="978"/>
                      <a:pt x="7667" y="698"/>
                      <a:pt x="7548" y="460"/>
                    </a:cubicBezTo>
                    <a:cubicBezTo>
                      <a:pt x="7542" y="436"/>
                      <a:pt x="7524" y="418"/>
                      <a:pt x="7512" y="400"/>
                    </a:cubicBezTo>
                    <a:cubicBezTo>
                      <a:pt x="6819" y="490"/>
                      <a:pt x="6092" y="526"/>
                      <a:pt x="5373" y="526"/>
                    </a:cubicBezTo>
                    <a:cubicBezTo>
                      <a:pt x="2618" y="526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5"/>
              <p:cNvSpPr/>
              <p:nvPr/>
            </p:nvSpPr>
            <p:spPr>
              <a:xfrm>
                <a:off x="1118983" y="3374241"/>
                <a:ext cx="611483" cy="158924"/>
              </a:xfrm>
              <a:custGeom>
                <a:avLst/>
                <a:gdLst/>
                <a:ahLst/>
                <a:cxnLst/>
                <a:rect l="l" t="t" r="r" b="b"/>
                <a:pathLst>
                  <a:path w="7703" h="2002" extrusionOk="0">
                    <a:moveTo>
                      <a:pt x="0" y="1"/>
                    </a:moveTo>
                    <a:cubicBezTo>
                      <a:pt x="66" y="37"/>
                      <a:pt x="143" y="78"/>
                      <a:pt x="215" y="96"/>
                    </a:cubicBezTo>
                    <a:lnTo>
                      <a:pt x="6314" y="1956"/>
                    </a:lnTo>
                    <a:cubicBezTo>
                      <a:pt x="6415" y="1987"/>
                      <a:pt x="6517" y="2001"/>
                      <a:pt x="6618" y="2001"/>
                    </a:cubicBezTo>
                    <a:cubicBezTo>
                      <a:pt x="6814" y="2001"/>
                      <a:pt x="7005" y="1946"/>
                      <a:pt x="7166" y="1843"/>
                    </a:cubicBezTo>
                    <a:cubicBezTo>
                      <a:pt x="7387" y="1718"/>
                      <a:pt x="7548" y="1509"/>
                      <a:pt x="7625" y="1253"/>
                    </a:cubicBezTo>
                    <a:cubicBezTo>
                      <a:pt x="7703" y="979"/>
                      <a:pt x="7667" y="692"/>
                      <a:pt x="7548" y="454"/>
                    </a:cubicBezTo>
                    <a:cubicBezTo>
                      <a:pt x="7542" y="436"/>
                      <a:pt x="7524" y="418"/>
                      <a:pt x="7512" y="394"/>
                    </a:cubicBezTo>
                    <a:cubicBezTo>
                      <a:pt x="6813" y="487"/>
                      <a:pt x="6078" y="523"/>
                      <a:pt x="5352" y="523"/>
                    </a:cubicBezTo>
                    <a:cubicBezTo>
                      <a:pt x="2607" y="52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5"/>
              <p:cNvSpPr/>
              <p:nvPr/>
            </p:nvSpPr>
            <p:spPr>
              <a:xfrm>
                <a:off x="922033" y="3598573"/>
                <a:ext cx="59775" cy="12550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581" extrusionOk="0">
                    <a:moveTo>
                      <a:pt x="448" y="1"/>
                    </a:moveTo>
                    <a:lnTo>
                      <a:pt x="1" y="1485"/>
                    </a:lnTo>
                    <a:lnTo>
                      <a:pt x="299" y="1581"/>
                    </a:lnTo>
                    <a:lnTo>
                      <a:pt x="752" y="90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5"/>
              <p:cNvSpPr/>
              <p:nvPr/>
            </p:nvSpPr>
            <p:spPr>
              <a:xfrm>
                <a:off x="1586072" y="3792184"/>
                <a:ext cx="65887" cy="143444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807" extrusionOk="0">
                    <a:moveTo>
                      <a:pt x="525" y="0"/>
                    </a:moveTo>
                    <a:lnTo>
                      <a:pt x="1" y="1711"/>
                    </a:lnTo>
                    <a:lnTo>
                      <a:pt x="311" y="1807"/>
                    </a:lnTo>
                    <a:lnTo>
                      <a:pt x="829" y="90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191919">
                  <a:alpha val="23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5"/>
              <p:cNvSpPr/>
              <p:nvPr/>
            </p:nvSpPr>
            <p:spPr>
              <a:xfrm>
                <a:off x="612996" y="4306576"/>
                <a:ext cx="923457" cy="153446"/>
              </a:xfrm>
              <a:custGeom>
                <a:avLst/>
                <a:gdLst/>
                <a:ahLst/>
                <a:cxnLst/>
                <a:rect l="l" t="t" r="r" b="b"/>
                <a:pathLst>
                  <a:path w="11633" h="1933" extrusionOk="0">
                    <a:moveTo>
                      <a:pt x="1933" y="1"/>
                    </a:moveTo>
                    <a:cubicBezTo>
                      <a:pt x="865" y="1"/>
                      <a:pt x="1" y="865"/>
                      <a:pt x="1" y="1933"/>
                    </a:cubicBezTo>
                    <a:lnTo>
                      <a:pt x="11633" y="1933"/>
                    </a:lnTo>
                    <a:cubicBezTo>
                      <a:pt x="11633" y="865"/>
                      <a:pt x="10768" y="1"/>
                      <a:pt x="96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5"/>
              <p:cNvSpPr/>
              <p:nvPr/>
            </p:nvSpPr>
            <p:spPr>
              <a:xfrm>
                <a:off x="428430" y="4502569"/>
                <a:ext cx="1292585" cy="159559"/>
              </a:xfrm>
              <a:custGeom>
                <a:avLst/>
                <a:gdLst/>
                <a:ahLst/>
                <a:cxnLst/>
                <a:rect l="l" t="t" r="r" b="b"/>
                <a:pathLst>
                  <a:path w="16283" h="2010" extrusionOk="0">
                    <a:moveTo>
                      <a:pt x="734" y="0"/>
                    </a:moveTo>
                    <a:cubicBezTo>
                      <a:pt x="329" y="0"/>
                      <a:pt x="1" y="328"/>
                      <a:pt x="1" y="727"/>
                    </a:cubicBezTo>
                    <a:lnTo>
                      <a:pt x="1" y="1282"/>
                    </a:lnTo>
                    <a:cubicBezTo>
                      <a:pt x="1" y="1681"/>
                      <a:pt x="329" y="2009"/>
                      <a:pt x="734" y="2009"/>
                    </a:cubicBezTo>
                    <a:lnTo>
                      <a:pt x="15555" y="2009"/>
                    </a:lnTo>
                    <a:cubicBezTo>
                      <a:pt x="15955" y="2009"/>
                      <a:pt x="16283" y="1681"/>
                      <a:pt x="16283" y="1282"/>
                    </a:cubicBezTo>
                    <a:lnTo>
                      <a:pt x="16283" y="727"/>
                    </a:lnTo>
                    <a:cubicBezTo>
                      <a:pt x="16283" y="328"/>
                      <a:pt x="15955" y="0"/>
                      <a:pt x="15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5"/>
              <p:cNvSpPr/>
              <p:nvPr/>
            </p:nvSpPr>
            <p:spPr>
              <a:xfrm>
                <a:off x="500827" y="4417313"/>
                <a:ext cx="1148744" cy="84860"/>
              </a:xfrm>
              <a:custGeom>
                <a:avLst/>
                <a:gdLst/>
                <a:ahLst/>
                <a:cxnLst/>
                <a:rect l="l" t="t" r="r" b="b"/>
                <a:pathLst>
                  <a:path w="14471" h="1069" extrusionOk="0">
                    <a:moveTo>
                      <a:pt x="794" y="1"/>
                    </a:moveTo>
                    <a:cubicBezTo>
                      <a:pt x="424" y="1"/>
                      <a:pt x="108" y="275"/>
                      <a:pt x="61" y="639"/>
                    </a:cubicBezTo>
                    <a:lnTo>
                      <a:pt x="1" y="1068"/>
                    </a:lnTo>
                    <a:lnTo>
                      <a:pt x="14470" y="1068"/>
                    </a:lnTo>
                    <a:lnTo>
                      <a:pt x="14411" y="639"/>
                    </a:lnTo>
                    <a:cubicBezTo>
                      <a:pt x="14357" y="269"/>
                      <a:pt x="14047" y="1"/>
                      <a:pt x="136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" name="Google Shape;418;p35"/>
            <p:cNvGrpSpPr/>
            <p:nvPr/>
          </p:nvGrpSpPr>
          <p:grpSpPr>
            <a:xfrm flipH="1">
              <a:off x="2258199" y="2522480"/>
              <a:ext cx="664633" cy="664286"/>
              <a:chOff x="6212418" y="1482331"/>
              <a:chExt cx="627249" cy="626921"/>
            </a:xfrm>
          </p:grpSpPr>
          <p:sp>
            <p:nvSpPr>
              <p:cNvPr id="419" name="Google Shape;419;p35"/>
              <p:cNvSpPr/>
              <p:nvPr/>
            </p:nvSpPr>
            <p:spPr>
              <a:xfrm>
                <a:off x="6212418" y="1482331"/>
                <a:ext cx="627249" cy="620800"/>
              </a:xfrm>
              <a:custGeom>
                <a:avLst/>
                <a:gdLst/>
                <a:ahLst/>
                <a:cxnLst/>
                <a:rect l="l" t="t" r="r" b="b"/>
                <a:pathLst>
                  <a:path w="7782" h="7702" extrusionOk="0">
                    <a:moveTo>
                      <a:pt x="6112" y="1623"/>
                    </a:moveTo>
                    <a:cubicBezTo>
                      <a:pt x="6112" y="1623"/>
                      <a:pt x="6112" y="1623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12" y="1623"/>
                      <a:pt x="6112" y="1623"/>
                    </a:cubicBezTo>
                    <a:close/>
                    <a:moveTo>
                      <a:pt x="1032" y="1"/>
                    </a:moveTo>
                    <a:cubicBezTo>
                      <a:pt x="1032" y="1"/>
                      <a:pt x="1" y="4037"/>
                      <a:pt x="1909" y="6207"/>
                    </a:cubicBezTo>
                    <a:cubicBezTo>
                      <a:pt x="1909" y="6207"/>
                      <a:pt x="3569" y="7701"/>
                      <a:pt x="5835" y="7701"/>
                    </a:cubicBezTo>
                    <a:cubicBezTo>
                      <a:pt x="6447" y="7701"/>
                      <a:pt x="7102" y="7592"/>
                      <a:pt x="7781" y="7316"/>
                    </a:cubicBezTo>
                    <a:cubicBezTo>
                      <a:pt x="7781" y="7316"/>
                      <a:pt x="5635" y="6499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09" y="1623"/>
                      <a:pt x="6104" y="1623"/>
                    </a:cubicBezTo>
                    <a:cubicBezTo>
                      <a:pt x="5980" y="1623"/>
                      <a:pt x="4400" y="1465"/>
                      <a:pt x="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5"/>
              <p:cNvSpPr/>
              <p:nvPr/>
            </p:nvSpPr>
            <p:spPr>
              <a:xfrm>
                <a:off x="6365722" y="1881228"/>
                <a:ext cx="473459" cy="228024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2829" extrusionOk="0">
                    <a:moveTo>
                      <a:pt x="5873" y="2367"/>
                    </a:moveTo>
                    <a:cubicBezTo>
                      <a:pt x="5872" y="2368"/>
                      <a:pt x="5870" y="2368"/>
                      <a:pt x="5869" y="2369"/>
                    </a:cubicBezTo>
                    <a:lnTo>
                      <a:pt x="5869" y="2369"/>
                    </a:lnTo>
                    <a:cubicBezTo>
                      <a:pt x="5872" y="2368"/>
                      <a:pt x="5874" y="2368"/>
                      <a:pt x="5873" y="2367"/>
                    </a:cubicBezTo>
                    <a:close/>
                    <a:moveTo>
                      <a:pt x="2141" y="0"/>
                    </a:moveTo>
                    <a:cubicBezTo>
                      <a:pt x="2141" y="0"/>
                      <a:pt x="1496" y="1415"/>
                      <a:pt x="546" y="1415"/>
                    </a:cubicBezTo>
                    <a:cubicBezTo>
                      <a:pt x="373" y="1415"/>
                      <a:pt x="191" y="1368"/>
                      <a:pt x="1" y="1258"/>
                    </a:cubicBezTo>
                    <a:lnTo>
                      <a:pt x="1" y="1258"/>
                    </a:lnTo>
                    <a:cubicBezTo>
                      <a:pt x="1" y="1258"/>
                      <a:pt x="1394" y="2828"/>
                      <a:pt x="3689" y="2828"/>
                    </a:cubicBezTo>
                    <a:cubicBezTo>
                      <a:pt x="4346" y="2828"/>
                      <a:pt x="5076" y="2700"/>
                      <a:pt x="5869" y="2369"/>
                    </a:cubicBezTo>
                    <a:lnTo>
                      <a:pt x="5869" y="2369"/>
                    </a:lnTo>
                    <a:cubicBezTo>
                      <a:pt x="5850" y="2374"/>
                      <a:pt x="5766" y="2386"/>
                      <a:pt x="5633" y="2386"/>
                    </a:cubicBezTo>
                    <a:cubicBezTo>
                      <a:pt x="5034" y="2386"/>
                      <a:pt x="3434" y="2150"/>
                      <a:pt x="2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35"/>
            <p:cNvGrpSpPr/>
            <p:nvPr/>
          </p:nvGrpSpPr>
          <p:grpSpPr>
            <a:xfrm flipH="1">
              <a:off x="1365165" y="1246316"/>
              <a:ext cx="845522" cy="916625"/>
              <a:chOff x="7511392" y="307000"/>
              <a:chExt cx="863570" cy="936192"/>
            </a:xfrm>
          </p:grpSpPr>
          <p:sp>
            <p:nvSpPr>
              <p:cNvPr id="422" name="Google Shape;422;p35"/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5"/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B77E880-5BDE-7BBD-05FA-B8CFCBFFF274}"/>
              </a:ext>
            </a:extLst>
          </p:cNvPr>
          <p:cNvSpPr txBox="1"/>
          <p:nvPr/>
        </p:nvSpPr>
        <p:spPr>
          <a:xfrm>
            <a:off x="3059486" y="677343"/>
            <a:ext cx="60252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JIMS Portal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The official court record system, accessible only to Judiciary staff.</a:t>
            </a:r>
          </a:p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Primary Users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Court clerks, legal document branch, judicial assistants, court administrators, supervisors, and judges.</a:t>
            </a:r>
          </a:p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Courts Managed in JIMS Portal:</a:t>
            </a:r>
          </a:p>
          <a:p>
            <a:pPr lvl="8"/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Supreme Court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Intermediate Court of Appeals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Circuit Court – Criminal &amp; Civil Cases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District Court – Traffic, Criminal &amp; Civil Cases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Family Court – Criminal Cases</a:t>
            </a:r>
          </a:p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Key Features: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Manages case records and documents.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Functions grouped into Pods based on user roles.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Court supervisors control user access based on duties.</a:t>
            </a:r>
          </a:p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Note: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Criminal Law – Handles crimes against the government.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Civil Law – Resolves disputes between private parties.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28CD71-D686-4E36-E76E-D0B1D1212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94" y="195943"/>
            <a:ext cx="8384720" cy="431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159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36"/>
          <p:cNvGrpSpPr/>
          <p:nvPr/>
        </p:nvGrpSpPr>
        <p:grpSpPr>
          <a:xfrm>
            <a:off x="7056977" y="1348603"/>
            <a:ext cx="1371920" cy="3911747"/>
            <a:chOff x="7056977" y="1297778"/>
            <a:chExt cx="1371920" cy="3911747"/>
          </a:xfrm>
        </p:grpSpPr>
        <p:sp>
          <p:nvSpPr>
            <p:cNvPr id="429" name="Google Shape;429;p36"/>
            <p:cNvSpPr/>
            <p:nvPr/>
          </p:nvSpPr>
          <p:spPr>
            <a:xfrm>
              <a:off x="7585796" y="2328023"/>
              <a:ext cx="500382" cy="835275"/>
            </a:xfrm>
            <a:custGeom>
              <a:avLst/>
              <a:gdLst/>
              <a:ahLst/>
              <a:cxnLst/>
              <a:rect l="l" t="t" r="r" b="b"/>
              <a:pathLst>
                <a:path w="5754" h="9605" extrusionOk="0">
                  <a:moveTo>
                    <a:pt x="2971" y="1"/>
                  </a:moveTo>
                  <a:cubicBezTo>
                    <a:pt x="1988" y="1"/>
                    <a:pt x="1118" y="148"/>
                    <a:pt x="406" y="340"/>
                  </a:cubicBezTo>
                  <a:lnTo>
                    <a:pt x="6" y="2987"/>
                  </a:lnTo>
                  <a:cubicBezTo>
                    <a:pt x="0" y="2987"/>
                    <a:pt x="0" y="7297"/>
                    <a:pt x="763" y="9605"/>
                  </a:cubicBezTo>
                  <a:lnTo>
                    <a:pt x="4388" y="3052"/>
                  </a:lnTo>
                  <a:lnTo>
                    <a:pt x="5754" y="399"/>
                  </a:lnTo>
                  <a:cubicBezTo>
                    <a:pt x="4760" y="111"/>
                    <a:pt x="3823" y="1"/>
                    <a:pt x="29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7243598" y="2358547"/>
              <a:ext cx="1039115" cy="1306525"/>
            </a:xfrm>
            <a:custGeom>
              <a:avLst/>
              <a:gdLst/>
              <a:ahLst/>
              <a:cxnLst/>
              <a:rect l="l" t="t" r="r" b="b"/>
              <a:pathLst>
                <a:path w="11949" h="15024" extrusionOk="0">
                  <a:moveTo>
                    <a:pt x="4323" y="1"/>
                  </a:moveTo>
                  <a:cubicBezTo>
                    <a:pt x="2981" y="346"/>
                    <a:pt x="2165" y="609"/>
                    <a:pt x="2165" y="609"/>
                  </a:cubicBezTo>
                  <a:lnTo>
                    <a:pt x="2093" y="1062"/>
                  </a:lnTo>
                  <a:lnTo>
                    <a:pt x="1819" y="2922"/>
                  </a:lnTo>
                  <a:cubicBezTo>
                    <a:pt x="454" y="4669"/>
                    <a:pt x="48" y="5682"/>
                    <a:pt x="30" y="6189"/>
                  </a:cubicBezTo>
                  <a:cubicBezTo>
                    <a:pt x="0" y="7334"/>
                    <a:pt x="1306" y="8347"/>
                    <a:pt x="1306" y="8347"/>
                  </a:cubicBezTo>
                  <a:lnTo>
                    <a:pt x="1431" y="12717"/>
                  </a:lnTo>
                  <a:lnTo>
                    <a:pt x="1479" y="14208"/>
                  </a:lnTo>
                  <a:cubicBezTo>
                    <a:pt x="3057" y="14823"/>
                    <a:pt x="4473" y="15024"/>
                    <a:pt x="5648" y="15024"/>
                  </a:cubicBezTo>
                  <a:cubicBezTo>
                    <a:pt x="7857" y="15024"/>
                    <a:pt x="9218" y="14315"/>
                    <a:pt x="9218" y="14315"/>
                  </a:cubicBezTo>
                  <a:cubicBezTo>
                    <a:pt x="9265" y="14041"/>
                    <a:pt x="9313" y="13749"/>
                    <a:pt x="9379" y="13457"/>
                  </a:cubicBezTo>
                  <a:cubicBezTo>
                    <a:pt x="10070" y="10112"/>
                    <a:pt x="11948" y="5879"/>
                    <a:pt x="11948" y="5879"/>
                  </a:cubicBezTo>
                  <a:lnTo>
                    <a:pt x="11948" y="960"/>
                  </a:lnTo>
                  <a:cubicBezTo>
                    <a:pt x="11245" y="549"/>
                    <a:pt x="10422" y="257"/>
                    <a:pt x="9701" y="60"/>
                  </a:cubicBezTo>
                  <a:lnTo>
                    <a:pt x="8019" y="2624"/>
                  </a:lnTo>
                  <a:lnTo>
                    <a:pt x="4687" y="8538"/>
                  </a:lnTo>
                  <a:cubicBezTo>
                    <a:pt x="3935" y="6237"/>
                    <a:pt x="4227" y="2666"/>
                    <a:pt x="4227" y="2666"/>
                  </a:cubicBezTo>
                  <a:lnTo>
                    <a:pt x="43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7430742" y="2356982"/>
              <a:ext cx="761705" cy="871625"/>
            </a:xfrm>
            <a:custGeom>
              <a:avLst/>
              <a:gdLst/>
              <a:ahLst/>
              <a:cxnLst/>
              <a:rect l="l" t="t" r="r" b="b"/>
              <a:pathLst>
                <a:path w="8759" h="10023" extrusionOk="0">
                  <a:moveTo>
                    <a:pt x="2171" y="1"/>
                  </a:moveTo>
                  <a:lnTo>
                    <a:pt x="2171" y="1"/>
                  </a:lnTo>
                  <a:cubicBezTo>
                    <a:pt x="1777" y="102"/>
                    <a:pt x="1432" y="174"/>
                    <a:pt x="1134" y="287"/>
                  </a:cubicBezTo>
                  <a:lnTo>
                    <a:pt x="1" y="3727"/>
                  </a:lnTo>
                  <a:lnTo>
                    <a:pt x="996" y="3906"/>
                  </a:lnTo>
                  <a:lnTo>
                    <a:pt x="13" y="4609"/>
                  </a:lnTo>
                  <a:cubicBezTo>
                    <a:pt x="13" y="4609"/>
                    <a:pt x="1187" y="8139"/>
                    <a:pt x="2487" y="10023"/>
                  </a:cubicBezTo>
                  <a:cubicBezTo>
                    <a:pt x="2487" y="10023"/>
                    <a:pt x="6457" y="6744"/>
                    <a:pt x="7447" y="5003"/>
                  </a:cubicBezTo>
                  <a:lnTo>
                    <a:pt x="6291" y="4108"/>
                  </a:lnTo>
                  <a:lnTo>
                    <a:pt x="7859" y="4073"/>
                  </a:lnTo>
                  <a:lnTo>
                    <a:pt x="8759" y="502"/>
                  </a:lnTo>
                  <a:cubicBezTo>
                    <a:pt x="8341" y="323"/>
                    <a:pt x="7930" y="180"/>
                    <a:pt x="7531" y="60"/>
                  </a:cubicBezTo>
                  <a:lnTo>
                    <a:pt x="5861" y="2624"/>
                  </a:lnTo>
                  <a:lnTo>
                    <a:pt x="2535" y="8544"/>
                  </a:lnTo>
                  <a:cubicBezTo>
                    <a:pt x="1783" y="6237"/>
                    <a:pt x="2075" y="2672"/>
                    <a:pt x="2075" y="2672"/>
                  </a:cubicBezTo>
                  <a:lnTo>
                    <a:pt x="2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7244120" y="2451858"/>
              <a:ext cx="1038593" cy="1076944"/>
            </a:xfrm>
            <a:custGeom>
              <a:avLst/>
              <a:gdLst/>
              <a:ahLst/>
              <a:cxnLst/>
              <a:rect l="l" t="t" r="r" b="b"/>
              <a:pathLst>
                <a:path w="11943" h="12384" extrusionOk="0">
                  <a:moveTo>
                    <a:pt x="2099" y="1"/>
                  </a:moveTo>
                  <a:lnTo>
                    <a:pt x="1819" y="1855"/>
                  </a:lnTo>
                  <a:cubicBezTo>
                    <a:pt x="460" y="3608"/>
                    <a:pt x="48" y="4621"/>
                    <a:pt x="30" y="5128"/>
                  </a:cubicBezTo>
                  <a:cubicBezTo>
                    <a:pt x="0" y="6267"/>
                    <a:pt x="1306" y="7280"/>
                    <a:pt x="1306" y="7280"/>
                  </a:cubicBezTo>
                  <a:lnTo>
                    <a:pt x="1431" y="11656"/>
                  </a:lnTo>
                  <a:cubicBezTo>
                    <a:pt x="1505" y="11658"/>
                    <a:pt x="1580" y="11659"/>
                    <a:pt x="1657" y="11659"/>
                  </a:cubicBezTo>
                  <a:cubicBezTo>
                    <a:pt x="2670" y="11659"/>
                    <a:pt x="3897" y="11504"/>
                    <a:pt x="5283" y="10983"/>
                  </a:cubicBezTo>
                  <a:cubicBezTo>
                    <a:pt x="6964" y="11883"/>
                    <a:pt x="8377" y="12253"/>
                    <a:pt x="9373" y="12384"/>
                  </a:cubicBezTo>
                  <a:cubicBezTo>
                    <a:pt x="10064" y="9039"/>
                    <a:pt x="11942" y="4806"/>
                    <a:pt x="11942" y="4806"/>
                  </a:cubicBezTo>
                  <a:lnTo>
                    <a:pt x="11942" y="406"/>
                  </a:lnTo>
                  <a:cubicBezTo>
                    <a:pt x="11893" y="371"/>
                    <a:pt x="11858" y="352"/>
                    <a:pt x="11838" y="352"/>
                  </a:cubicBezTo>
                  <a:cubicBezTo>
                    <a:pt x="11831" y="352"/>
                    <a:pt x="11826" y="354"/>
                    <a:pt x="11823" y="358"/>
                  </a:cubicBezTo>
                  <a:cubicBezTo>
                    <a:pt x="11802" y="353"/>
                    <a:pt x="11781" y="350"/>
                    <a:pt x="11759" y="350"/>
                  </a:cubicBezTo>
                  <a:cubicBezTo>
                    <a:pt x="10577" y="350"/>
                    <a:pt x="9599" y="8896"/>
                    <a:pt x="9599" y="8896"/>
                  </a:cubicBezTo>
                  <a:lnTo>
                    <a:pt x="5110" y="7817"/>
                  </a:lnTo>
                  <a:cubicBezTo>
                    <a:pt x="4949" y="8008"/>
                    <a:pt x="4710" y="8383"/>
                    <a:pt x="4520" y="8842"/>
                  </a:cubicBezTo>
                  <a:lnTo>
                    <a:pt x="2296" y="8485"/>
                  </a:lnTo>
                  <a:lnTo>
                    <a:pt x="2338" y="4281"/>
                  </a:lnTo>
                  <a:lnTo>
                    <a:pt x="2105" y="1"/>
                  </a:lnTo>
                  <a:close/>
                </a:path>
              </a:pathLst>
            </a:custGeom>
            <a:solidFill>
              <a:srgbClr val="434343">
                <a:alpha val="295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7088022" y="2411420"/>
              <a:ext cx="365156" cy="972241"/>
            </a:xfrm>
            <a:custGeom>
              <a:avLst/>
              <a:gdLst/>
              <a:ahLst/>
              <a:cxnLst/>
              <a:rect l="l" t="t" r="r" b="b"/>
              <a:pathLst>
                <a:path w="4199" h="11180" extrusionOk="0">
                  <a:moveTo>
                    <a:pt x="3966" y="1"/>
                  </a:moveTo>
                  <a:cubicBezTo>
                    <a:pt x="3966" y="1"/>
                    <a:pt x="2332" y="454"/>
                    <a:pt x="1163" y="5015"/>
                  </a:cubicBezTo>
                  <a:cubicBezTo>
                    <a:pt x="1" y="9558"/>
                    <a:pt x="347" y="11018"/>
                    <a:pt x="746" y="11179"/>
                  </a:cubicBezTo>
                  <a:cubicBezTo>
                    <a:pt x="2946" y="9892"/>
                    <a:pt x="4162" y="8491"/>
                    <a:pt x="4162" y="8491"/>
                  </a:cubicBezTo>
                  <a:lnTo>
                    <a:pt x="4198" y="4287"/>
                  </a:lnTo>
                  <a:lnTo>
                    <a:pt x="39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7056977" y="3594023"/>
              <a:ext cx="1371920" cy="1615502"/>
            </a:xfrm>
            <a:custGeom>
              <a:avLst/>
              <a:gdLst/>
              <a:ahLst/>
              <a:cxnLst/>
              <a:rect l="l" t="t" r="r" b="b"/>
              <a:pathLst>
                <a:path w="15776" h="18577" extrusionOk="0">
                  <a:moveTo>
                    <a:pt x="3631" y="1"/>
                  </a:moveTo>
                  <a:cubicBezTo>
                    <a:pt x="3631" y="1"/>
                    <a:pt x="0" y="5772"/>
                    <a:pt x="3554" y="18113"/>
                  </a:cubicBezTo>
                  <a:cubicBezTo>
                    <a:pt x="3554" y="18113"/>
                    <a:pt x="4733" y="18577"/>
                    <a:pt x="7916" y="18577"/>
                  </a:cubicBezTo>
                  <a:cubicBezTo>
                    <a:pt x="9507" y="18577"/>
                    <a:pt x="11600" y="18461"/>
                    <a:pt x="14297" y="18113"/>
                  </a:cubicBezTo>
                  <a:cubicBezTo>
                    <a:pt x="14297" y="18113"/>
                    <a:pt x="15775" y="6136"/>
                    <a:pt x="11376" y="108"/>
                  </a:cubicBezTo>
                  <a:lnTo>
                    <a:pt x="36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7100458" y="3149732"/>
              <a:ext cx="773705" cy="275845"/>
            </a:xfrm>
            <a:custGeom>
              <a:avLst/>
              <a:gdLst/>
              <a:ahLst/>
              <a:cxnLst/>
              <a:rect l="l" t="t" r="r" b="b"/>
              <a:pathLst>
                <a:path w="8897" h="3172" extrusionOk="0">
                  <a:moveTo>
                    <a:pt x="4019" y="1"/>
                  </a:moveTo>
                  <a:cubicBezTo>
                    <a:pt x="4019" y="1"/>
                    <a:pt x="1" y="1"/>
                    <a:pt x="597" y="2689"/>
                  </a:cubicBezTo>
                  <a:cubicBezTo>
                    <a:pt x="811" y="2770"/>
                    <a:pt x="1848" y="3171"/>
                    <a:pt x="3420" y="3171"/>
                  </a:cubicBezTo>
                  <a:cubicBezTo>
                    <a:pt x="4866" y="3171"/>
                    <a:pt x="6765" y="2832"/>
                    <a:pt x="8896" y="1592"/>
                  </a:cubicBezTo>
                  <a:lnTo>
                    <a:pt x="8372" y="698"/>
                  </a:lnTo>
                  <a:lnTo>
                    <a:pt x="40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7449960" y="3149732"/>
              <a:ext cx="424203" cy="239060"/>
            </a:xfrm>
            <a:custGeom>
              <a:avLst/>
              <a:gdLst/>
              <a:ahLst/>
              <a:cxnLst/>
              <a:rect l="l" t="t" r="r" b="b"/>
              <a:pathLst>
                <a:path w="4878" h="2749" extrusionOk="0">
                  <a:moveTo>
                    <a:pt x="0" y="1"/>
                  </a:moveTo>
                  <a:cubicBezTo>
                    <a:pt x="0" y="1"/>
                    <a:pt x="1640" y="1527"/>
                    <a:pt x="2254" y="2749"/>
                  </a:cubicBezTo>
                  <a:cubicBezTo>
                    <a:pt x="3089" y="2505"/>
                    <a:pt x="3709" y="2278"/>
                    <a:pt x="4877" y="1604"/>
                  </a:cubicBezTo>
                  <a:lnTo>
                    <a:pt x="4353" y="6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34343">
                <a:alpha val="295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7375781" y="3069987"/>
              <a:ext cx="308108" cy="200101"/>
            </a:xfrm>
            <a:custGeom>
              <a:avLst/>
              <a:gdLst/>
              <a:ahLst/>
              <a:cxnLst/>
              <a:rect l="l" t="t" r="r" b="b"/>
              <a:pathLst>
                <a:path w="3543" h="2301" extrusionOk="0">
                  <a:moveTo>
                    <a:pt x="1447" y="1"/>
                  </a:moveTo>
                  <a:cubicBezTo>
                    <a:pt x="52" y="1"/>
                    <a:pt x="1" y="1031"/>
                    <a:pt x="1" y="1031"/>
                  </a:cubicBezTo>
                  <a:cubicBezTo>
                    <a:pt x="710" y="1627"/>
                    <a:pt x="2290" y="1871"/>
                    <a:pt x="2910" y="2301"/>
                  </a:cubicBezTo>
                  <a:cubicBezTo>
                    <a:pt x="3339" y="1365"/>
                    <a:pt x="3542" y="500"/>
                    <a:pt x="3542" y="500"/>
                  </a:cubicBezTo>
                  <a:cubicBezTo>
                    <a:pt x="2628" y="135"/>
                    <a:pt x="1950" y="1"/>
                    <a:pt x="1447" y="1"/>
                  </a:cubicBezTo>
                  <a:close/>
                </a:path>
              </a:pathLst>
            </a:custGeom>
            <a:solidFill>
              <a:srgbClr val="5C39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7570229" y="3089554"/>
              <a:ext cx="121921" cy="208014"/>
            </a:xfrm>
            <a:custGeom>
              <a:avLst/>
              <a:gdLst/>
              <a:ahLst/>
              <a:cxnLst/>
              <a:rect l="l" t="t" r="r" b="b"/>
              <a:pathLst>
                <a:path w="1402" h="2392" extrusionOk="0">
                  <a:moveTo>
                    <a:pt x="776" y="1"/>
                  </a:moveTo>
                  <a:cubicBezTo>
                    <a:pt x="776" y="1"/>
                    <a:pt x="0" y="633"/>
                    <a:pt x="0" y="1962"/>
                  </a:cubicBezTo>
                  <a:cubicBezTo>
                    <a:pt x="215" y="2111"/>
                    <a:pt x="436" y="2255"/>
                    <a:pt x="638" y="2392"/>
                  </a:cubicBezTo>
                  <a:cubicBezTo>
                    <a:pt x="919" y="1289"/>
                    <a:pt x="1223" y="627"/>
                    <a:pt x="1402" y="120"/>
                  </a:cubicBezTo>
                  <a:lnTo>
                    <a:pt x="7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7612232" y="2441335"/>
              <a:ext cx="781880" cy="1053812"/>
            </a:xfrm>
            <a:custGeom>
              <a:avLst/>
              <a:gdLst/>
              <a:ahLst/>
              <a:cxnLst/>
              <a:rect l="l" t="t" r="r" b="b"/>
              <a:pathLst>
                <a:path w="8991" h="12118" extrusionOk="0">
                  <a:moveTo>
                    <a:pt x="7646" y="0"/>
                  </a:moveTo>
                  <a:cubicBezTo>
                    <a:pt x="6462" y="0"/>
                    <a:pt x="5444" y="8546"/>
                    <a:pt x="5444" y="8546"/>
                  </a:cubicBezTo>
                  <a:lnTo>
                    <a:pt x="948" y="7467"/>
                  </a:lnTo>
                  <a:cubicBezTo>
                    <a:pt x="638" y="7854"/>
                    <a:pt x="0" y="8933"/>
                    <a:pt x="60" y="10019"/>
                  </a:cubicBezTo>
                  <a:cubicBezTo>
                    <a:pt x="2963" y="11888"/>
                    <a:pt x="5269" y="12118"/>
                    <a:pt x="6229" y="12118"/>
                  </a:cubicBezTo>
                  <a:cubicBezTo>
                    <a:pt x="6543" y="12118"/>
                    <a:pt x="6714" y="12093"/>
                    <a:pt x="6714" y="12093"/>
                  </a:cubicBezTo>
                  <a:cubicBezTo>
                    <a:pt x="6714" y="12093"/>
                    <a:pt x="6722" y="12095"/>
                    <a:pt x="6739" y="12095"/>
                  </a:cubicBezTo>
                  <a:cubicBezTo>
                    <a:pt x="6933" y="12095"/>
                    <a:pt x="8195" y="11882"/>
                    <a:pt x="8580" y="6418"/>
                  </a:cubicBezTo>
                  <a:cubicBezTo>
                    <a:pt x="8991" y="509"/>
                    <a:pt x="7709" y="8"/>
                    <a:pt x="7709" y="8"/>
                  </a:cubicBezTo>
                  <a:cubicBezTo>
                    <a:pt x="7688" y="3"/>
                    <a:pt x="7667" y="0"/>
                    <a:pt x="76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7944081" y="3025549"/>
              <a:ext cx="308369" cy="207666"/>
            </a:xfrm>
            <a:custGeom>
              <a:avLst/>
              <a:gdLst/>
              <a:ahLst/>
              <a:cxnLst/>
              <a:rect l="l" t="t" r="r" b="b"/>
              <a:pathLst>
                <a:path w="3546" h="2388" extrusionOk="0">
                  <a:moveTo>
                    <a:pt x="3072" y="0"/>
                  </a:moveTo>
                  <a:cubicBezTo>
                    <a:pt x="2686" y="0"/>
                    <a:pt x="2040" y="346"/>
                    <a:pt x="1771" y="457"/>
                  </a:cubicBezTo>
                  <a:cubicBezTo>
                    <a:pt x="1431" y="600"/>
                    <a:pt x="0" y="1452"/>
                    <a:pt x="0" y="1452"/>
                  </a:cubicBezTo>
                  <a:lnTo>
                    <a:pt x="1491" y="1816"/>
                  </a:lnTo>
                  <a:cubicBezTo>
                    <a:pt x="1491" y="1816"/>
                    <a:pt x="1592" y="1816"/>
                    <a:pt x="1789" y="1917"/>
                  </a:cubicBezTo>
                  <a:cubicBezTo>
                    <a:pt x="1927" y="1989"/>
                    <a:pt x="2650" y="2388"/>
                    <a:pt x="2924" y="2388"/>
                  </a:cubicBezTo>
                  <a:cubicBezTo>
                    <a:pt x="2991" y="2388"/>
                    <a:pt x="3031" y="2364"/>
                    <a:pt x="3029" y="2305"/>
                  </a:cubicBezTo>
                  <a:cubicBezTo>
                    <a:pt x="3011" y="2007"/>
                    <a:pt x="2290" y="1667"/>
                    <a:pt x="2289" y="1667"/>
                  </a:cubicBezTo>
                  <a:lnTo>
                    <a:pt x="2289" y="1667"/>
                  </a:lnTo>
                  <a:cubicBezTo>
                    <a:pt x="2290" y="1667"/>
                    <a:pt x="2789" y="1844"/>
                    <a:pt x="3088" y="1844"/>
                  </a:cubicBezTo>
                  <a:cubicBezTo>
                    <a:pt x="3203" y="1844"/>
                    <a:pt x="3288" y="1818"/>
                    <a:pt x="3303" y="1744"/>
                  </a:cubicBezTo>
                  <a:cubicBezTo>
                    <a:pt x="3369" y="1411"/>
                    <a:pt x="2462" y="1285"/>
                    <a:pt x="2462" y="1285"/>
                  </a:cubicBezTo>
                  <a:lnTo>
                    <a:pt x="2462" y="1285"/>
                  </a:lnTo>
                  <a:cubicBezTo>
                    <a:pt x="2462" y="1285"/>
                    <a:pt x="2492" y="1286"/>
                    <a:pt x="2540" y="1286"/>
                  </a:cubicBezTo>
                  <a:cubicBezTo>
                    <a:pt x="2789" y="1286"/>
                    <a:pt x="3545" y="1265"/>
                    <a:pt x="3535" y="1011"/>
                  </a:cubicBezTo>
                  <a:cubicBezTo>
                    <a:pt x="3522" y="831"/>
                    <a:pt x="3100" y="792"/>
                    <a:pt x="2739" y="792"/>
                  </a:cubicBezTo>
                  <a:cubicBezTo>
                    <a:pt x="2467" y="792"/>
                    <a:pt x="2230" y="814"/>
                    <a:pt x="2230" y="814"/>
                  </a:cubicBezTo>
                  <a:cubicBezTo>
                    <a:pt x="2295" y="773"/>
                    <a:pt x="3482" y="463"/>
                    <a:pt x="3357" y="153"/>
                  </a:cubicBezTo>
                  <a:cubicBezTo>
                    <a:pt x="3312" y="43"/>
                    <a:pt x="3208" y="0"/>
                    <a:pt x="3072" y="0"/>
                  </a:cubicBezTo>
                  <a:close/>
                </a:path>
              </a:pathLst>
            </a:custGeom>
            <a:solidFill>
              <a:srgbClr val="5C39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7619450" y="2342372"/>
              <a:ext cx="433073" cy="268801"/>
            </a:xfrm>
            <a:custGeom>
              <a:avLst/>
              <a:gdLst/>
              <a:ahLst/>
              <a:cxnLst/>
              <a:rect l="l" t="t" r="r" b="b"/>
              <a:pathLst>
                <a:path w="4980" h="3091" extrusionOk="0">
                  <a:moveTo>
                    <a:pt x="1491" y="0"/>
                  </a:moveTo>
                  <a:cubicBezTo>
                    <a:pt x="909" y="0"/>
                    <a:pt x="456" y="24"/>
                    <a:pt x="347" y="91"/>
                  </a:cubicBezTo>
                  <a:cubicBezTo>
                    <a:pt x="347" y="91"/>
                    <a:pt x="1" y="1069"/>
                    <a:pt x="830" y="2750"/>
                  </a:cubicBezTo>
                  <a:lnTo>
                    <a:pt x="2082" y="1421"/>
                  </a:lnTo>
                  <a:lnTo>
                    <a:pt x="2618" y="3090"/>
                  </a:lnTo>
                  <a:cubicBezTo>
                    <a:pt x="2618" y="3090"/>
                    <a:pt x="4598" y="1683"/>
                    <a:pt x="4979" y="133"/>
                  </a:cubicBezTo>
                  <a:cubicBezTo>
                    <a:pt x="4975" y="133"/>
                    <a:pt x="2869" y="0"/>
                    <a:pt x="1491" y="0"/>
                  </a:cubicBezTo>
                  <a:close/>
                </a:path>
              </a:pathLst>
            </a:custGeom>
            <a:solidFill>
              <a:srgbClr val="434343">
                <a:alpha val="295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7239946" y="1297778"/>
              <a:ext cx="1089640" cy="947022"/>
            </a:xfrm>
            <a:custGeom>
              <a:avLst/>
              <a:gdLst/>
              <a:ahLst/>
              <a:cxnLst/>
              <a:rect l="l" t="t" r="r" b="b"/>
              <a:pathLst>
                <a:path w="12530" h="10890" extrusionOk="0">
                  <a:moveTo>
                    <a:pt x="7933" y="1"/>
                  </a:moveTo>
                  <a:cubicBezTo>
                    <a:pt x="7451" y="1"/>
                    <a:pt x="6894" y="106"/>
                    <a:pt x="6249" y="334"/>
                  </a:cubicBezTo>
                  <a:cubicBezTo>
                    <a:pt x="6249" y="334"/>
                    <a:pt x="6213" y="332"/>
                    <a:pt x="6149" y="332"/>
                  </a:cubicBezTo>
                  <a:cubicBezTo>
                    <a:pt x="5694" y="332"/>
                    <a:pt x="3820" y="469"/>
                    <a:pt x="3339" y="2695"/>
                  </a:cubicBezTo>
                  <a:cubicBezTo>
                    <a:pt x="2791" y="5241"/>
                    <a:pt x="1" y="10815"/>
                    <a:pt x="5945" y="10887"/>
                  </a:cubicBezTo>
                  <a:cubicBezTo>
                    <a:pt x="6132" y="10889"/>
                    <a:pt x="6314" y="10890"/>
                    <a:pt x="6491" y="10890"/>
                  </a:cubicBezTo>
                  <a:cubicBezTo>
                    <a:pt x="11924" y="10890"/>
                    <a:pt x="12530" y="9974"/>
                    <a:pt x="11704" y="6278"/>
                  </a:cubicBezTo>
                  <a:cubicBezTo>
                    <a:pt x="10990" y="3055"/>
                    <a:pt x="10535" y="1"/>
                    <a:pt x="7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7736676" y="2017915"/>
              <a:ext cx="231842" cy="432465"/>
            </a:xfrm>
            <a:custGeom>
              <a:avLst/>
              <a:gdLst/>
              <a:ahLst/>
              <a:cxnLst/>
              <a:rect l="l" t="t" r="r" b="b"/>
              <a:pathLst>
                <a:path w="2666" h="4973" extrusionOk="0">
                  <a:moveTo>
                    <a:pt x="18" y="1"/>
                  </a:moveTo>
                  <a:lnTo>
                    <a:pt x="12" y="2803"/>
                  </a:lnTo>
                  <a:lnTo>
                    <a:pt x="0" y="4961"/>
                  </a:lnTo>
                  <a:lnTo>
                    <a:pt x="2641" y="4973"/>
                  </a:lnTo>
                  <a:lnTo>
                    <a:pt x="2647" y="2171"/>
                  </a:lnTo>
                  <a:lnTo>
                    <a:pt x="2665" y="13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5C39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7641800" y="2264193"/>
              <a:ext cx="410202" cy="323066"/>
            </a:xfrm>
            <a:custGeom>
              <a:avLst/>
              <a:gdLst/>
              <a:ahLst/>
              <a:cxnLst/>
              <a:rect l="l" t="t" r="r" b="b"/>
              <a:pathLst>
                <a:path w="4717" h="3715" extrusionOk="0">
                  <a:moveTo>
                    <a:pt x="3738" y="1"/>
                  </a:moveTo>
                  <a:cubicBezTo>
                    <a:pt x="3619" y="1396"/>
                    <a:pt x="1914" y="1831"/>
                    <a:pt x="1914" y="1831"/>
                  </a:cubicBezTo>
                  <a:cubicBezTo>
                    <a:pt x="1050" y="1330"/>
                    <a:pt x="1103" y="78"/>
                    <a:pt x="1103" y="78"/>
                  </a:cubicBezTo>
                  <a:lnTo>
                    <a:pt x="1103" y="78"/>
                  </a:lnTo>
                  <a:lnTo>
                    <a:pt x="84" y="996"/>
                  </a:lnTo>
                  <a:cubicBezTo>
                    <a:pt x="0" y="2010"/>
                    <a:pt x="519" y="3452"/>
                    <a:pt x="519" y="3452"/>
                  </a:cubicBezTo>
                  <a:lnTo>
                    <a:pt x="1854" y="2135"/>
                  </a:lnTo>
                  <a:lnTo>
                    <a:pt x="2367" y="3715"/>
                  </a:lnTo>
                  <a:cubicBezTo>
                    <a:pt x="3625" y="3089"/>
                    <a:pt x="4716" y="1032"/>
                    <a:pt x="4716" y="1032"/>
                  </a:cubicBezTo>
                  <a:lnTo>
                    <a:pt x="37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7737719" y="2174534"/>
              <a:ext cx="229233" cy="80353"/>
            </a:xfrm>
            <a:custGeom>
              <a:avLst/>
              <a:gdLst/>
              <a:ahLst/>
              <a:cxnLst/>
              <a:rect l="l" t="t" r="r" b="b"/>
              <a:pathLst>
                <a:path w="2636" h="924" extrusionOk="0">
                  <a:moveTo>
                    <a:pt x="2635" y="0"/>
                  </a:moveTo>
                  <a:lnTo>
                    <a:pt x="0" y="298"/>
                  </a:lnTo>
                  <a:cubicBezTo>
                    <a:pt x="0" y="298"/>
                    <a:pt x="930" y="923"/>
                    <a:pt x="2318" y="923"/>
                  </a:cubicBezTo>
                  <a:cubicBezTo>
                    <a:pt x="2421" y="923"/>
                    <a:pt x="2527" y="920"/>
                    <a:pt x="2635" y="912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434343">
                <a:alpha val="295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7572838" y="1396307"/>
              <a:ext cx="560038" cy="827535"/>
            </a:xfrm>
            <a:custGeom>
              <a:avLst/>
              <a:gdLst/>
              <a:ahLst/>
              <a:cxnLst/>
              <a:rect l="l" t="t" r="r" b="b"/>
              <a:pathLst>
                <a:path w="6440" h="9516" extrusionOk="0">
                  <a:moveTo>
                    <a:pt x="3227" y="0"/>
                  </a:moveTo>
                  <a:cubicBezTo>
                    <a:pt x="3225" y="0"/>
                    <a:pt x="3222" y="0"/>
                    <a:pt x="3220" y="0"/>
                  </a:cubicBezTo>
                  <a:cubicBezTo>
                    <a:pt x="1437" y="0"/>
                    <a:pt x="0" y="2135"/>
                    <a:pt x="0" y="4758"/>
                  </a:cubicBezTo>
                  <a:cubicBezTo>
                    <a:pt x="0" y="7381"/>
                    <a:pt x="781" y="9516"/>
                    <a:pt x="3220" y="9516"/>
                  </a:cubicBezTo>
                  <a:cubicBezTo>
                    <a:pt x="5575" y="9516"/>
                    <a:pt x="6439" y="7381"/>
                    <a:pt x="6439" y="4758"/>
                  </a:cubicBezTo>
                  <a:cubicBezTo>
                    <a:pt x="6439" y="2132"/>
                    <a:pt x="5006" y="0"/>
                    <a:pt x="3227" y="0"/>
                  </a:cubicBezTo>
                  <a:close/>
                </a:path>
              </a:pathLst>
            </a:custGeom>
            <a:solidFill>
              <a:srgbClr val="5C39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8063307" y="1768506"/>
              <a:ext cx="128618" cy="181578"/>
            </a:xfrm>
            <a:custGeom>
              <a:avLst/>
              <a:gdLst/>
              <a:ahLst/>
              <a:cxnLst/>
              <a:rect l="l" t="t" r="r" b="b"/>
              <a:pathLst>
                <a:path w="1479" h="2088" extrusionOk="0">
                  <a:moveTo>
                    <a:pt x="740" y="1"/>
                  </a:moveTo>
                  <a:cubicBezTo>
                    <a:pt x="334" y="1"/>
                    <a:pt x="0" y="466"/>
                    <a:pt x="0" y="1044"/>
                  </a:cubicBezTo>
                  <a:cubicBezTo>
                    <a:pt x="0" y="1623"/>
                    <a:pt x="334" y="2088"/>
                    <a:pt x="740" y="2088"/>
                  </a:cubicBezTo>
                  <a:cubicBezTo>
                    <a:pt x="1145" y="2088"/>
                    <a:pt x="1479" y="1623"/>
                    <a:pt x="1479" y="1044"/>
                  </a:cubicBezTo>
                  <a:cubicBezTo>
                    <a:pt x="1479" y="466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5C39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7508573" y="1768506"/>
              <a:ext cx="128618" cy="181578"/>
            </a:xfrm>
            <a:custGeom>
              <a:avLst/>
              <a:gdLst/>
              <a:ahLst/>
              <a:cxnLst/>
              <a:rect l="l" t="t" r="r" b="b"/>
              <a:pathLst>
                <a:path w="1479" h="2088" extrusionOk="0">
                  <a:moveTo>
                    <a:pt x="739" y="1"/>
                  </a:moveTo>
                  <a:cubicBezTo>
                    <a:pt x="334" y="1"/>
                    <a:pt x="0" y="466"/>
                    <a:pt x="0" y="1044"/>
                  </a:cubicBezTo>
                  <a:cubicBezTo>
                    <a:pt x="0" y="1623"/>
                    <a:pt x="334" y="2088"/>
                    <a:pt x="739" y="2088"/>
                  </a:cubicBezTo>
                  <a:cubicBezTo>
                    <a:pt x="1145" y="2088"/>
                    <a:pt x="1479" y="1623"/>
                    <a:pt x="1479" y="1044"/>
                  </a:cubicBezTo>
                  <a:cubicBezTo>
                    <a:pt x="1479" y="466"/>
                    <a:pt x="1145" y="1"/>
                    <a:pt x="739" y="1"/>
                  </a:cubicBezTo>
                  <a:close/>
                </a:path>
              </a:pathLst>
            </a:custGeom>
            <a:solidFill>
              <a:srgbClr val="5C39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8119311" y="1807466"/>
              <a:ext cx="33741" cy="113573"/>
            </a:xfrm>
            <a:custGeom>
              <a:avLst/>
              <a:gdLst/>
              <a:ahLst/>
              <a:cxnLst/>
              <a:rect l="l" t="t" r="r" b="b"/>
              <a:pathLst>
                <a:path w="388" h="1306" fill="none" extrusionOk="0">
                  <a:moveTo>
                    <a:pt x="113" y="0"/>
                  </a:moveTo>
                  <a:cubicBezTo>
                    <a:pt x="221" y="30"/>
                    <a:pt x="292" y="143"/>
                    <a:pt x="328" y="245"/>
                  </a:cubicBezTo>
                  <a:cubicBezTo>
                    <a:pt x="388" y="435"/>
                    <a:pt x="370" y="632"/>
                    <a:pt x="304" y="811"/>
                  </a:cubicBezTo>
                  <a:cubicBezTo>
                    <a:pt x="239" y="990"/>
                    <a:pt x="125" y="1157"/>
                    <a:pt x="0" y="1306"/>
                  </a:cubicBezTo>
                </a:path>
              </a:pathLst>
            </a:custGeom>
            <a:solidFill>
              <a:srgbClr val="000000"/>
            </a:solidFill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7539619" y="1807466"/>
              <a:ext cx="33828" cy="113573"/>
            </a:xfrm>
            <a:custGeom>
              <a:avLst/>
              <a:gdLst/>
              <a:ahLst/>
              <a:cxnLst/>
              <a:rect l="l" t="t" r="r" b="b"/>
              <a:pathLst>
                <a:path w="389" h="1306" fill="none" extrusionOk="0">
                  <a:moveTo>
                    <a:pt x="281" y="0"/>
                  </a:moveTo>
                  <a:cubicBezTo>
                    <a:pt x="168" y="30"/>
                    <a:pt x="102" y="143"/>
                    <a:pt x="60" y="245"/>
                  </a:cubicBezTo>
                  <a:cubicBezTo>
                    <a:pt x="1" y="435"/>
                    <a:pt x="19" y="632"/>
                    <a:pt x="84" y="811"/>
                  </a:cubicBezTo>
                  <a:cubicBezTo>
                    <a:pt x="150" y="990"/>
                    <a:pt x="263" y="1157"/>
                    <a:pt x="388" y="1306"/>
                  </a:cubicBezTo>
                </a:path>
              </a:pathLst>
            </a:custGeom>
            <a:solidFill>
              <a:srgbClr val="000000"/>
            </a:solidFill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7766243" y="2043830"/>
              <a:ext cx="152967" cy="71135"/>
            </a:xfrm>
            <a:custGeom>
              <a:avLst/>
              <a:gdLst/>
              <a:ahLst/>
              <a:cxnLst/>
              <a:rect l="l" t="t" r="r" b="b"/>
              <a:pathLst>
                <a:path w="1759" h="818" extrusionOk="0">
                  <a:moveTo>
                    <a:pt x="0" y="1"/>
                  </a:moveTo>
                  <a:cubicBezTo>
                    <a:pt x="0" y="1"/>
                    <a:pt x="42" y="817"/>
                    <a:pt x="900" y="817"/>
                  </a:cubicBezTo>
                  <a:cubicBezTo>
                    <a:pt x="1759" y="817"/>
                    <a:pt x="1759" y="1"/>
                    <a:pt x="17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7790071" y="1821988"/>
              <a:ext cx="69570" cy="164359"/>
            </a:xfrm>
            <a:custGeom>
              <a:avLst/>
              <a:gdLst/>
              <a:ahLst/>
              <a:cxnLst/>
              <a:rect l="l" t="t" r="r" b="b"/>
              <a:pathLst>
                <a:path w="800" h="1890" fill="none" extrusionOk="0">
                  <a:moveTo>
                    <a:pt x="638" y="0"/>
                  </a:moveTo>
                  <a:cubicBezTo>
                    <a:pt x="662" y="334"/>
                    <a:pt x="561" y="686"/>
                    <a:pt x="352" y="954"/>
                  </a:cubicBezTo>
                  <a:cubicBezTo>
                    <a:pt x="269" y="1055"/>
                    <a:pt x="173" y="1145"/>
                    <a:pt x="102" y="1258"/>
                  </a:cubicBezTo>
                  <a:cubicBezTo>
                    <a:pt x="36" y="1371"/>
                    <a:pt x="0" y="1508"/>
                    <a:pt x="54" y="1628"/>
                  </a:cubicBezTo>
                  <a:cubicBezTo>
                    <a:pt x="102" y="1759"/>
                    <a:pt x="233" y="1824"/>
                    <a:pt x="364" y="1854"/>
                  </a:cubicBezTo>
                  <a:cubicBezTo>
                    <a:pt x="501" y="1884"/>
                    <a:pt x="632" y="1866"/>
                    <a:pt x="769" y="1878"/>
                  </a:cubicBezTo>
                  <a:cubicBezTo>
                    <a:pt x="775" y="1878"/>
                    <a:pt x="781" y="1878"/>
                    <a:pt x="787" y="1884"/>
                  </a:cubicBezTo>
                  <a:cubicBezTo>
                    <a:pt x="799" y="1890"/>
                    <a:pt x="775" y="1890"/>
                    <a:pt x="775" y="1884"/>
                  </a:cubicBezTo>
                </a:path>
              </a:pathLst>
            </a:custGeom>
            <a:solidFill>
              <a:srgbClr val="000000"/>
            </a:solidFill>
            <a:ln w="52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7747024" y="1361087"/>
              <a:ext cx="385331" cy="407506"/>
            </a:xfrm>
            <a:custGeom>
              <a:avLst/>
              <a:gdLst/>
              <a:ahLst/>
              <a:cxnLst/>
              <a:rect l="l" t="t" r="r" b="b"/>
              <a:pathLst>
                <a:path w="4431" h="4686" extrusionOk="0">
                  <a:moveTo>
                    <a:pt x="1902" y="0"/>
                  </a:moveTo>
                  <a:cubicBezTo>
                    <a:pt x="791" y="0"/>
                    <a:pt x="1" y="399"/>
                    <a:pt x="1" y="399"/>
                  </a:cubicBezTo>
                  <a:cubicBezTo>
                    <a:pt x="1" y="399"/>
                    <a:pt x="996" y="1818"/>
                    <a:pt x="1849" y="2724"/>
                  </a:cubicBezTo>
                  <a:cubicBezTo>
                    <a:pt x="2695" y="3619"/>
                    <a:pt x="4430" y="4686"/>
                    <a:pt x="4430" y="4686"/>
                  </a:cubicBezTo>
                  <a:cubicBezTo>
                    <a:pt x="4430" y="4686"/>
                    <a:pt x="4365" y="393"/>
                    <a:pt x="2797" y="89"/>
                  </a:cubicBezTo>
                  <a:cubicBezTo>
                    <a:pt x="2483" y="26"/>
                    <a:pt x="2182" y="0"/>
                    <a:pt x="19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7546402" y="1376567"/>
              <a:ext cx="310021" cy="392201"/>
            </a:xfrm>
            <a:custGeom>
              <a:avLst/>
              <a:gdLst/>
              <a:ahLst/>
              <a:cxnLst/>
              <a:rect l="l" t="t" r="r" b="b"/>
              <a:pathLst>
                <a:path w="3565" h="4510" extrusionOk="0">
                  <a:moveTo>
                    <a:pt x="2951" y="1"/>
                  </a:moveTo>
                  <a:cubicBezTo>
                    <a:pt x="2945" y="1"/>
                    <a:pt x="0" y="1"/>
                    <a:pt x="304" y="4508"/>
                  </a:cubicBezTo>
                  <a:cubicBezTo>
                    <a:pt x="304" y="4509"/>
                    <a:pt x="305" y="4509"/>
                    <a:pt x="306" y="4509"/>
                  </a:cubicBezTo>
                  <a:cubicBezTo>
                    <a:pt x="387" y="4509"/>
                    <a:pt x="3564" y="1827"/>
                    <a:pt x="295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7894773" y="1722329"/>
              <a:ext cx="133574" cy="32959"/>
            </a:xfrm>
            <a:custGeom>
              <a:avLst/>
              <a:gdLst/>
              <a:ahLst/>
              <a:cxnLst/>
              <a:rect l="l" t="t" r="r" b="b"/>
              <a:pathLst>
                <a:path w="1536" h="379" extrusionOk="0">
                  <a:moveTo>
                    <a:pt x="417" y="1"/>
                  </a:moveTo>
                  <a:cubicBezTo>
                    <a:pt x="276" y="1"/>
                    <a:pt x="133" y="47"/>
                    <a:pt x="60" y="115"/>
                  </a:cubicBezTo>
                  <a:cubicBezTo>
                    <a:pt x="1" y="174"/>
                    <a:pt x="19" y="234"/>
                    <a:pt x="317" y="234"/>
                  </a:cubicBezTo>
                  <a:cubicBezTo>
                    <a:pt x="734" y="240"/>
                    <a:pt x="1163" y="323"/>
                    <a:pt x="1390" y="377"/>
                  </a:cubicBezTo>
                  <a:cubicBezTo>
                    <a:pt x="1398" y="378"/>
                    <a:pt x="1407" y="379"/>
                    <a:pt x="1415" y="379"/>
                  </a:cubicBezTo>
                  <a:cubicBezTo>
                    <a:pt x="1478" y="379"/>
                    <a:pt x="1535" y="343"/>
                    <a:pt x="1509" y="311"/>
                  </a:cubicBezTo>
                  <a:cubicBezTo>
                    <a:pt x="1426" y="192"/>
                    <a:pt x="1187" y="25"/>
                    <a:pt x="442" y="1"/>
                  </a:cubicBezTo>
                  <a:cubicBezTo>
                    <a:pt x="433" y="1"/>
                    <a:pt x="425" y="1"/>
                    <a:pt x="4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7681454" y="1722329"/>
              <a:ext cx="133053" cy="32959"/>
            </a:xfrm>
            <a:custGeom>
              <a:avLst/>
              <a:gdLst/>
              <a:ahLst/>
              <a:cxnLst/>
              <a:rect l="l" t="t" r="r" b="b"/>
              <a:pathLst>
                <a:path w="1530" h="379" extrusionOk="0">
                  <a:moveTo>
                    <a:pt x="1120" y="1"/>
                  </a:moveTo>
                  <a:cubicBezTo>
                    <a:pt x="1111" y="1"/>
                    <a:pt x="1103" y="1"/>
                    <a:pt x="1094" y="1"/>
                  </a:cubicBezTo>
                  <a:cubicBezTo>
                    <a:pt x="349" y="25"/>
                    <a:pt x="99" y="192"/>
                    <a:pt x="27" y="311"/>
                  </a:cubicBezTo>
                  <a:cubicBezTo>
                    <a:pt x="1" y="343"/>
                    <a:pt x="53" y="379"/>
                    <a:pt x="119" y="379"/>
                  </a:cubicBezTo>
                  <a:cubicBezTo>
                    <a:pt x="128" y="379"/>
                    <a:pt x="137" y="378"/>
                    <a:pt x="146" y="377"/>
                  </a:cubicBezTo>
                  <a:cubicBezTo>
                    <a:pt x="367" y="323"/>
                    <a:pt x="802" y="240"/>
                    <a:pt x="1220" y="234"/>
                  </a:cubicBezTo>
                  <a:cubicBezTo>
                    <a:pt x="1518" y="234"/>
                    <a:pt x="1530" y="174"/>
                    <a:pt x="1470" y="115"/>
                  </a:cubicBezTo>
                  <a:cubicBezTo>
                    <a:pt x="1402" y="47"/>
                    <a:pt x="1261" y="1"/>
                    <a:pt x="112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7908774" y="1781029"/>
              <a:ext cx="51917" cy="76266"/>
            </a:xfrm>
            <a:custGeom>
              <a:avLst/>
              <a:gdLst/>
              <a:ahLst/>
              <a:cxnLst/>
              <a:rect l="l" t="t" r="r" b="b"/>
              <a:pathLst>
                <a:path w="597" h="877" extrusionOk="0">
                  <a:moveTo>
                    <a:pt x="299" y="0"/>
                  </a:moveTo>
                  <a:cubicBezTo>
                    <a:pt x="132" y="0"/>
                    <a:pt x="1" y="197"/>
                    <a:pt x="1" y="435"/>
                  </a:cubicBezTo>
                  <a:cubicBezTo>
                    <a:pt x="1" y="680"/>
                    <a:pt x="132" y="876"/>
                    <a:pt x="299" y="876"/>
                  </a:cubicBezTo>
                  <a:cubicBezTo>
                    <a:pt x="460" y="876"/>
                    <a:pt x="597" y="680"/>
                    <a:pt x="597" y="435"/>
                  </a:cubicBezTo>
                  <a:cubicBezTo>
                    <a:pt x="597" y="197"/>
                    <a:pt x="460" y="0"/>
                    <a:pt x="2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7940429" y="1770594"/>
              <a:ext cx="32176" cy="29132"/>
            </a:xfrm>
            <a:custGeom>
              <a:avLst/>
              <a:gdLst/>
              <a:ahLst/>
              <a:cxnLst/>
              <a:rect l="l" t="t" r="r" b="b"/>
              <a:pathLst>
                <a:path w="370" h="335" extrusionOk="0">
                  <a:moveTo>
                    <a:pt x="370" y="1"/>
                  </a:moveTo>
                  <a:cubicBezTo>
                    <a:pt x="322" y="144"/>
                    <a:pt x="0" y="215"/>
                    <a:pt x="0" y="215"/>
                  </a:cubicBezTo>
                  <a:lnTo>
                    <a:pt x="42" y="335"/>
                  </a:lnTo>
                  <a:cubicBezTo>
                    <a:pt x="352" y="335"/>
                    <a:pt x="370" y="1"/>
                    <a:pt x="3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7946603" y="1791899"/>
              <a:ext cx="27567" cy="16088"/>
            </a:xfrm>
            <a:custGeom>
              <a:avLst/>
              <a:gdLst/>
              <a:ahLst/>
              <a:cxnLst/>
              <a:rect l="l" t="t" r="r" b="b"/>
              <a:pathLst>
                <a:path w="317" h="185" extrusionOk="0">
                  <a:moveTo>
                    <a:pt x="317" y="0"/>
                  </a:moveTo>
                  <a:lnTo>
                    <a:pt x="317" y="0"/>
                  </a:lnTo>
                  <a:cubicBezTo>
                    <a:pt x="265" y="71"/>
                    <a:pt x="98" y="78"/>
                    <a:pt x="30" y="78"/>
                  </a:cubicBezTo>
                  <a:cubicBezTo>
                    <a:pt x="12" y="78"/>
                    <a:pt x="1" y="78"/>
                    <a:pt x="1" y="78"/>
                  </a:cubicBezTo>
                  <a:lnTo>
                    <a:pt x="1" y="78"/>
                  </a:lnTo>
                  <a:lnTo>
                    <a:pt x="13" y="173"/>
                  </a:lnTo>
                  <a:cubicBezTo>
                    <a:pt x="39" y="181"/>
                    <a:pt x="63" y="185"/>
                    <a:pt x="85" y="185"/>
                  </a:cubicBezTo>
                  <a:cubicBezTo>
                    <a:pt x="248" y="185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7735632" y="1781029"/>
              <a:ext cx="51917" cy="76266"/>
            </a:xfrm>
            <a:custGeom>
              <a:avLst/>
              <a:gdLst/>
              <a:ahLst/>
              <a:cxnLst/>
              <a:rect l="l" t="t" r="r" b="b"/>
              <a:pathLst>
                <a:path w="597" h="877" extrusionOk="0">
                  <a:moveTo>
                    <a:pt x="298" y="0"/>
                  </a:moveTo>
                  <a:cubicBezTo>
                    <a:pt x="132" y="0"/>
                    <a:pt x="0" y="197"/>
                    <a:pt x="0" y="435"/>
                  </a:cubicBezTo>
                  <a:cubicBezTo>
                    <a:pt x="0" y="680"/>
                    <a:pt x="132" y="876"/>
                    <a:pt x="298" y="876"/>
                  </a:cubicBezTo>
                  <a:cubicBezTo>
                    <a:pt x="459" y="876"/>
                    <a:pt x="597" y="680"/>
                    <a:pt x="597" y="435"/>
                  </a:cubicBezTo>
                  <a:cubicBezTo>
                    <a:pt x="597" y="197"/>
                    <a:pt x="459" y="0"/>
                    <a:pt x="29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7723196" y="1770594"/>
              <a:ext cx="32698" cy="29132"/>
            </a:xfrm>
            <a:custGeom>
              <a:avLst/>
              <a:gdLst/>
              <a:ahLst/>
              <a:cxnLst/>
              <a:rect l="l" t="t" r="r" b="b"/>
              <a:pathLst>
                <a:path w="376" h="335" extrusionOk="0">
                  <a:moveTo>
                    <a:pt x="0" y="1"/>
                  </a:moveTo>
                  <a:cubicBezTo>
                    <a:pt x="0" y="1"/>
                    <a:pt x="24" y="335"/>
                    <a:pt x="328" y="335"/>
                  </a:cubicBezTo>
                  <a:lnTo>
                    <a:pt x="376" y="215"/>
                  </a:lnTo>
                  <a:cubicBezTo>
                    <a:pt x="376" y="215"/>
                    <a:pt x="54" y="144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7722153" y="1791899"/>
              <a:ext cx="27045" cy="16088"/>
            </a:xfrm>
            <a:custGeom>
              <a:avLst/>
              <a:gdLst/>
              <a:ahLst/>
              <a:cxnLst/>
              <a:rect l="l" t="t" r="r" b="b"/>
              <a:pathLst>
                <a:path w="311" h="185" extrusionOk="0">
                  <a:moveTo>
                    <a:pt x="0" y="0"/>
                  </a:moveTo>
                  <a:cubicBezTo>
                    <a:pt x="0" y="0"/>
                    <a:pt x="70" y="185"/>
                    <a:pt x="232" y="185"/>
                  </a:cubicBezTo>
                  <a:cubicBezTo>
                    <a:pt x="254" y="185"/>
                    <a:pt x="278" y="181"/>
                    <a:pt x="304" y="173"/>
                  </a:cubicBezTo>
                  <a:lnTo>
                    <a:pt x="310" y="78"/>
                  </a:lnTo>
                  <a:lnTo>
                    <a:pt x="310" y="78"/>
                  </a:lnTo>
                  <a:cubicBezTo>
                    <a:pt x="310" y="78"/>
                    <a:pt x="300" y="78"/>
                    <a:pt x="282" y="78"/>
                  </a:cubicBezTo>
                  <a:cubicBezTo>
                    <a:pt x="215" y="78"/>
                    <a:pt x="52" y="7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6"/>
          <p:cNvGrpSpPr/>
          <p:nvPr/>
        </p:nvGrpSpPr>
        <p:grpSpPr>
          <a:xfrm>
            <a:off x="4360573" y="1133739"/>
            <a:ext cx="2393337" cy="3200906"/>
            <a:chOff x="4131973" y="839454"/>
            <a:chExt cx="2393337" cy="3200906"/>
          </a:xfrm>
        </p:grpSpPr>
        <p:grpSp>
          <p:nvGrpSpPr>
            <p:cNvPr id="464" name="Google Shape;464;p36"/>
            <p:cNvGrpSpPr/>
            <p:nvPr/>
          </p:nvGrpSpPr>
          <p:grpSpPr>
            <a:xfrm>
              <a:off x="5860677" y="2239605"/>
              <a:ext cx="664633" cy="664286"/>
              <a:chOff x="6212418" y="1482331"/>
              <a:chExt cx="627249" cy="626921"/>
            </a:xfrm>
          </p:grpSpPr>
          <p:sp>
            <p:nvSpPr>
              <p:cNvPr id="465" name="Google Shape;465;p36"/>
              <p:cNvSpPr/>
              <p:nvPr/>
            </p:nvSpPr>
            <p:spPr>
              <a:xfrm>
                <a:off x="6212418" y="1482331"/>
                <a:ext cx="627249" cy="620800"/>
              </a:xfrm>
              <a:custGeom>
                <a:avLst/>
                <a:gdLst/>
                <a:ahLst/>
                <a:cxnLst/>
                <a:rect l="l" t="t" r="r" b="b"/>
                <a:pathLst>
                  <a:path w="7782" h="7702" extrusionOk="0">
                    <a:moveTo>
                      <a:pt x="6112" y="1623"/>
                    </a:moveTo>
                    <a:cubicBezTo>
                      <a:pt x="6112" y="1623"/>
                      <a:pt x="6112" y="1623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12" y="1623"/>
                      <a:pt x="6112" y="1623"/>
                    </a:cubicBezTo>
                    <a:close/>
                    <a:moveTo>
                      <a:pt x="1032" y="1"/>
                    </a:moveTo>
                    <a:cubicBezTo>
                      <a:pt x="1032" y="1"/>
                      <a:pt x="1" y="4037"/>
                      <a:pt x="1909" y="6207"/>
                    </a:cubicBezTo>
                    <a:cubicBezTo>
                      <a:pt x="1909" y="6207"/>
                      <a:pt x="3569" y="7701"/>
                      <a:pt x="5835" y="7701"/>
                    </a:cubicBezTo>
                    <a:cubicBezTo>
                      <a:pt x="6447" y="7701"/>
                      <a:pt x="7102" y="7592"/>
                      <a:pt x="7781" y="7316"/>
                    </a:cubicBezTo>
                    <a:cubicBezTo>
                      <a:pt x="7781" y="7316"/>
                      <a:pt x="5635" y="6499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09" y="1623"/>
                      <a:pt x="6104" y="1623"/>
                    </a:cubicBezTo>
                    <a:cubicBezTo>
                      <a:pt x="5980" y="1623"/>
                      <a:pt x="4400" y="1465"/>
                      <a:pt x="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36"/>
              <p:cNvSpPr/>
              <p:nvPr/>
            </p:nvSpPr>
            <p:spPr>
              <a:xfrm>
                <a:off x="6365722" y="1881228"/>
                <a:ext cx="473459" cy="228024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2829" extrusionOk="0">
                    <a:moveTo>
                      <a:pt x="5873" y="2367"/>
                    </a:moveTo>
                    <a:cubicBezTo>
                      <a:pt x="5872" y="2368"/>
                      <a:pt x="5870" y="2368"/>
                      <a:pt x="5869" y="2369"/>
                    </a:cubicBezTo>
                    <a:lnTo>
                      <a:pt x="5869" y="2369"/>
                    </a:lnTo>
                    <a:cubicBezTo>
                      <a:pt x="5872" y="2368"/>
                      <a:pt x="5874" y="2368"/>
                      <a:pt x="5873" y="2367"/>
                    </a:cubicBezTo>
                    <a:close/>
                    <a:moveTo>
                      <a:pt x="2141" y="0"/>
                    </a:moveTo>
                    <a:cubicBezTo>
                      <a:pt x="2141" y="0"/>
                      <a:pt x="1496" y="1415"/>
                      <a:pt x="546" y="1415"/>
                    </a:cubicBezTo>
                    <a:cubicBezTo>
                      <a:pt x="373" y="1415"/>
                      <a:pt x="191" y="1368"/>
                      <a:pt x="1" y="1258"/>
                    </a:cubicBezTo>
                    <a:lnTo>
                      <a:pt x="1" y="1258"/>
                    </a:lnTo>
                    <a:cubicBezTo>
                      <a:pt x="1" y="1258"/>
                      <a:pt x="1394" y="2828"/>
                      <a:pt x="3689" y="2828"/>
                    </a:cubicBezTo>
                    <a:cubicBezTo>
                      <a:pt x="4346" y="2828"/>
                      <a:pt x="5076" y="2700"/>
                      <a:pt x="5869" y="2369"/>
                    </a:cubicBezTo>
                    <a:lnTo>
                      <a:pt x="5869" y="2369"/>
                    </a:lnTo>
                    <a:cubicBezTo>
                      <a:pt x="5850" y="2374"/>
                      <a:pt x="5766" y="2386"/>
                      <a:pt x="5633" y="2386"/>
                    </a:cubicBezTo>
                    <a:cubicBezTo>
                      <a:pt x="5034" y="2386"/>
                      <a:pt x="3434" y="2150"/>
                      <a:pt x="2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7" name="Google Shape;467;p36"/>
            <p:cNvGrpSpPr/>
            <p:nvPr/>
          </p:nvGrpSpPr>
          <p:grpSpPr>
            <a:xfrm>
              <a:off x="4131973" y="839454"/>
              <a:ext cx="845522" cy="916625"/>
              <a:chOff x="7511392" y="307000"/>
              <a:chExt cx="863570" cy="936192"/>
            </a:xfrm>
          </p:grpSpPr>
          <p:sp>
            <p:nvSpPr>
              <p:cNvPr id="468" name="Google Shape;468;p36"/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36"/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0" name="Google Shape;470;p36"/>
            <p:cNvGrpSpPr/>
            <p:nvPr/>
          </p:nvGrpSpPr>
          <p:grpSpPr>
            <a:xfrm rot="6978379">
              <a:off x="5218238" y="3263091"/>
              <a:ext cx="664657" cy="664310"/>
              <a:chOff x="6212418" y="1482331"/>
              <a:chExt cx="627249" cy="626921"/>
            </a:xfrm>
          </p:grpSpPr>
          <p:sp>
            <p:nvSpPr>
              <p:cNvPr id="471" name="Google Shape;471;p36"/>
              <p:cNvSpPr/>
              <p:nvPr/>
            </p:nvSpPr>
            <p:spPr>
              <a:xfrm>
                <a:off x="6212418" y="1482331"/>
                <a:ext cx="627249" cy="620800"/>
              </a:xfrm>
              <a:custGeom>
                <a:avLst/>
                <a:gdLst/>
                <a:ahLst/>
                <a:cxnLst/>
                <a:rect l="l" t="t" r="r" b="b"/>
                <a:pathLst>
                  <a:path w="7782" h="7702" extrusionOk="0">
                    <a:moveTo>
                      <a:pt x="6112" y="1623"/>
                    </a:moveTo>
                    <a:cubicBezTo>
                      <a:pt x="6112" y="1623"/>
                      <a:pt x="6112" y="1623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12" y="1623"/>
                      <a:pt x="6112" y="1623"/>
                    </a:cubicBezTo>
                    <a:close/>
                    <a:moveTo>
                      <a:pt x="1032" y="1"/>
                    </a:moveTo>
                    <a:cubicBezTo>
                      <a:pt x="1032" y="1"/>
                      <a:pt x="1" y="4037"/>
                      <a:pt x="1909" y="6207"/>
                    </a:cubicBezTo>
                    <a:cubicBezTo>
                      <a:pt x="1909" y="6207"/>
                      <a:pt x="3569" y="7701"/>
                      <a:pt x="5835" y="7701"/>
                    </a:cubicBezTo>
                    <a:cubicBezTo>
                      <a:pt x="6447" y="7701"/>
                      <a:pt x="7102" y="7592"/>
                      <a:pt x="7781" y="7316"/>
                    </a:cubicBezTo>
                    <a:cubicBezTo>
                      <a:pt x="7781" y="7316"/>
                      <a:pt x="5635" y="6499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09" y="1623"/>
                      <a:pt x="6104" y="1623"/>
                    </a:cubicBezTo>
                    <a:cubicBezTo>
                      <a:pt x="5980" y="1623"/>
                      <a:pt x="4400" y="1465"/>
                      <a:pt x="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36"/>
              <p:cNvSpPr/>
              <p:nvPr/>
            </p:nvSpPr>
            <p:spPr>
              <a:xfrm>
                <a:off x="6365722" y="1881228"/>
                <a:ext cx="473459" cy="228024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2829" extrusionOk="0">
                    <a:moveTo>
                      <a:pt x="5873" y="2367"/>
                    </a:moveTo>
                    <a:cubicBezTo>
                      <a:pt x="5872" y="2368"/>
                      <a:pt x="5870" y="2368"/>
                      <a:pt x="5869" y="2369"/>
                    </a:cubicBezTo>
                    <a:lnTo>
                      <a:pt x="5869" y="2369"/>
                    </a:lnTo>
                    <a:cubicBezTo>
                      <a:pt x="5872" y="2368"/>
                      <a:pt x="5874" y="2368"/>
                      <a:pt x="5873" y="2367"/>
                    </a:cubicBezTo>
                    <a:close/>
                    <a:moveTo>
                      <a:pt x="2141" y="0"/>
                    </a:moveTo>
                    <a:cubicBezTo>
                      <a:pt x="2141" y="0"/>
                      <a:pt x="1496" y="1415"/>
                      <a:pt x="546" y="1415"/>
                    </a:cubicBezTo>
                    <a:cubicBezTo>
                      <a:pt x="373" y="1415"/>
                      <a:pt x="191" y="1368"/>
                      <a:pt x="1" y="1258"/>
                    </a:cubicBezTo>
                    <a:lnTo>
                      <a:pt x="1" y="1258"/>
                    </a:lnTo>
                    <a:cubicBezTo>
                      <a:pt x="1" y="1258"/>
                      <a:pt x="1394" y="2828"/>
                      <a:pt x="3689" y="2828"/>
                    </a:cubicBezTo>
                    <a:cubicBezTo>
                      <a:pt x="4346" y="2828"/>
                      <a:pt x="5076" y="2700"/>
                      <a:pt x="5869" y="2369"/>
                    </a:cubicBezTo>
                    <a:lnTo>
                      <a:pt x="5869" y="2369"/>
                    </a:lnTo>
                    <a:cubicBezTo>
                      <a:pt x="5850" y="2374"/>
                      <a:pt x="5766" y="2386"/>
                      <a:pt x="5633" y="2386"/>
                    </a:cubicBezTo>
                    <a:cubicBezTo>
                      <a:pt x="5034" y="2386"/>
                      <a:pt x="3434" y="2150"/>
                      <a:pt x="2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3" name="Google Shape;473;p36"/>
          <p:cNvSpPr txBox="1">
            <a:spLocks noGrp="1"/>
          </p:cNvSpPr>
          <p:nvPr>
            <p:ph type="subTitle" idx="1"/>
          </p:nvPr>
        </p:nvSpPr>
        <p:spPr>
          <a:xfrm>
            <a:off x="1069178" y="1411912"/>
            <a:ext cx="3216586" cy="38045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Case Initiation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Tracking Items 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Case Inquiry/Maintenance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Work Queue  and Tasks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Calendaring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Bench Warrants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User Administration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 err="1"/>
              <a:t>eCourt</a:t>
            </a:r>
            <a:r>
              <a:rPr lang="en-US" sz="1400" dirty="0"/>
              <a:t> Kokua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Scheduling &amp; Events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Adoption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Person/Business Maintenance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Charge Code Maintenance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Interfaces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Unknown Party/Default Judgment</a:t>
            </a:r>
            <a:endParaRPr sz="1400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474" name="Google Shape;474;p36"/>
          <p:cNvSpPr txBox="1">
            <a:spLocks noGrp="1"/>
          </p:cNvSpPr>
          <p:nvPr>
            <p:ph type="title"/>
          </p:nvPr>
        </p:nvSpPr>
        <p:spPr>
          <a:xfrm>
            <a:off x="212271" y="832401"/>
            <a:ext cx="5122089" cy="7910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u="sng" dirty="0">
                <a:latin typeface="Archivo" panose="020B0604020202020204" charset="0"/>
                <a:cs typeface="Archivo" panose="020B0604020202020204" charset="0"/>
              </a:rPr>
              <a:t>Primary Functions of JIMS Portal</a:t>
            </a:r>
            <a:br>
              <a:rPr lang="en-US" sz="2400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2400" u="sng" dirty="0">
              <a:latin typeface="Archivo" panose="020B0604020202020204" charset="0"/>
              <a:cs typeface="Archivo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38"/>
          <p:cNvGrpSpPr/>
          <p:nvPr/>
        </p:nvGrpSpPr>
        <p:grpSpPr>
          <a:xfrm>
            <a:off x="5755702" y="1265077"/>
            <a:ext cx="664633" cy="664286"/>
            <a:chOff x="6212418" y="1482331"/>
            <a:chExt cx="627249" cy="626921"/>
          </a:xfrm>
        </p:grpSpPr>
        <p:sp>
          <p:nvSpPr>
            <p:cNvPr id="544" name="Google Shape;544;p38"/>
            <p:cNvSpPr/>
            <p:nvPr/>
          </p:nvSpPr>
          <p:spPr>
            <a:xfrm>
              <a:off x="6212418" y="1482331"/>
              <a:ext cx="627249" cy="620800"/>
            </a:xfrm>
            <a:custGeom>
              <a:avLst/>
              <a:gdLst/>
              <a:ahLst/>
              <a:cxnLst/>
              <a:rect l="l" t="t" r="r" b="b"/>
              <a:pathLst>
                <a:path w="7782" h="7702" extrusionOk="0">
                  <a:moveTo>
                    <a:pt x="6112" y="1623"/>
                  </a:moveTo>
                  <a:cubicBezTo>
                    <a:pt x="6112" y="1623"/>
                    <a:pt x="6112" y="1623"/>
                    <a:pt x="6112" y="1623"/>
                  </a:cubicBezTo>
                  <a:lnTo>
                    <a:pt x="6112" y="1623"/>
                  </a:lnTo>
                  <a:cubicBezTo>
                    <a:pt x="6112" y="1623"/>
                    <a:pt x="6112" y="1623"/>
                    <a:pt x="6112" y="1623"/>
                  </a:cubicBezTo>
                  <a:close/>
                  <a:moveTo>
                    <a:pt x="1032" y="1"/>
                  </a:moveTo>
                  <a:cubicBezTo>
                    <a:pt x="1032" y="1"/>
                    <a:pt x="1" y="4037"/>
                    <a:pt x="1909" y="6207"/>
                  </a:cubicBezTo>
                  <a:cubicBezTo>
                    <a:pt x="1909" y="6207"/>
                    <a:pt x="3569" y="7701"/>
                    <a:pt x="5835" y="7701"/>
                  </a:cubicBezTo>
                  <a:cubicBezTo>
                    <a:pt x="6447" y="7701"/>
                    <a:pt x="7102" y="7592"/>
                    <a:pt x="7781" y="7316"/>
                  </a:cubicBezTo>
                  <a:cubicBezTo>
                    <a:pt x="7781" y="7316"/>
                    <a:pt x="5635" y="6499"/>
                    <a:pt x="6112" y="1623"/>
                  </a:cubicBezTo>
                  <a:lnTo>
                    <a:pt x="6112" y="1623"/>
                  </a:lnTo>
                  <a:cubicBezTo>
                    <a:pt x="6112" y="1623"/>
                    <a:pt x="6109" y="1623"/>
                    <a:pt x="6104" y="1623"/>
                  </a:cubicBezTo>
                  <a:cubicBezTo>
                    <a:pt x="5980" y="1623"/>
                    <a:pt x="4400" y="1465"/>
                    <a:pt x="10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8"/>
            <p:cNvSpPr/>
            <p:nvPr/>
          </p:nvSpPr>
          <p:spPr>
            <a:xfrm>
              <a:off x="6365722" y="1881228"/>
              <a:ext cx="473459" cy="228024"/>
            </a:xfrm>
            <a:custGeom>
              <a:avLst/>
              <a:gdLst/>
              <a:ahLst/>
              <a:cxnLst/>
              <a:rect l="l" t="t" r="r" b="b"/>
              <a:pathLst>
                <a:path w="5874" h="2829" extrusionOk="0">
                  <a:moveTo>
                    <a:pt x="5873" y="2367"/>
                  </a:moveTo>
                  <a:cubicBezTo>
                    <a:pt x="5872" y="2368"/>
                    <a:pt x="5870" y="2368"/>
                    <a:pt x="5869" y="2369"/>
                  </a:cubicBezTo>
                  <a:lnTo>
                    <a:pt x="5869" y="2369"/>
                  </a:lnTo>
                  <a:cubicBezTo>
                    <a:pt x="5872" y="2368"/>
                    <a:pt x="5874" y="2368"/>
                    <a:pt x="5873" y="2367"/>
                  </a:cubicBezTo>
                  <a:close/>
                  <a:moveTo>
                    <a:pt x="2141" y="0"/>
                  </a:moveTo>
                  <a:cubicBezTo>
                    <a:pt x="2141" y="0"/>
                    <a:pt x="1496" y="1415"/>
                    <a:pt x="546" y="1415"/>
                  </a:cubicBezTo>
                  <a:cubicBezTo>
                    <a:pt x="373" y="1415"/>
                    <a:pt x="191" y="1368"/>
                    <a:pt x="1" y="1258"/>
                  </a:cubicBezTo>
                  <a:lnTo>
                    <a:pt x="1" y="1258"/>
                  </a:lnTo>
                  <a:cubicBezTo>
                    <a:pt x="1" y="1258"/>
                    <a:pt x="1394" y="2828"/>
                    <a:pt x="3689" y="2828"/>
                  </a:cubicBezTo>
                  <a:cubicBezTo>
                    <a:pt x="4346" y="2828"/>
                    <a:pt x="5076" y="2700"/>
                    <a:pt x="5869" y="2369"/>
                  </a:cubicBezTo>
                  <a:lnTo>
                    <a:pt x="5869" y="2369"/>
                  </a:lnTo>
                  <a:cubicBezTo>
                    <a:pt x="5850" y="2374"/>
                    <a:pt x="5766" y="2386"/>
                    <a:pt x="5633" y="2386"/>
                  </a:cubicBezTo>
                  <a:cubicBezTo>
                    <a:pt x="5034" y="2386"/>
                    <a:pt x="3434" y="2150"/>
                    <a:pt x="2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9" name="Google Shape;549;p38"/>
          <p:cNvGrpSpPr/>
          <p:nvPr/>
        </p:nvGrpSpPr>
        <p:grpSpPr>
          <a:xfrm>
            <a:off x="715099" y="1369529"/>
            <a:ext cx="1721388" cy="1386135"/>
            <a:chOff x="715099" y="1369529"/>
            <a:chExt cx="1721388" cy="1386135"/>
          </a:xfrm>
        </p:grpSpPr>
        <p:sp>
          <p:nvSpPr>
            <p:cNvPr id="550" name="Google Shape;550;p38"/>
            <p:cNvSpPr/>
            <p:nvPr/>
          </p:nvSpPr>
          <p:spPr>
            <a:xfrm>
              <a:off x="715099" y="1369529"/>
              <a:ext cx="1721388" cy="1386135"/>
            </a:xfrm>
            <a:custGeom>
              <a:avLst/>
              <a:gdLst/>
              <a:ahLst/>
              <a:cxnLst/>
              <a:rect l="l" t="t" r="r" b="b"/>
              <a:pathLst>
                <a:path w="11973" h="9641" extrusionOk="0">
                  <a:moveTo>
                    <a:pt x="9820" y="1"/>
                  </a:moveTo>
                  <a:lnTo>
                    <a:pt x="1" y="3363"/>
                  </a:lnTo>
                  <a:lnTo>
                    <a:pt x="2147" y="9641"/>
                  </a:lnTo>
                  <a:lnTo>
                    <a:pt x="11973" y="6272"/>
                  </a:lnTo>
                  <a:lnTo>
                    <a:pt x="98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8"/>
            <p:cNvSpPr/>
            <p:nvPr/>
          </p:nvSpPr>
          <p:spPr>
            <a:xfrm>
              <a:off x="782098" y="1654920"/>
              <a:ext cx="941279" cy="1051139"/>
            </a:xfrm>
            <a:custGeom>
              <a:avLst/>
              <a:gdLst/>
              <a:ahLst/>
              <a:cxnLst/>
              <a:rect l="l" t="t" r="r" b="b"/>
              <a:pathLst>
                <a:path w="6547" h="7311" extrusionOk="0">
                  <a:moveTo>
                    <a:pt x="4543" y="1"/>
                  </a:moveTo>
                  <a:cubicBezTo>
                    <a:pt x="4543" y="1"/>
                    <a:pt x="1103" y="686"/>
                    <a:pt x="0" y="1211"/>
                  </a:cubicBezTo>
                  <a:lnTo>
                    <a:pt x="2087" y="7310"/>
                  </a:lnTo>
                  <a:cubicBezTo>
                    <a:pt x="2087" y="7310"/>
                    <a:pt x="5378" y="6028"/>
                    <a:pt x="6546" y="5861"/>
                  </a:cubicBezTo>
                  <a:lnTo>
                    <a:pt x="45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8"/>
            <p:cNvSpPr/>
            <p:nvPr/>
          </p:nvSpPr>
          <p:spPr>
            <a:xfrm>
              <a:off x="808552" y="1666853"/>
              <a:ext cx="916550" cy="1004843"/>
            </a:xfrm>
            <a:custGeom>
              <a:avLst/>
              <a:gdLst/>
              <a:ahLst/>
              <a:cxnLst/>
              <a:rect l="l" t="t" r="r" b="b"/>
              <a:pathLst>
                <a:path w="6375" h="6989" extrusionOk="0">
                  <a:moveTo>
                    <a:pt x="4311" y="1"/>
                  </a:moveTo>
                  <a:cubicBezTo>
                    <a:pt x="2160" y="1"/>
                    <a:pt x="1" y="961"/>
                    <a:pt x="1" y="961"/>
                  </a:cubicBezTo>
                  <a:lnTo>
                    <a:pt x="2070" y="6989"/>
                  </a:lnTo>
                  <a:cubicBezTo>
                    <a:pt x="3900" y="6321"/>
                    <a:pt x="6374" y="5778"/>
                    <a:pt x="6374" y="5778"/>
                  </a:cubicBezTo>
                  <a:lnTo>
                    <a:pt x="4389" y="1"/>
                  </a:lnTo>
                  <a:cubicBezTo>
                    <a:pt x="4363" y="1"/>
                    <a:pt x="4337" y="1"/>
                    <a:pt x="4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8"/>
            <p:cNvSpPr/>
            <p:nvPr/>
          </p:nvSpPr>
          <p:spPr>
            <a:xfrm>
              <a:off x="833425" y="1636085"/>
              <a:ext cx="889952" cy="998805"/>
            </a:xfrm>
            <a:custGeom>
              <a:avLst/>
              <a:gdLst/>
              <a:ahLst/>
              <a:cxnLst/>
              <a:rect l="l" t="t" r="r" b="b"/>
              <a:pathLst>
                <a:path w="6190" h="6947" extrusionOk="0">
                  <a:moveTo>
                    <a:pt x="4144" y="1"/>
                  </a:moveTo>
                  <a:cubicBezTo>
                    <a:pt x="4144" y="1"/>
                    <a:pt x="1658" y="186"/>
                    <a:pt x="1" y="937"/>
                  </a:cubicBezTo>
                  <a:lnTo>
                    <a:pt x="2177" y="6946"/>
                  </a:lnTo>
                  <a:cubicBezTo>
                    <a:pt x="2177" y="6946"/>
                    <a:pt x="4998" y="5980"/>
                    <a:pt x="6015" y="5980"/>
                  </a:cubicBezTo>
                  <a:cubicBezTo>
                    <a:pt x="6081" y="5980"/>
                    <a:pt x="6140" y="5984"/>
                    <a:pt x="6189" y="5992"/>
                  </a:cubicBezTo>
                  <a:lnTo>
                    <a:pt x="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8"/>
            <p:cNvSpPr/>
            <p:nvPr/>
          </p:nvSpPr>
          <p:spPr>
            <a:xfrm>
              <a:off x="891797" y="1619408"/>
              <a:ext cx="831580" cy="970050"/>
            </a:xfrm>
            <a:custGeom>
              <a:avLst/>
              <a:gdLst/>
              <a:ahLst/>
              <a:cxnLst/>
              <a:rect l="l" t="t" r="r" b="b"/>
              <a:pathLst>
                <a:path w="5784" h="6747" extrusionOk="0">
                  <a:moveTo>
                    <a:pt x="2814" y="0"/>
                  </a:moveTo>
                  <a:cubicBezTo>
                    <a:pt x="2176" y="0"/>
                    <a:pt x="1221" y="131"/>
                    <a:pt x="0" y="671"/>
                  </a:cubicBezTo>
                  <a:lnTo>
                    <a:pt x="2081" y="6746"/>
                  </a:lnTo>
                  <a:cubicBezTo>
                    <a:pt x="2081" y="6746"/>
                    <a:pt x="4020" y="6041"/>
                    <a:pt x="5238" y="6041"/>
                  </a:cubicBezTo>
                  <a:cubicBezTo>
                    <a:pt x="5445" y="6041"/>
                    <a:pt x="5631" y="6061"/>
                    <a:pt x="5783" y="6108"/>
                  </a:cubicBezTo>
                  <a:lnTo>
                    <a:pt x="3738" y="117"/>
                  </a:lnTo>
                  <a:cubicBezTo>
                    <a:pt x="3738" y="117"/>
                    <a:pt x="3417" y="0"/>
                    <a:pt x="28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8"/>
            <p:cNvSpPr/>
            <p:nvPr/>
          </p:nvSpPr>
          <p:spPr>
            <a:xfrm>
              <a:off x="1435259" y="1391814"/>
              <a:ext cx="924026" cy="1105917"/>
            </a:xfrm>
            <a:custGeom>
              <a:avLst/>
              <a:gdLst/>
              <a:ahLst/>
              <a:cxnLst/>
              <a:rect l="l" t="t" r="r" b="b"/>
              <a:pathLst>
                <a:path w="6427" h="7692" extrusionOk="0">
                  <a:moveTo>
                    <a:pt x="4340" y="1"/>
                  </a:moveTo>
                  <a:cubicBezTo>
                    <a:pt x="3148" y="257"/>
                    <a:pt x="0" y="1831"/>
                    <a:pt x="0" y="1831"/>
                  </a:cubicBezTo>
                  <a:lnTo>
                    <a:pt x="2003" y="7691"/>
                  </a:lnTo>
                  <a:cubicBezTo>
                    <a:pt x="3035" y="7113"/>
                    <a:pt x="6427" y="6100"/>
                    <a:pt x="6427" y="6100"/>
                  </a:cubicBezTo>
                  <a:lnTo>
                    <a:pt x="43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8"/>
            <p:cNvSpPr/>
            <p:nvPr/>
          </p:nvSpPr>
          <p:spPr>
            <a:xfrm>
              <a:off x="1439429" y="1389226"/>
              <a:ext cx="881325" cy="1108505"/>
            </a:xfrm>
            <a:custGeom>
              <a:avLst/>
              <a:gdLst/>
              <a:ahLst/>
              <a:cxnLst/>
              <a:rect l="l" t="t" r="r" b="b"/>
              <a:pathLst>
                <a:path w="6130" h="7710" extrusionOk="0">
                  <a:moveTo>
                    <a:pt x="4061" y="1"/>
                  </a:moveTo>
                  <a:cubicBezTo>
                    <a:pt x="4061" y="1"/>
                    <a:pt x="1718" y="585"/>
                    <a:pt x="1" y="1932"/>
                  </a:cubicBezTo>
                  <a:lnTo>
                    <a:pt x="1986" y="7709"/>
                  </a:lnTo>
                  <a:cubicBezTo>
                    <a:pt x="1986" y="7709"/>
                    <a:pt x="4270" y="6618"/>
                    <a:pt x="6130" y="6028"/>
                  </a:cubicBezTo>
                  <a:lnTo>
                    <a:pt x="40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8"/>
            <p:cNvSpPr/>
            <p:nvPr/>
          </p:nvSpPr>
          <p:spPr>
            <a:xfrm>
              <a:off x="1429221" y="1377293"/>
              <a:ext cx="835893" cy="1120439"/>
            </a:xfrm>
            <a:custGeom>
              <a:avLst/>
              <a:gdLst/>
              <a:ahLst/>
              <a:cxnLst/>
              <a:rect l="l" t="t" r="r" b="b"/>
              <a:pathLst>
                <a:path w="5814" h="7793" extrusionOk="0">
                  <a:moveTo>
                    <a:pt x="3846" y="0"/>
                  </a:moveTo>
                  <a:cubicBezTo>
                    <a:pt x="2069" y="429"/>
                    <a:pt x="0" y="1801"/>
                    <a:pt x="0" y="1801"/>
                  </a:cubicBezTo>
                  <a:lnTo>
                    <a:pt x="2057" y="7792"/>
                  </a:lnTo>
                  <a:cubicBezTo>
                    <a:pt x="2606" y="7178"/>
                    <a:pt x="5813" y="6081"/>
                    <a:pt x="5813" y="6081"/>
                  </a:cubicBezTo>
                  <a:lnTo>
                    <a:pt x="3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1429221" y="1370392"/>
              <a:ext cx="772346" cy="1127340"/>
            </a:xfrm>
            <a:custGeom>
              <a:avLst/>
              <a:gdLst/>
              <a:ahLst/>
              <a:cxnLst/>
              <a:rect l="l" t="t" r="r" b="b"/>
              <a:pathLst>
                <a:path w="5372" h="7841" extrusionOk="0">
                  <a:moveTo>
                    <a:pt x="3291" y="1"/>
                  </a:moveTo>
                  <a:cubicBezTo>
                    <a:pt x="775" y="627"/>
                    <a:pt x="0" y="1849"/>
                    <a:pt x="0" y="1849"/>
                  </a:cubicBezTo>
                  <a:lnTo>
                    <a:pt x="2057" y="7840"/>
                  </a:lnTo>
                  <a:cubicBezTo>
                    <a:pt x="2683" y="6928"/>
                    <a:pt x="5372" y="6070"/>
                    <a:pt x="5372" y="6070"/>
                  </a:cubicBezTo>
                  <a:lnTo>
                    <a:pt x="32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8"/>
            <p:cNvSpPr/>
            <p:nvPr/>
          </p:nvSpPr>
          <p:spPr>
            <a:xfrm>
              <a:off x="967996" y="1713867"/>
              <a:ext cx="433905" cy="74907"/>
            </a:xfrm>
            <a:custGeom>
              <a:avLst/>
              <a:gdLst/>
              <a:ahLst/>
              <a:cxnLst/>
              <a:rect l="l" t="t" r="r" b="b"/>
              <a:pathLst>
                <a:path w="3018" h="521" extrusionOk="0">
                  <a:moveTo>
                    <a:pt x="2367" y="1"/>
                  </a:moveTo>
                  <a:cubicBezTo>
                    <a:pt x="1261" y="1"/>
                    <a:pt x="35" y="469"/>
                    <a:pt x="25" y="479"/>
                  </a:cubicBezTo>
                  <a:cubicBezTo>
                    <a:pt x="7" y="485"/>
                    <a:pt x="1" y="497"/>
                    <a:pt x="7" y="509"/>
                  </a:cubicBezTo>
                  <a:cubicBezTo>
                    <a:pt x="13" y="521"/>
                    <a:pt x="31" y="521"/>
                    <a:pt x="37" y="521"/>
                  </a:cubicBezTo>
                  <a:cubicBezTo>
                    <a:pt x="56" y="516"/>
                    <a:pt x="1269" y="54"/>
                    <a:pt x="2362" y="54"/>
                  </a:cubicBezTo>
                  <a:cubicBezTo>
                    <a:pt x="2579" y="54"/>
                    <a:pt x="2791" y="72"/>
                    <a:pt x="2988" y="116"/>
                  </a:cubicBezTo>
                  <a:lnTo>
                    <a:pt x="3006" y="116"/>
                  </a:lnTo>
                  <a:cubicBezTo>
                    <a:pt x="3006" y="116"/>
                    <a:pt x="3012" y="104"/>
                    <a:pt x="3012" y="80"/>
                  </a:cubicBezTo>
                  <a:cubicBezTo>
                    <a:pt x="3017" y="74"/>
                    <a:pt x="3012" y="62"/>
                    <a:pt x="2994" y="62"/>
                  </a:cubicBezTo>
                  <a:cubicBezTo>
                    <a:pt x="2796" y="19"/>
                    <a:pt x="2584" y="1"/>
                    <a:pt x="2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1002358" y="1806745"/>
              <a:ext cx="432180" cy="81377"/>
            </a:xfrm>
            <a:custGeom>
              <a:avLst/>
              <a:gdLst/>
              <a:ahLst/>
              <a:cxnLst/>
              <a:rect l="l" t="t" r="r" b="b"/>
              <a:pathLst>
                <a:path w="3006" h="566" extrusionOk="0">
                  <a:moveTo>
                    <a:pt x="2443" y="0"/>
                  </a:moveTo>
                  <a:cubicBezTo>
                    <a:pt x="1324" y="0"/>
                    <a:pt x="34" y="514"/>
                    <a:pt x="24" y="519"/>
                  </a:cubicBezTo>
                  <a:cubicBezTo>
                    <a:pt x="6" y="525"/>
                    <a:pt x="0" y="543"/>
                    <a:pt x="6" y="549"/>
                  </a:cubicBezTo>
                  <a:cubicBezTo>
                    <a:pt x="15" y="557"/>
                    <a:pt x="23" y="565"/>
                    <a:pt x="29" y="565"/>
                  </a:cubicBezTo>
                  <a:cubicBezTo>
                    <a:pt x="32" y="565"/>
                    <a:pt x="34" y="564"/>
                    <a:pt x="36" y="561"/>
                  </a:cubicBezTo>
                  <a:cubicBezTo>
                    <a:pt x="51" y="555"/>
                    <a:pt x="1325" y="48"/>
                    <a:pt x="2432" y="48"/>
                  </a:cubicBezTo>
                  <a:cubicBezTo>
                    <a:pt x="2618" y="48"/>
                    <a:pt x="2799" y="62"/>
                    <a:pt x="2969" y="96"/>
                  </a:cubicBezTo>
                  <a:lnTo>
                    <a:pt x="2975" y="96"/>
                  </a:lnTo>
                  <a:cubicBezTo>
                    <a:pt x="2981" y="96"/>
                    <a:pt x="2987" y="84"/>
                    <a:pt x="2999" y="72"/>
                  </a:cubicBezTo>
                  <a:cubicBezTo>
                    <a:pt x="3005" y="66"/>
                    <a:pt x="2999" y="48"/>
                    <a:pt x="2981" y="48"/>
                  </a:cubicBezTo>
                  <a:cubicBezTo>
                    <a:pt x="2811" y="15"/>
                    <a:pt x="2629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8"/>
            <p:cNvSpPr/>
            <p:nvPr/>
          </p:nvSpPr>
          <p:spPr>
            <a:xfrm>
              <a:off x="1033988" y="1905517"/>
              <a:ext cx="432180" cy="79076"/>
            </a:xfrm>
            <a:custGeom>
              <a:avLst/>
              <a:gdLst/>
              <a:ahLst/>
              <a:cxnLst/>
              <a:rect l="l" t="t" r="r" b="b"/>
              <a:pathLst>
                <a:path w="3006" h="550" extrusionOk="0">
                  <a:moveTo>
                    <a:pt x="2457" y="0"/>
                  </a:moveTo>
                  <a:cubicBezTo>
                    <a:pt x="2107" y="0"/>
                    <a:pt x="1670" y="60"/>
                    <a:pt x="1151" y="184"/>
                  </a:cubicBezTo>
                  <a:cubicBezTo>
                    <a:pt x="531" y="321"/>
                    <a:pt x="37" y="500"/>
                    <a:pt x="25" y="500"/>
                  </a:cubicBezTo>
                  <a:cubicBezTo>
                    <a:pt x="13" y="511"/>
                    <a:pt x="1" y="523"/>
                    <a:pt x="13" y="529"/>
                  </a:cubicBezTo>
                  <a:cubicBezTo>
                    <a:pt x="17" y="543"/>
                    <a:pt x="25" y="549"/>
                    <a:pt x="34" y="549"/>
                  </a:cubicBezTo>
                  <a:cubicBezTo>
                    <a:pt x="37" y="549"/>
                    <a:pt x="40" y="549"/>
                    <a:pt x="43" y="547"/>
                  </a:cubicBezTo>
                  <a:cubicBezTo>
                    <a:pt x="53" y="542"/>
                    <a:pt x="1478" y="51"/>
                    <a:pt x="2481" y="51"/>
                  </a:cubicBezTo>
                  <a:cubicBezTo>
                    <a:pt x="2664" y="51"/>
                    <a:pt x="2832" y="67"/>
                    <a:pt x="2976" y="106"/>
                  </a:cubicBezTo>
                  <a:lnTo>
                    <a:pt x="2994" y="106"/>
                  </a:lnTo>
                  <a:cubicBezTo>
                    <a:pt x="3000" y="106"/>
                    <a:pt x="3006" y="100"/>
                    <a:pt x="3006" y="94"/>
                  </a:cubicBezTo>
                  <a:cubicBezTo>
                    <a:pt x="3006" y="76"/>
                    <a:pt x="3006" y="64"/>
                    <a:pt x="2994" y="64"/>
                  </a:cubicBezTo>
                  <a:cubicBezTo>
                    <a:pt x="2846" y="22"/>
                    <a:pt x="2667" y="0"/>
                    <a:pt x="2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8"/>
            <p:cNvSpPr/>
            <p:nvPr/>
          </p:nvSpPr>
          <p:spPr>
            <a:xfrm>
              <a:off x="1072663" y="2003859"/>
              <a:ext cx="427867" cy="88709"/>
            </a:xfrm>
            <a:custGeom>
              <a:avLst/>
              <a:gdLst/>
              <a:ahLst/>
              <a:cxnLst/>
              <a:rect l="l" t="t" r="r" b="b"/>
              <a:pathLst>
                <a:path w="2976" h="617" extrusionOk="0">
                  <a:moveTo>
                    <a:pt x="2521" y="0"/>
                  </a:moveTo>
                  <a:cubicBezTo>
                    <a:pt x="1424" y="0"/>
                    <a:pt x="40" y="562"/>
                    <a:pt x="24" y="573"/>
                  </a:cubicBezTo>
                  <a:cubicBezTo>
                    <a:pt x="12" y="579"/>
                    <a:pt x="0" y="591"/>
                    <a:pt x="12" y="603"/>
                  </a:cubicBezTo>
                  <a:cubicBezTo>
                    <a:pt x="16" y="611"/>
                    <a:pt x="21" y="617"/>
                    <a:pt x="30" y="617"/>
                  </a:cubicBezTo>
                  <a:cubicBezTo>
                    <a:pt x="33" y="617"/>
                    <a:pt x="37" y="616"/>
                    <a:pt x="42" y="614"/>
                  </a:cubicBezTo>
                  <a:cubicBezTo>
                    <a:pt x="52" y="609"/>
                    <a:pt x="1449" y="46"/>
                    <a:pt x="2535" y="46"/>
                  </a:cubicBezTo>
                  <a:cubicBezTo>
                    <a:pt x="2678" y="46"/>
                    <a:pt x="2817" y="56"/>
                    <a:pt x="2945" y="78"/>
                  </a:cubicBezTo>
                  <a:lnTo>
                    <a:pt x="2957" y="78"/>
                  </a:lnTo>
                  <a:cubicBezTo>
                    <a:pt x="2963" y="78"/>
                    <a:pt x="2963" y="72"/>
                    <a:pt x="2969" y="54"/>
                  </a:cubicBezTo>
                  <a:cubicBezTo>
                    <a:pt x="2975" y="48"/>
                    <a:pt x="2969" y="36"/>
                    <a:pt x="2957" y="36"/>
                  </a:cubicBezTo>
                  <a:cubicBezTo>
                    <a:pt x="2820" y="11"/>
                    <a:pt x="2673" y="0"/>
                    <a:pt x="2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1106019" y="2108382"/>
              <a:ext cx="430455" cy="85402"/>
            </a:xfrm>
            <a:custGeom>
              <a:avLst/>
              <a:gdLst/>
              <a:ahLst/>
              <a:cxnLst/>
              <a:rect l="l" t="t" r="r" b="b"/>
              <a:pathLst>
                <a:path w="2994" h="594" extrusionOk="0">
                  <a:moveTo>
                    <a:pt x="2339" y="0"/>
                  </a:moveTo>
                  <a:cubicBezTo>
                    <a:pt x="1279" y="0"/>
                    <a:pt x="28" y="544"/>
                    <a:pt x="19" y="549"/>
                  </a:cubicBezTo>
                  <a:cubicBezTo>
                    <a:pt x="13" y="561"/>
                    <a:pt x="1" y="573"/>
                    <a:pt x="13" y="579"/>
                  </a:cubicBezTo>
                  <a:cubicBezTo>
                    <a:pt x="17" y="588"/>
                    <a:pt x="21" y="593"/>
                    <a:pt x="30" y="593"/>
                  </a:cubicBezTo>
                  <a:cubicBezTo>
                    <a:pt x="34" y="593"/>
                    <a:pt x="38" y="593"/>
                    <a:pt x="42" y="591"/>
                  </a:cubicBezTo>
                  <a:cubicBezTo>
                    <a:pt x="57" y="576"/>
                    <a:pt x="1294" y="38"/>
                    <a:pt x="2343" y="38"/>
                  </a:cubicBezTo>
                  <a:cubicBezTo>
                    <a:pt x="2565" y="38"/>
                    <a:pt x="2778" y="62"/>
                    <a:pt x="2970" y="120"/>
                  </a:cubicBezTo>
                  <a:lnTo>
                    <a:pt x="2982" y="120"/>
                  </a:lnTo>
                  <a:cubicBezTo>
                    <a:pt x="2994" y="120"/>
                    <a:pt x="2994" y="114"/>
                    <a:pt x="2994" y="114"/>
                  </a:cubicBezTo>
                  <a:cubicBezTo>
                    <a:pt x="2994" y="96"/>
                    <a:pt x="2994" y="84"/>
                    <a:pt x="2976" y="84"/>
                  </a:cubicBezTo>
                  <a:cubicBezTo>
                    <a:pt x="2781" y="25"/>
                    <a:pt x="2565" y="0"/>
                    <a:pt x="2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1140380" y="2205861"/>
              <a:ext cx="437212" cy="86121"/>
            </a:xfrm>
            <a:custGeom>
              <a:avLst/>
              <a:gdLst/>
              <a:ahLst/>
              <a:cxnLst/>
              <a:rect l="l" t="t" r="r" b="b"/>
              <a:pathLst>
                <a:path w="3041" h="599" extrusionOk="0">
                  <a:moveTo>
                    <a:pt x="2692" y="1"/>
                  </a:moveTo>
                  <a:cubicBezTo>
                    <a:pt x="1806" y="1"/>
                    <a:pt x="101" y="525"/>
                    <a:pt x="18" y="551"/>
                  </a:cubicBezTo>
                  <a:cubicBezTo>
                    <a:pt x="12" y="557"/>
                    <a:pt x="0" y="563"/>
                    <a:pt x="0" y="581"/>
                  </a:cubicBezTo>
                  <a:cubicBezTo>
                    <a:pt x="12" y="599"/>
                    <a:pt x="18" y="599"/>
                    <a:pt x="30" y="599"/>
                  </a:cubicBezTo>
                  <a:cubicBezTo>
                    <a:pt x="51" y="588"/>
                    <a:pt x="1826" y="47"/>
                    <a:pt x="2707" y="47"/>
                  </a:cubicBezTo>
                  <a:cubicBezTo>
                    <a:pt x="2827" y="47"/>
                    <a:pt x="2931" y="57"/>
                    <a:pt x="3011" y="80"/>
                  </a:cubicBezTo>
                  <a:lnTo>
                    <a:pt x="3029" y="80"/>
                  </a:lnTo>
                  <a:cubicBezTo>
                    <a:pt x="3035" y="80"/>
                    <a:pt x="3041" y="74"/>
                    <a:pt x="3035" y="68"/>
                  </a:cubicBezTo>
                  <a:cubicBezTo>
                    <a:pt x="3035" y="50"/>
                    <a:pt x="3035" y="38"/>
                    <a:pt x="3023" y="38"/>
                  </a:cubicBezTo>
                  <a:cubicBezTo>
                    <a:pt x="2936" y="12"/>
                    <a:pt x="2823" y="1"/>
                    <a:pt x="2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1174598" y="2301614"/>
              <a:ext cx="427004" cy="89284"/>
            </a:xfrm>
            <a:custGeom>
              <a:avLst/>
              <a:gdLst/>
              <a:ahLst/>
              <a:cxnLst/>
              <a:rect l="l" t="t" r="r" b="b"/>
              <a:pathLst>
                <a:path w="2970" h="621" extrusionOk="0">
                  <a:moveTo>
                    <a:pt x="2642" y="1"/>
                  </a:moveTo>
                  <a:cubicBezTo>
                    <a:pt x="1764" y="1"/>
                    <a:pt x="97" y="544"/>
                    <a:pt x="18" y="571"/>
                  </a:cubicBezTo>
                  <a:cubicBezTo>
                    <a:pt x="1" y="576"/>
                    <a:pt x="1" y="588"/>
                    <a:pt x="1" y="600"/>
                  </a:cubicBezTo>
                  <a:cubicBezTo>
                    <a:pt x="10" y="614"/>
                    <a:pt x="15" y="620"/>
                    <a:pt x="22" y="620"/>
                  </a:cubicBezTo>
                  <a:cubicBezTo>
                    <a:pt x="25" y="620"/>
                    <a:pt x="27" y="620"/>
                    <a:pt x="30" y="618"/>
                  </a:cubicBezTo>
                  <a:cubicBezTo>
                    <a:pt x="51" y="608"/>
                    <a:pt x="1758" y="48"/>
                    <a:pt x="2634" y="48"/>
                  </a:cubicBezTo>
                  <a:cubicBezTo>
                    <a:pt x="2754" y="48"/>
                    <a:pt x="2858" y="58"/>
                    <a:pt x="2940" y="82"/>
                  </a:cubicBezTo>
                  <a:lnTo>
                    <a:pt x="2952" y="82"/>
                  </a:lnTo>
                  <a:cubicBezTo>
                    <a:pt x="2964" y="82"/>
                    <a:pt x="2964" y="70"/>
                    <a:pt x="2970" y="64"/>
                  </a:cubicBezTo>
                  <a:cubicBezTo>
                    <a:pt x="2970" y="52"/>
                    <a:pt x="2970" y="34"/>
                    <a:pt x="2952" y="34"/>
                  </a:cubicBezTo>
                  <a:cubicBezTo>
                    <a:pt x="2867" y="11"/>
                    <a:pt x="2762" y="1"/>
                    <a:pt x="2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8"/>
            <p:cNvSpPr/>
            <p:nvPr/>
          </p:nvSpPr>
          <p:spPr>
            <a:xfrm>
              <a:off x="1210542" y="2400818"/>
              <a:ext cx="425423" cy="95898"/>
            </a:xfrm>
            <a:custGeom>
              <a:avLst/>
              <a:gdLst/>
              <a:ahLst/>
              <a:cxnLst/>
              <a:rect l="l" t="t" r="r" b="b"/>
              <a:pathLst>
                <a:path w="2959" h="667" extrusionOk="0">
                  <a:moveTo>
                    <a:pt x="2585" y="1"/>
                  </a:moveTo>
                  <a:cubicBezTo>
                    <a:pt x="1556" y="1"/>
                    <a:pt x="40" y="609"/>
                    <a:pt x="19" y="620"/>
                  </a:cubicBezTo>
                  <a:cubicBezTo>
                    <a:pt x="7" y="626"/>
                    <a:pt x="1" y="638"/>
                    <a:pt x="7" y="650"/>
                  </a:cubicBezTo>
                  <a:cubicBezTo>
                    <a:pt x="11" y="658"/>
                    <a:pt x="21" y="666"/>
                    <a:pt x="29" y="666"/>
                  </a:cubicBezTo>
                  <a:cubicBezTo>
                    <a:pt x="32" y="666"/>
                    <a:pt x="35" y="665"/>
                    <a:pt x="37" y="662"/>
                  </a:cubicBezTo>
                  <a:cubicBezTo>
                    <a:pt x="58" y="656"/>
                    <a:pt x="1567" y="50"/>
                    <a:pt x="2590" y="50"/>
                  </a:cubicBezTo>
                  <a:cubicBezTo>
                    <a:pt x="2711" y="50"/>
                    <a:pt x="2824" y="58"/>
                    <a:pt x="2928" y="77"/>
                  </a:cubicBezTo>
                  <a:lnTo>
                    <a:pt x="2934" y="77"/>
                  </a:lnTo>
                  <a:cubicBezTo>
                    <a:pt x="2940" y="77"/>
                    <a:pt x="2952" y="65"/>
                    <a:pt x="2952" y="53"/>
                  </a:cubicBezTo>
                  <a:cubicBezTo>
                    <a:pt x="2958" y="47"/>
                    <a:pt x="2952" y="30"/>
                    <a:pt x="2934" y="30"/>
                  </a:cubicBezTo>
                  <a:cubicBezTo>
                    <a:pt x="2827" y="10"/>
                    <a:pt x="2710" y="1"/>
                    <a:pt x="2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1502114" y="1473190"/>
              <a:ext cx="378984" cy="220551"/>
            </a:xfrm>
            <a:custGeom>
              <a:avLst/>
              <a:gdLst/>
              <a:ahLst/>
              <a:cxnLst/>
              <a:rect l="l" t="t" r="r" b="b"/>
              <a:pathLst>
                <a:path w="2636" h="1534" extrusionOk="0">
                  <a:moveTo>
                    <a:pt x="2605" y="1"/>
                  </a:moveTo>
                  <a:cubicBezTo>
                    <a:pt x="2593" y="7"/>
                    <a:pt x="793" y="549"/>
                    <a:pt x="6" y="1497"/>
                  </a:cubicBezTo>
                  <a:cubicBezTo>
                    <a:pt x="0" y="1503"/>
                    <a:pt x="0" y="1521"/>
                    <a:pt x="6" y="1527"/>
                  </a:cubicBezTo>
                  <a:cubicBezTo>
                    <a:pt x="12" y="1533"/>
                    <a:pt x="18" y="1533"/>
                    <a:pt x="30" y="1533"/>
                  </a:cubicBezTo>
                  <a:cubicBezTo>
                    <a:pt x="36" y="1533"/>
                    <a:pt x="36" y="1533"/>
                    <a:pt x="36" y="1527"/>
                  </a:cubicBezTo>
                  <a:cubicBezTo>
                    <a:pt x="817" y="585"/>
                    <a:pt x="2605" y="49"/>
                    <a:pt x="2623" y="43"/>
                  </a:cubicBezTo>
                  <a:cubicBezTo>
                    <a:pt x="2635" y="37"/>
                    <a:pt x="2635" y="31"/>
                    <a:pt x="2635" y="13"/>
                  </a:cubicBezTo>
                  <a:cubicBezTo>
                    <a:pt x="2629" y="1"/>
                    <a:pt x="2623" y="1"/>
                    <a:pt x="2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1532881" y="1571819"/>
              <a:ext cx="382435" cy="211924"/>
            </a:xfrm>
            <a:custGeom>
              <a:avLst/>
              <a:gdLst/>
              <a:ahLst/>
              <a:cxnLst/>
              <a:rect l="l" t="t" r="r" b="b"/>
              <a:pathLst>
                <a:path w="2660" h="1474" extrusionOk="0">
                  <a:moveTo>
                    <a:pt x="2630" y="1"/>
                  </a:moveTo>
                  <a:cubicBezTo>
                    <a:pt x="2606" y="1"/>
                    <a:pt x="806" y="519"/>
                    <a:pt x="7" y="1437"/>
                  </a:cubicBezTo>
                  <a:cubicBezTo>
                    <a:pt x="1" y="1443"/>
                    <a:pt x="1" y="1455"/>
                    <a:pt x="7" y="1467"/>
                  </a:cubicBezTo>
                  <a:cubicBezTo>
                    <a:pt x="13" y="1473"/>
                    <a:pt x="25" y="1473"/>
                    <a:pt x="30" y="1473"/>
                  </a:cubicBezTo>
                  <a:lnTo>
                    <a:pt x="42" y="1473"/>
                  </a:lnTo>
                  <a:cubicBezTo>
                    <a:pt x="835" y="567"/>
                    <a:pt x="2630" y="48"/>
                    <a:pt x="2648" y="42"/>
                  </a:cubicBezTo>
                  <a:cubicBezTo>
                    <a:pt x="2660" y="36"/>
                    <a:pt x="2660" y="30"/>
                    <a:pt x="2660" y="12"/>
                  </a:cubicBezTo>
                  <a:cubicBezTo>
                    <a:pt x="2654" y="1"/>
                    <a:pt x="2648" y="1"/>
                    <a:pt x="2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1565518" y="1667572"/>
              <a:ext cx="382435" cy="217244"/>
            </a:xfrm>
            <a:custGeom>
              <a:avLst/>
              <a:gdLst/>
              <a:ahLst/>
              <a:cxnLst/>
              <a:rect l="l" t="t" r="r" b="b"/>
              <a:pathLst>
                <a:path w="2660" h="1511" extrusionOk="0">
                  <a:moveTo>
                    <a:pt x="2629" y="0"/>
                  </a:moveTo>
                  <a:cubicBezTo>
                    <a:pt x="2626" y="0"/>
                    <a:pt x="2622" y="1"/>
                    <a:pt x="2618" y="2"/>
                  </a:cubicBezTo>
                  <a:cubicBezTo>
                    <a:pt x="2618" y="8"/>
                    <a:pt x="2111" y="181"/>
                    <a:pt x="1538" y="443"/>
                  </a:cubicBezTo>
                  <a:cubicBezTo>
                    <a:pt x="769" y="801"/>
                    <a:pt x="257" y="1153"/>
                    <a:pt x="12" y="1481"/>
                  </a:cubicBezTo>
                  <a:cubicBezTo>
                    <a:pt x="0" y="1487"/>
                    <a:pt x="12" y="1499"/>
                    <a:pt x="18" y="1511"/>
                  </a:cubicBezTo>
                  <a:lnTo>
                    <a:pt x="42" y="1511"/>
                  </a:lnTo>
                  <a:cubicBezTo>
                    <a:pt x="48" y="1511"/>
                    <a:pt x="48" y="1499"/>
                    <a:pt x="42" y="1499"/>
                  </a:cubicBezTo>
                  <a:cubicBezTo>
                    <a:pt x="608" y="748"/>
                    <a:pt x="2474" y="98"/>
                    <a:pt x="2623" y="50"/>
                  </a:cubicBezTo>
                  <a:lnTo>
                    <a:pt x="2635" y="50"/>
                  </a:lnTo>
                  <a:cubicBezTo>
                    <a:pt x="2647" y="38"/>
                    <a:pt x="2659" y="32"/>
                    <a:pt x="2647" y="20"/>
                  </a:cubicBezTo>
                  <a:cubicBezTo>
                    <a:pt x="2643" y="7"/>
                    <a:pt x="2638" y="0"/>
                    <a:pt x="2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1598873" y="1775833"/>
              <a:ext cx="385885" cy="203298"/>
            </a:xfrm>
            <a:custGeom>
              <a:avLst/>
              <a:gdLst/>
              <a:ahLst/>
              <a:cxnLst/>
              <a:rect l="l" t="t" r="r" b="b"/>
              <a:pathLst>
                <a:path w="2684" h="1414" extrusionOk="0">
                  <a:moveTo>
                    <a:pt x="2654" y="0"/>
                  </a:moveTo>
                  <a:cubicBezTo>
                    <a:pt x="2636" y="0"/>
                    <a:pt x="770" y="531"/>
                    <a:pt x="13" y="1372"/>
                  </a:cubicBezTo>
                  <a:cubicBezTo>
                    <a:pt x="1" y="1384"/>
                    <a:pt x="1" y="1396"/>
                    <a:pt x="13" y="1402"/>
                  </a:cubicBezTo>
                  <a:cubicBezTo>
                    <a:pt x="19" y="1413"/>
                    <a:pt x="25" y="1413"/>
                    <a:pt x="31" y="1413"/>
                  </a:cubicBezTo>
                  <a:lnTo>
                    <a:pt x="48" y="1413"/>
                  </a:lnTo>
                  <a:cubicBezTo>
                    <a:pt x="800" y="579"/>
                    <a:pt x="2648" y="54"/>
                    <a:pt x="2672" y="48"/>
                  </a:cubicBezTo>
                  <a:cubicBezTo>
                    <a:pt x="2678" y="42"/>
                    <a:pt x="2684" y="30"/>
                    <a:pt x="2684" y="18"/>
                  </a:cubicBezTo>
                  <a:cubicBezTo>
                    <a:pt x="2678" y="0"/>
                    <a:pt x="2672" y="0"/>
                    <a:pt x="26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1635823" y="1877050"/>
              <a:ext cx="381572" cy="211781"/>
            </a:xfrm>
            <a:custGeom>
              <a:avLst/>
              <a:gdLst/>
              <a:ahLst/>
              <a:cxnLst/>
              <a:rect l="l" t="t" r="r" b="b"/>
              <a:pathLst>
                <a:path w="2654" h="1473" extrusionOk="0">
                  <a:moveTo>
                    <a:pt x="2629" y="0"/>
                  </a:moveTo>
                  <a:cubicBezTo>
                    <a:pt x="2605" y="6"/>
                    <a:pt x="680" y="501"/>
                    <a:pt x="6" y="1443"/>
                  </a:cubicBezTo>
                  <a:cubicBezTo>
                    <a:pt x="0" y="1455"/>
                    <a:pt x="6" y="1467"/>
                    <a:pt x="12" y="1473"/>
                  </a:cubicBezTo>
                  <a:lnTo>
                    <a:pt x="36" y="1473"/>
                  </a:lnTo>
                  <a:cubicBezTo>
                    <a:pt x="42" y="1473"/>
                    <a:pt x="54" y="1473"/>
                    <a:pt x="36" y="1461"/>
                  </a:cubicBezTo>
                  <a:cubicBezTo>
                    <a:pt x="698" y="531"/>
                    <a:pt x="2617" y="42"/>
                    <a:pt x="2635" y="36"/>
                  </a:cubicBezTo>
                  <a:cubicBezTo>
                    <a:pt x="2647" y="36"/>
                    <a:pt x="2653" y="30"/>
                    <a:pt x="2653" y="12"/>
                  </a:cubicBezTo>
                  <a:cubicBezTo>
                    <a:pt x="2653" y="6"/>
                    <a:pt x="2647" y="0"/>
                    <a:pt x="2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1660552" y="1975535"/>
              <a:ext cx="392786" cy="211062"/>
            </a:xfrm>
            <a:custGeom>
              <a:avLst/>
              <a:gdLst/>
              <a:ahLst/>
              <a:cxnLst/>
              <a:rect l="l" t="t" r="r" b="b"/>
              <a:pathLst>
                <a:path w="2732" h="1468" extrusionOk="0">
                  <a:moveTo>
                    <a:pt x="2696" y="1"/>
                  </a:moveTo>
                  <a:cubicBezTo>
                    <a:pt x="2600" y="36"/>
                    <a:pt x="424" y="865"/>
                    <a:pt x="7" y="1437"/>
                  </a:cubicBezTo>
                  <a:cubicBezTo>
                    <a:pt x="1" y="1443"/>
                    <a:pt x="7" y="1461"/>
                    <a:pt x="13" y="1467"/>
                  </a:cubicBezTo>
                  <a:lnTo>
                    <a:pt x="43" y="1467"/>
                  </a:lnTo>
                  <a:cubicBezTo>
                    <a:pt x="454" y="901"/>
                    <a:pt x="2690" y="54"/>
                    <a:pt x="2714" y="42"/>
                  </a:cubicBezTo>
                  <a:cubicBezTo>
                    <a:pt x="2726" y="36"/>
                    <a:pt x="2732" y="24"/>
                    <a:pt x="2726" y="13"/>
                  </a:cubicBezTo>
                  <a:cubicBezTo>
                    <a:pt x="2720" y="1"/>
                    <a:pt x="2714" y="1"/>
                    <a:pt x="2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8"/>
            <p:cNvSpPr/>
            <p:nvPr/>
          </p:nvSpPr>
          <p:spPr>
            <a:xfrm>
              <a:off x="1700090" y="2073733"/>
              <a:ext cx="386748" cy="202867"/>
            </a:xfrm>
            <a:custGeom>
              <a:avLst/>
              <a:gdLst/>
              <a:ahLst/>
              <a:cxnLst/>
              <a:rect l="l" t="t" r="r" b="b"/>
              <a:pathLst>
                <a:path w="2690" h="1411" extrusionOk="0">
                  <a:moveTo>
                    <a:pt x="2660" y="1"/>
                  </a:moveTo>
                  <a:cubicBezTo>
                    <a:pt x="2657" y="1"/>
                    <a:pt x="2655" y="2"/>
                    <a:pt x="2653" y="3"/>
                  </a:cubicBezTo>
                  <a:cubicBezTo>
                    <a:pt x="2564" y="39"/>
                    <a:pt x="435" y="802"/>
                    <a:pt x="6" y="1380"/>
                  </a:cubicBezTo>
                  <a:cubicBezTo>
                    <a:pt x="0" y="1386"/>
                    <a:pt x="6" y="1404"/>
                    <a:pt x="12" y="1410"/>
                  </a:cubicBezTo>
                  <a:lnTo>
                    <a:pt x="42" y="1410"/>
                  </a:lnTo>
                  <a:cubicBezTo>
                    <a:pt x="465" y="838"/>
                    <a:pt x="2647" y="57"/>
                    <a:pt x="2665" y="45"/>
                  </a:cubicBezTo>
                  <a:cubicBezTo>
                    <a:pt x="2683" y="39"/>
                    <a:pt x="2689" y="33"/>
                    <a:pt x="2683" y="15"/>
                  </a:cubicBezTo>
                  <a:cubicBezTo>
                    <a:pt x="2679" y="6"/>
                    <a:pt x="2668" y="1"/>
                    <a:pt x="2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1735170" y="2180413"/>
              <a:ext cx="388473" cy="194671"/>
            </a:xfrm>
            <a:custGeom>
              <a:avLst/>
              <a:gdLst/>
              <a:ahLst/>
              <a:cxnLst/>
              <a:rect l="l" t="t" r="r" b="b"/>
              <a:pathLst>
                <a:path w="2702" h="1354" extrusionOk="0">
                  <a:moveTo>
                    <a:pt x="2672" y="1"/>
                  </a:moveTo>
                  <a:cubicBezTo>
                    <a:pt x="2654" y="6"/>
                    <a:pt x="680" y="567"/>
                    <a:pt x="7" y="1318"/>
                  </a:cubicBezTo>
                  <a:cubicBezTo>
                    <a:pt x="1" y="1324"/>
                    <a:pt x="1" y="1342"/>
                    <a:pt x="7" y="1348"/>
                  </a:cubicBezTo>
                  <a:cubicBezTo>
                    <a:pt x="13" y="1354"/>
                    <a:pt x="25" y="1354"/>
                    <a:pt x="30" y="1354"/>
                  </a:cubicBezTo>
                  <a:cubicBezTo>
                    <a:pt x="30" y="1354"/>
                    <a:pt x="36" y="1354"/>
                    <a:pt x="36" y="1348"/>
                  </a:cubicBezTo>
                  <a:cubicBezTo>
                    <a:pt x="710" y="609"/>
                    <a:pt x="2660" y="48"/>
                    <a:pt x="2684" y="42"/>
                  </a:cubicBezTo>
                  <a:cubicBezTo>
                    <a:pt x="2701" y="36"/>
                    <a:pt x="2701" y="30"/>
                    <a:pt x="2701" y="12"/>
                  </a:cubicBezTo>
                  <a:cubicBezTo>
                    <a:pt x="2690" y="1"/>
                    <a:pt x="2684" y="1"/>
                    <a:pt x="2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1467752" y="1547808"/>
              <a:ext cx="128676" cy="289850"/>
            </a:xfrm>
            <a:custGeom>
              <a:avLst/>
              <a:gdLst/>
              <a:ahLst/>
              <a:cxnLst/>
              <a:rect l="l" t="t" r="r" b="b"/>
              <a:pathLst>
                <a:path w="895" h="2016" extrusionOk="0">
                  <a:moveTo>
                    <a:pt x="328" y="1"/>
                  </a:moveTo>
                  <a:cubicBezTo>
                    <a:pt x="209" y="96"/>
                    <a:pt x="102" y="197"/>
                    <a:pt x="1" y="293"/>
                  </a:cubicBezTo>
                  <a:lnTo>
                    <a:pt x="585" y="2016"/>
                  </a:lnTo>
                  <a:lnTo>
                    <a:pt x="627" y="1521"/>
                  </a:lnTo>
                  <a:lnTo>
                    <a:pt x="895" y="1664"/>
                  </a:lnTo>
                  <a:lnTo>
                    <a:pt x="3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6" name="Google Shape;576;p38"/>
          <p:cNvSpPr txBox="1">
            <a:spLocks noGrp="1"/>
          </p:cNvSpPr>
          <p:nvPr>
            <p:ph type="title"/>
          </p:nvPr>
        </p:nvSpPr>
        <p:spPr>
          <a:xfrm>
            <a:off x="2476579" y="971329"/>
            <a:ext cx="4305900" cy="25380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sng" dirty="0"/>
              <a:t>Criminal Case Flow</a:t>
            </a:r>
            <a:br>
              <a:rPr lang="en-US" sz="4000" b="1" u="sng" dirty="0"/>
            </a:br>
            <a:r>
              <a:rPr lang="en-US" sz="2000" b="1" u="sng" dirty="0"/>
              <a:t>(with an example case)</a:t>
            </a:r>
            <a:endParaRPr sz="2000" dirty="0"/>
          </a:p>
        </p:txBody>
      </p:sp>
      <p:grpSp>
        <p:nvGrpSpPr>
          <p:cNvPr id="580" name="Google Shape;580;p38"/>
          <p:cNvGrpSpPr/>
          <p:nvPr/>
        </p:nvGrpSpPr>
        <p:grpSpPr>
          <a:xfrm>
            <a:off x="6389809" y="2887063"/>
            <a:ext cx="2411653" cy="1890383"/>
            <a:chOff x="6113525" y="2551037"/>
            <a:chExt cx="2840246" cy="2226338"/>
          </a:xfrm>
        </p:grpSpPr>
        <p:sp>
          <p:nvSpPr>
            <p:cNvPr id="581" name="Google Shape;581;p38"/>
            <p:cNvSpPr/>
            <p:nvPr/>
          </p:nvSpPr>
          <p:spPr>
            <a:xfrm>
              <a:off x="6113525" y="4608500"/>
              <a:ext cx="2787691" cy="168875"/>
            </a:xfrm>
            <a:custGeom>
              <a:avLst/>
              <a:gdLst/>
              <a:ahLst/>
              <a:cxnLst/>
              <a:rect l="l" t="t" r="r" b="b"/>
              <a:pathLst>
                <a:path w="17929" h="925" extrusionOk="0">
                  <a:moveTo>
                    <a:pt x="8961" y="1"/>
                  </a:moveTo>
                  <a:cubicBezTo>
                    <a:pt x="4013" y="1"/>
                    <a:pt x="1" y="209"/>
                    <a:pt x="1" y="466"/>
                  </a:cubicBezTo>
                  <a:cubicBezTo>
                    <a:pt x="1" y="722"/>
                    <a:pt x="4013" y="925"/>
                    <a:pt x="8961" y="925"/>
                  </a:cubicBezTo>
                  <a:cubicBezTo>
                    <a:pt x="13916" y="925"/>
                    <a:pt x="17928" y="722"/>
                    <a:pt x="17928" y="466"/>
                  </a:cubicBezTo>
                  <a:cubicBezTo>
                    <a:pt x="17928" y="209"/>
                    <a:pt x="13916" y="1"/>
                    <a:pt x="8961" y="1"/>
                  </a:cubicBezTo>
                  <a:close/>
                </a:path>
              </a:pathLst>
            </a:custGeom>
            <a:solidFill>
              <a:srgbClr val="434343">
                <a:alpha val="2958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2" name="Google Shape;582;p38"/>
            <p:cNvGrpSpPr/>
            <p:nvPr/>
          </p:nvGrpSpPr>
          <p:grpSpPr>
            <a:xfrm>
              <a:off x="6211851" y="2551037"/>
              <a:ext cx="2741920" cy="2134502"/>
              <a:chOff x="6328726" y="268400"/>
              <a:chExt cx="1863097" cy="1450168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7246326" y="450597"/>
                <a:ext cx="869827" cy="133412"/>
              </a:xfrm>
              <a:custGeom>
                <a:avLst/>
                <a:gdLst/>
                <a:ahLst/>
                <a:cxnLst/>
                <a:rect l="l" t="t" r="r" b="b"/>
                <a:pathLst>
                  <a:path w="11162" h="1712" extrusionOk="0">
                    <a:moveTo>
                      <a:pt x="3126" y="1"/>
                    </a:moveTo>
                    <a:cubicBezTo>
                      <a:pt x="2077" y="1"/>
                      <a:pt x="1062" y="103"/>
                      <a:pt x="0" y="262"/>
                    </a:cubicBezTo>
                    <a:lnTo>
                      <a:pt x="167" y="1711"/>
                    </a:lnTo>
                    <a:cubicBezTo>
                      <a:pt x="167" y="1711"/>
                      <a:pt x="1049" y="1086"/>
                      <a:pt x="3184" y="1086"/>
                    </a:cubicBezTo>
                    <a:cubicBezTo>
                      <a:pt x="3507" y="1086"/>
                      <a:pt x="3858" y="1100"/>
                      <a:pt x="4239" y="1133"/>
                    </a:cubicBezTo>
                    <a:cubicBezTo>
                      <a:pt x="5184" y="1217"/>
                      <a:pt x="6318" y="1285"/>
                      <a:pt x="7379" y="1285"/>
                    </a:cubicBezTo>
                    <a:cubicBezTo>
                      <a:pt x="9403" y="1285"/>
                      <a:pt x="11162" y="1038"/>
                      <a:pt x="10833" y="185"/>
                    </a:cubicBezTo>
                    <a:cubicBezTo>
                      <a:pt x="10809" y="124"/>
                      <a:pt x="10754" y="90"/>
                      <a:pt x="10698" y="90"/>
                    </a:cubicBezTo>
                    <a:cubicBezTo>
                      <a:pt x="10655" y="90"/>
                      <a:pt x="10611" y="111"/>
                      <a:pt x="10583" y="155"/>
                    </a:cubicBezTo>
                    <a:cubicBezTo>
                      <a:pt x="10404" y="425"/>
                      <a:pt x="9965" y="857"/>
                      <a:pt x="8984" y="857"/>
                    </a:cubicBezTo>
                    <a:cubicBezTo>
                      <a:pt x="8622" y="857"/>
                      <a:pt x="8186" y="798"/>
                      <a:pt x="7661" y="650"/>
                    </a:cubicBezTo>
                    <a:cubicBezTo>
                      <a:pt x="5966" y="181"/>
                      <a:pt x="4516" y="1"/>
                      <a:pt x="31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6414836" y="471014"/>
                <a:ext cx="844578" cy="222093"/>
              </a:xfrm>
              <a:custGeom>
                <a:avLst/>
                <a:gdLst/>
                <a:ahLst/>
                <a:cxnLst/>
                <a:rect l="l" t="t" r="r" b="b"/>
                <a:pathLst>
                  <a:path w="10838" h="2850" extrusionOk="0">
                    <a:moveTo>
                      <a:pt x="10688" y="0"/>
                    </a:moveTo>
                    <a:cubicBezTo>
                      <a:pt x="8196" y="149"/>
                      <a:pt x="6014" y="537"/>
                      <a:pt x="3277" y="1968"/>
                    </a:cubicBezTo>
                    <a:cubicBezTo>
                      <a:pt x="2509" y="2368"/>
                      <a:pt x="1914" y="2505"/>
                      <a:pt x="1459" y="2505"/>
                    </a:cubicBezTo>
                    <a:cubicBezTo>
                      <a:pt x="859" y="2505"/>
                      <a:pt x="503" y="2267"/>
                      <a:pt x="320" y="2087"/>
                    </a:cubicBezTo>
                    <a:cubicBezTo>
                      <a:pt x="292" y="2059"/>
                      <a:pt x="257" y="2046"/>
                      <a:pt x="223" y="2046"/>
                    </a:cubicBezTo>
                    <a:cubicBezTo>
                      <a:pt x="155" y="2046"/>
                      <a:pt x="90" y="2095"/>
                      <a:pt x="82" y="2170"/>
                    </a:cubicBezTo>
                    <a:cubicBezTo>
                      <a:pt x="1" y="2663"/>
                      <a:pt x="490" y="2850"/>
                      <a:pt x="1272" y="2850"/>
                    </a:cubicBezTo>
                    <a:cubicBezTo>
                      <a:pt x="2678" y="2850"/>
                      <a:pt x="5032" y="2246"/>
                      <a:pt x="6729" y="1729"/>
                    </a:cubicBezTo>
                    <a:cubicBezTo>
                      <a:pt x="7925" y="1367"/>
                      <a:pt x="8850" y="1264"/>
                      <a:pt x="9516" y="1264"/>
                    </a:cubicBezTo>
                    <a:cubicBezTo>
                      <a:pt x="10407" y="1264"/>
                      <a:pt x="10837" y="1449"/>
                      <a:pt x="10837" y="1449"/>
                    </a:cubicBezTo>
                    <a:lnTo>
                      <a:pt x="1068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7204011" y="473741"/>
                <a:ext cx="17300" cy="99513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277" extrusionOk="0">
                    <a:moveTo>
                      <a:pt x="62" y="0"/>
                    </a:moveTo>
                    <a:cubicBezTo>
                      <a:pt x="53" y="0"/>
                      <a:pt x="45" y="2"/>
                      <a:pt x="36" y="7"/>
                    </a:cubicBezTo>
                    <a:lnTo>
                      <a:pt x="1" y="1259"/>
                    </a:lnTo>
                    <a:lnTo>
                      <a:pt x="173" y="1277"/>
                    </a:lnTo>
                    <a:lnTo>
                      <a:pt x="221" y="174"/>
                    </a:lnTo>
                    <a:cubicBezTo>
                      <a:pt x="221" y="174"/>
                      <a:pt x="139" y="0"/>
                      <a:pt x="62" y="0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8"/>
              <p:cNvSpPr/>
              <p:nvPr/>
            </p:nvSpPr>
            <p:spPr>
              <a:xfrm>
                <a:off x="7286303" y="462909"/>
                <a:ext cx="26028" cy="10294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321" extrusionOk="0">
                    <a:moveTo>
                      <a:pt x="192" y="0"/>
                    </a:moveTo>
                    <a:cubicBezTo>
                      <a:pt x="105" y="0"/>
                      <a:pt x="0" y="212"/>
                      <a:pt x="6" y="218"/>
                    </a:cubicBezTo>
                    <a:lnTo>
                      <a:pt x="143" y="1321"/>
                    </a:lnTo>
                    <a:lnTo>
                      <a:pt x="334" y="1255"/>
                    </a:lnTo>
                    <a:lnTo>
                      <a:pt x="209" y="3"/>
                    </a:lnTo>
                    <a:cubicBezTo>
                      <a:pt x="203" y="1"/>
                      <a:pt x="198" y="0"/>
                      <a:pt x="192" y="0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8"/>
              <p:cNvSpPr/>
              <p:nvPr/>
            </p:nvSpPr>
            <p:spPr>
              <a:xfrm>
                <a:off x="7168710" y="436180"/>
                <a:ext cx="167778" cy="1184342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15198" extrusionOk="0">
                    <a:moveTo>
                      <a:pt x="1139" y="0"/>
                    </a:moveTo>
                    <a:cubicBezTo>
                      <a:pt x="877" y="0"/>
                      <a:pt x="668" y="203"/>
                      <a:pt x="650" y="465"/>
                    </a:cubicBezTo>
                    <a:lnTo>
                      <a:pt x="644" y="644"/>
                    </a:lnTo>
                    <a:lnTo>
                      <a:pt x="638" y="871"/>
                    </a:lnTo>
                    <a:lnTo>
                      <a:pt x="591" y="1926"/>
                    </a:lnTo>
                    <a:lnTo>
                      <a:pt x="203" y="10392"/>
                    </a:lnTo>
                    <a:lnTo>
                      <a:pt x="197" y="10499"/>
                    </a:lnTo>
                    <a:lnTo>
                      <a:pt x="191" y="10666"/>
                    </a:lnTo>
                    <a:lnTo>
                      <a:pt x="179" y="10982"/>
                    </a:lnTo>
                    <a:lnTo>
                      <a:pt x="167" y="11143"/>
                    </a:lnTo>
                    <a:lnTo>
                      <a:pt x="161" y="11256"/>
                    </a:lnTo>
                    <a:lnTo>
                      <a:pt x="30" y="14094"/>
                    </a:lnTo>
                    <a:cubicBezTo>
                      <a:pt x="0" y="14696"/>
                      <a:pt x="477" y="15197"/>
                      <a:pt x="1080" y="15197"/>
                    </a:cubicBezTo>
                    <a:cubicBezTo>
                      <a:pt x="1676" y="15197"/>
                      <a:pt x="2153" y="14696"/>
                      <a:pt x="2141" y="14100"/>
                    </a:cubicBezTo>
                    <a:lnTo>
                      <a:pt x="2039" y="11244"/>
                    </a:lnTo>
                    <a:lnTo>
                      <a:pt x="2033" y="11137"/>
                    </a:lnTo>
                    <a:lnTo>
                      <a:pt x="2022" y="10970"/>
                    </a:lnTo>
                    <a:lnTo>
                      <a:pt x="2010" y="10660"/>
                    </a:lnTo>
                    <a:lnTo>
                      <a:pt x="2004" y="10493"/>
                    </a:lnTo>
                    <a:lnTo>
                      <a:pt x="1992" y="10380"/>
                    </a:lnTo>
                    <a:lnTo>
                      <a:pt x="1676" y="1908"/>
                    </a:lnTo>
                    <a:lnTo>
                      <a:pt x="1634" y="841"/>
                    </a:lnTo>
                    <a:lnTo>
                      <a:pt x="1628" y="632"/>
                    </a:lnTo>
                    <a:lnTo>
                      <a:pt x="1622" y="465"/>
                    </a:lnTo>
                    <a:cubicBezTo>
                      <a:pt x="1616" y="334"/>
                      <a:pt x="1562" y="215"/>
                      <a:pt x="1473" y="137"/>
                    </a:cubicBezTo>
                    <a:cubicBezTo>
                      <a:pt x="1384" y="54"/>
                      <a:pt x="1270" y="0"/>
                      <a:pt x="11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7191932" y="268400"/>
                <a:ext cx="129671" cy="118138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1516" extrusionOk="0">
                    <a:moveTo>
                      <a:pt x="829" y="1"/>
                    </a:moveTo>
                    <a:cubicBezTo>
                      <a:pt x="829" y="1"/>
                      <a:pt x="1" y="1515"/>
                      <a:pt x="829" y="1515"/>
                    </a:cubicBezTo>
                    <a:cubicBezTo>
                      <a:pt x="1664" y="1515"/>
                      <a:pt x="829" y="1"/>
                      <a:pt x="8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7214220" y="297701"/>
                <a:ext cx="85097" cy="76759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985" extrusionOk="0">
                    <a:moveTo>
                      <a:pt x="543" y="1"/>
                    </a:moveTo>
                    <a:cubicBezTo>
                      <a:pt x="543" y="1"/>
                      <a:pt x="1" y="984"/>
                      <a:pt x="543" y="984"/>
                    </a:cubicBezTo>
                    <a:cubicBezTo>
                      <a:pt x="1092" y="984"/>
                      <a:pt x="543" y="1"/>
                      <a:pt x="5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8"/>
              <p:cNvSpPr/>
              <p:nvPr/>
            </p:nvSpPr>
            <p:spPr>
              <a:xfrm>
                <a:off x="7217493" y="436647"/>
                <a:ext cx="78161" cy="79954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1026" extrusionOk="0">
                    <a:moveTo>
                      <a:pt x="507" y="0"/>
                    </a:moveTo>
                    <a:cubicBezTo>
                      <a:pt x="245" y="0"/>
                      <a:pt x="36" y="203"/>
                      <a:pt x="18" y="465"/>
                    </a:cubicBezTo>
                    <a:lnTo>
                      <a:pt x="0" y="877"/>
                    </a:lnTo>
                    <a:cubicBezTo>
                      <a:pt x="138" y="972"/>
                      <a:pt x="305" y="1026"/>
                      <a:pt x="483" y="1026"/>
                    </a:cubicBezTo>
                    <a:cubicBezTo>
                      <a:pt x="686" y="1026"/>
                      <a:pt x="865" y="960"/>
                      <a:pt x="1002" y="847"/>
                    </a:cubicBezTo>
                    <a:lnTo>
                      <a:pt x="990" y="465"/>
                    </a:lnTo>
                    <a:cubicBezTo>
                      <a:pt x="984" y="340"/>
                      <a:pt x="931" y="221"/>
                      <a:pt x="841" y="137"/>
                    </a:cubicBezTo>
                    <a:cubicBezTo>
                      <a:pt x="752" y="54"/>
                      <a:pt x="638" y="0"/>
                      <a:pt x="507" y="0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8"/>
              <p:cNvSpPr/>
              <p:nvPr/>
            </p:nvSpPr>
            <p:spPr>
              <a:xfrm>
                <a:off x="7182815" y="370175"/>
                <a:ext cx="144244" cy="13216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696" extrusionOk="0">
                    <a:moveTo>
                      <a:pt x="923" y="1"/>
                    </a:moveTo>
                    <a:cubicBezTo>
                      <a:pt x="413" y="1"/>
                      <a:pt x="1" y="460"/>
                      <a:pt x="94" y="990"/>
                    </a:cubicBezTo>
                    <a:cubicBezTo>
                      <a:pt x="153" y="1342"/>
                      <a:pt x="434" y="1622"/>
                      <a:pt x="785" y="1682"/>
                    </a:cubicBezTo>
                    <a:cubicBezTo>
                      <a:pt x="836" y="1691"/>
                      <a:pt x="886" y="1695"/>
                      <a:pt x="935" y="1695"/>
                    </a:cubicBezTo>
                    <a:cubicBezTo>
                      <a:pt x="1441" y="1695"/>
                      <a:pt x="1850" y="1237"/>
                      <a:pt x="1763" y="710"/>
                    </a:cubicBezTo>
                    <a:cubicBezTo>
                      <a:pt x="1709" y="358"/>
                      <a:pt x="1429" y="72"/>
                      <a:pt x="1066" y="13"/>
                    </a:cubicBezTo>
                    <a:cubicBezTo>
                      <a:pt x="1018" y="5"/>
                      <a:pt x="970" y="1"/>
                      <a:pt x="9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7217025" y="398541"/>
                <a:ext cx="75823" cy="75823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73" extrusionOk="0">
                    <a:moveTo>
                      <a:pt x="489" y="0"/>
                    </a:moveTo>
                    <a:cubicBezTo>
                      <a:pt x="221" y="0"/>
                      <a:pt x="1" y="215"/>
                      <a:pt x="1" y="483"/>
                    </a:cubicBezTo>
                    <a:cubicBezTo>
                      <a:pt x="1" y="751"/>
                      <a:pt x="221" y="972"/>
                      <a:pt x="489" y="972"/>
                    </a:cubicBezTo>
                    <a:cubicBezTo>
                      <a:pt x="758" y="972"/>
                      <a:pt x="972" y="751"/>
                      <a:pt x="972" y="483"/>
                    </a:cubicBezTo>
                    <a:cubicBezTo>
                      <a:pt x="972" y="215"/>
                      <a:pt x="758" y="0"/>
                      <a:pt x="4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7919934" y="538344"/>
                <a:ext cx="66550" cy="66550"/>
              </a:xfrm>
              <a:custGeom>
                <a:avLst/>
                <a:gdLst/>
                <a:ahLst/>
                <a:cxnLst/>
                <a:rect l="l" t="t" r="r" b="b"/>
                <a:pathLst>
                  <a:path w="854" h="854" extrusionOk="0">
                    <a:moveTo>
                      <a:pt x="424" y="102"/>
                    </a:moveTo>
                    <a:cubicBezTo>
                      <a:pt x="603" y="102"/>
                      <a:pt x="752" y="251"/>
                      <a:pt x="752" y="430"/>
                    </a:cubicBezTo>
                    <a:cubicBezTo>
                      <a:pt x="752" y="603"/>
                      <a:pt x="603" y="752"/>
                      <a:pt x="424" y="752"/>
                    </a:cubicBezTo>
                    <a:cubicBezTo>
                      <a:pt x="245" y="752"/>
                      <a:pt x="96" y="603"/>
                      <a:pt x="96" y="430"/>
                    </a:cubicBezTo>
                    <a:cubicBezTo>
                      <a:pt x="96" y="251"/>
                      <a:pt x="245" y="102"/>
                      <a:pt x="424" y="102"/>
                    </a:cubicBezTo>
                    <a:close/>
                    <a:moveTo>
                      <a:pt x="424" y="1"/>
                    </a:moveTo>
                    <a:cubicBezTo>
                      <a:pt x="186" y="1"/>
                      <a:pt x="1" y="198"/>
                      <a:pt x="1" y="430"/>
                    </a:cubicBezTo>
                    <a:cubicBezTo>
                      <a:pt x="1" y="669"/>
                      <a:pt x="198" y="853"/>
                      <a:pt x="424" y="853"/>
                    </a:cubicBezTo>
                    <a:cubicBezTo>
                      <a:pt x="657" y="853"/>
                      <a:pt x="853" y="669"/>
                      <a:pt x="847" y="430"/>
                    </a:cubicBezTo>
                    <a:cubicBezTo>
                      <a:pt x="847" y="186"/>
                      <a:pt x="657" y="1"/>
                      <a:pt x="4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8"/>
              <p:cNvSpPr/>
              <p:nvPr/>
            </p:nvSpPr>
            <p:spPr>
              <a:xfrm>
                <a:off x="7758780" y="593517"/>
                <a:ext cx="183597" cy="563805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7235" extrusionOk="0">
                    <a:moveTo>
                      <a:pt x="2303" y="1"/>
                    </a:moveTo>
                    <a:cubicBezTo>
                      <a:pt x="2286" y="1"/>
                      <a:pt x="2264" y="12"/>
                      <a:pt x="2254" y="32"/>
                    </a:cubicBezTo>
                    <a:lnTo>
                      <a:pt x="6" y="7175"/>
                    </a:lnTo>
                    <a:cubicBezTo>
                      <a:pt x="0" y="7192"/>
                      <a:pt x="12" y="7222"/>
                      <a:pt x="36" y="7234"/>
                    </a:cubicBezTo>
                    <a:lnTo>
                      <a:pt x="48" y="7234"/>
                    </a:lnTo>
                    <a:cubicBezTo>
                      <a:pt x="72" y="7234"/>
                      <a:pt x="90" y="7216"/>
                      <a:pt x="96" y="7204"/>
                    </a:cubicBezTo>
                    <a:lnTo>
                      <a:pt x="2343" y="62"/>
                    </a:lnTo>
                    <a:cubicBezTo>
                      <a:pt x="2355" y="38"/>
                      <a:pt x="2337" y="8"/>
                      <a:pt x="2313" y="2"/>
                    </a:cubicBezTo>
                    <a:cubicBezTo>
                      <a:pt x="2310" y="1"/>
                      <a:pt x="2307" y="1"/>
                      <a:pt x="2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8"/>
              <p:cNvSpPr/>
              <p:nvPr/>
            </p:nvSpPr>
            <p:spPr>
              <a:xfrm>
                <a:off x="7961782" y="595388"/>
                <a:ext cx="183597" cy="563338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7229" extrusionOk="0">
                    <a:moveTo>
                      <a:pt x="49" y="1"/>
                    </a:moveTo>
                    <a:cubicBezTo>
                      <a:pt x="45" y="1"/>
                      <a:pt x="40" y="1"/>
                      <a:pt x="36" y="2"/>
                    </a:cubicBezTo>
                    <a:cubicBezTo>
                      <a:pt x="18" y="8"/>
                      <a:pt x="0" y="38"/>
                      <a:pt x="6" y="62"/>
                    </a:cubicBezTo>
                    <a:lnTo>
                      <a:pt x="2260" y="7198"/>
                    </a:lnTo>
                    <a:cubicBezTo>
                      <a:pt x="2266" y="7216"/>
                      <a:pt x="2278" y="7228"/>
                      <a:pt x="2302" y="7228"/>
                    </a:cubicBezTo>
                    <a:lnTo>
                      <a:pt x="2320" y="7228"/>
                    </a:lnTo>
                    <a:cubicBezTo>
                      <a:pt x="2344" y="7222"/>
                      <a:pt x="2355" y="7192"/>
                      <a:pt x="2349" y="7168"/>
                    </a:cubicBezTo>
                    <a:lnTo>
                      <a:pt x="96" y="32"/>
                    </a:lnTo>
                    <a:cubicBezTo>
                      <a:pt x="91" y="12"/>
                      <a:pt x="70" y="1"/>
                      <a:pt x="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7949703" y="597803"/>
                <a:ext cx="7013" cy="559519"/>
              </a:xfrm>
              <a:custGeom>
                <a:avLst/>
                <a:gdLst/>
                <a:ahLst/>
                <a:cxnLst/>
                <a:rect l="l" t="t" r="r" b="b"/>
                <a:pathLst>
                  <a:path w="90" h="7180" extrusionOk="0">
                    <a:moveTo>
                      <a:pt x="42" y="1"/>
                    </a:moveTo>
                    <a:cubicBezTo>
                      <a:pt x="24" y="1"/>
                      <a:pt x="0" y="25"/>
                      <a:pt x="0" y="43"/>
                    </a:cubicBezTo>
                    <a:lnTo>
                      <a:pt x="0" y="7131"/>
                    </a:lnTo>
                    <a:cubicBezTo>
                      <a:pt x="0" y="7155"/>
                      <a:pt x="18" y="7179"/>
                      <a:pt x="42" y="7179"/>
                    </a:cubicBezTo>
                    <a:cubicBezTo>
                      <a:pt x="66" y="7179"/>
                      <a:pt x="90" y="7155"/>
                      <a:pt x="90" y="7131"/>
                    </a:cubicBezTo>
                    <a:lnTo>
                      <a:pt x="90" y="43"/>
                    </a:lnTo>
                    <a:cubicBezTo>
                      <a:pt x="90" y="19"/>
                      <a:pt x="66" y="1"/>
                      <a:pt x="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7714595" y="1132626"/>
                <a:ext cx="477228" cy="196144"/>
              </a:xfrm>
              <a:custGeom>
                <a:avLst/>
                <a:gdLst/>
                <a:ahLst/>
                <a:cxnLst/>
                <a:rect l="l" t="t" r="r" b="b"/>
                <a:pathLst>
                  <a:path w="6124" h="2517" extrusionOk="0">
                    <a:moveTo>
                      <a:pt x="1" y="0"/>
                    </a:moveTo>
                    <a:cubicBezTo>
                      <a:pt x="281" y="1437"/>
                      <a:pt x="1539" y="2516"/>
                      <a:pt x="3059" y="2516"/>
                    </a:cubicBezTo>
                    <a:cubicBezTo>
                      <a:pt x="4579" y="2516"/>
                      <a:pt x="5849" y="1437"/>
                      <a:pt x="61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8"/>
              <p:cNvSpPr/>
              <p:nvPr/>
            </p:nvSpPr>
            <p:spPr>
              <a:xfrm>
                <a:off x="7714595" y="1132626"/>
                <a:ext cx="477228" cy="196144"/>
              </a:xfrm>
              <a:custGeom>
                <a:avLst/>
                <a:gdLst/>
                <a:ahLst/>
                <a:cxnLst/>
                <a:rect l="l" t="t" r="r" b="b"/>
                <a:pathLst>
                  <a:path w="6124" h="2517" extrusionOk="0">
                    <a:moveTo>
                      <a:pt x="5295" y="0"/>
                    </a:moveTo>
                    <a:cubicBezTo>
                      <a:pt x="4484" y="823"/>
                      <a:pt x="3626" y="1097"/>
                      <a:pt x="2841" y="1097"/>
                    </a:cubicBezTo>
                    <a:cubicBezTo>
                      <a:pt x="1273" y="1097"/>
                      <a:pt x="1" y="0"/>
                      <a:pt x="1" y="0"/>
                    </a:cubicBezTo>
                    <a:lnTo>
                      <a:pt x="1" y="0"/>
                    </a:lnTo>
                    <a:cubicBezTo>
                      <a:pt x="281" y="1437"/>
                      <a:pt x="1539" y="2516"/>
                      <a:pt x="3059" y="2516"/>
                    </a:cubicBezTo>
                    <a:cubicBezTo>
                      <a:pt x="4579" y="2516"/>
                      <a:pt x="5849" y="1437"/>
                      <a:pt x="6124" y="0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8"/>
              <p:cNvSpPr/>
              <p:nvPr/>
            </p:nvSpPr>
            <p:spPr>
              <a:xfrm>
                <a:off x="6534533" y="678225"/>
                <a:ext cx="66083" cy="66472"/>
              </a:xfrm>
              <a:custGeom>
                <a:avLst/>
                <a:gdLst/>
                <a:ahLst/>
                <a:cxnLst/>
                <a:rect l="l" t="t" r="r" b="b"/>
                <a:pathLst>
                  <a:path w="848" h="853" extrusionOk="0">
                    <a:moveTo>
                      <a:pt x="424" y="96"/>
                    </a:moveTo>
                    <a:cubicBezTo>
                      <a:pt x="603" y="96"/>
                      <a:pt x="752" y="245"/>
                      <a:pt x="752" y="424"/>
                    </a:cubicBezTo>
                    <a:cubicBezTo>
                      <a:pt x="752" y="597"/>
                      <a:pt x="603" y="746"/>
                      <a:pt x="424" y="746"/>
                    </a:cubicBezTo>
                    <a:cubicBezTo>
                      <a:pt x="245" y="746"/>
                      <a:pt x="96" y="597"/>
                      <a:pt x="96" y="424"/>
                    </a:cubicBezTo>
                    <a:cubicBezTo>
                      <a:pt x="96" y="245"/>
                      <a:pt x="245" y="96"/>
                      <a:pt x="424" y="96"/>
                    </a:cubicBezTo>
                    <a:close/>
                    <a:moveTo>
                      <a:pt x="424" y="0"/>
                    </a:moveTo>
                    <a:cubicBezTo>
                      <a:pt x="185" y="0"/>
                      <a:pt x="0" y="197"/>
                      <a:pt x="0" y="430"/>
                    </a:cubicBezTo>
                    <a:cubicBezTo>
                      <a:pt x="0" y="668"/>
                      <a:pt x="191" y="853"/>
                      <a:pt x="424" y="853"/>
                    </a:cubicBezTo>
                    <a:cubicBezTo>
                      <a:pt x="656" y="853"/>
                      <a:pt x="847" y="662"/>
                      <a:pt x="847" y="430"/>
                    </a:cubicBezTo>
                    <a:cubicBezTo>
                      <a:pt x="847" y="191"/>
                      <a:pt x="656" y="0"/>
                      <a:pt x="4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6372833" y="732931"/>
                <a:ext cx="183597" cy="563728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7234" extrusionOk="0">
                    <a:moveTo>
                      <a:pt x="2307" y="0"/>
                    </a:moveTo>
                    <a:cubicBezTo>
                      <a:pt x="2287" y="0"/>
                      <a:pt x="2265" y="12"/>
                      <a:pt x="2260" y="32"/>
                    </a:cubicBezTo>
                    <a:lnTo>
                      <a:pt x="7" y="7174"/>
                    </a:lnTo>
                    <a:cubicBezTo>
                      <a:pt x="1" y="7192"/>
                      <a:pt x="13" y="7222"/>
                      <a:pt x="36" y="7234"/>
                    </a:cubicBezTo>
                    <a:lnTo>
                      <a:pt x="54" y="7234"/>
                    </a:lnTo>
                    <a:cubicBezTo>
                      <a:pt x="78" y="7234"/>
                      <a:pt x="90" y="7222"/>
                      <a:pt x="96" y="7204"/>
                    </a:cubicBezTo>
                    <a:lnTo>
                      <a:pt x="2350" y="61"/>
                    </a:lnTo>
                    <a:cubicBezTo>
                      <a:pt x="2356" y="38"/>
                      <a:pt x="2344" y="8"/>
                      <a:pt x="2320" y="2"/>
                    </a:cubicBezTo>
                    <a:cubicBezTo>
                      <a:pt x="2316" y="1"/>
                      <a:pt x="2312" y="0"/>
                      <a:pt x="2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6576380" y="735269"/>
                <a:ext cx="183519" cy="563728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7234" extrusionOk="0">
                    <a:moveTo>
                      <a:pt x="48" y="0"/>
                    </a:moveTo>
                    <a:cubicBezTo>
                      <a:pt x="44" y="0"/>
                      <a:pt x="40" y="1"/>
                      <a:pt x="36" y="2"/>
                    </a:cubicBezTo>
                    <a:cubicBezTo>
                      <a:pt x="12" y="8"/>
                      <a:pt x="0" y="37"/>
                      <a:pt x="6" y="61"/>
                    </a:cubicBezTo>
                    <a:lnTo>
                      <a:pt x="2254" y="7204"/>
                    </a:lnTo>
                    <a:cubicBezTo>
                      <a:pt x="2266" y="7216"/>
                      <a:pt x="2277" y="7234"/>
                      <a:pt x="2301" y="7234"/>
                    </a:cubicBezTo>
                    <a:lnTo>
                      <a:pt x="2313" y="7234"/>
                    </a:lnTo>
                    <a:cubicBezTo>
                      <a:pt x="2337" y="7222"/>
                      <a:pt x="2355" y="7192"/>
                      <a:pt x="2343" y="7174"/>
                    </a:cubicBezTo>
                    <a:lnTo>
                      <a:pt x="95" y="31"/>
                    </a:lnTo>
                    <a:cubicBezTo>
                      <a:pt x="90" y="12"/>
                      <a:pt x="69" y="0"/>
                      <a:pt x="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8"/>
              <p:cNvSpPr/>
              <p:nvPr/>
            </p:nvSpPr>
            <p:spPr>
              <a:xfrm>
                <a:off x="6563834" y="737217"/>
                <a:ext cx="7013" cy="559442"/>
              </a:xfrm>
              <a:custGeom>
                <a:avLst/>
                <a:gdLst/>
                <a:ahLst/>
                <a:cxnLst/>
                <a:rect l="l" t="t" r="r" b="b"/>
                <a:pathLst>
                  <a:path w="90" h="7179" extrusionOk="0">
                    <a:moveTo>
                      <a:pt x="48" y="1"/>
                    </a:moveTo>
                    <a:cubicBezTo>
                      <a:pt x="24" y="1"/>
                      <a:pt x="0" y="24"/>
                      <a:pt x="0" y="42"/>
                    </a:cubicBezTo>
                    <a:lnTo>
                      <a:pt x="0" y="7131"/>
                    </a:lnTo>
                    <a:cubicBezTo>
                      <a:pt x="0" y="7155"/>
                      <a:pt x="24" y="7179"/>
                      <a:pt x="48" y="7179"/>
                    </a:cubicBezTo>
                    <a:cubicBezTo>
                      <a:pt x="72" y="7179"/>
                      <a:pt x="89" y="7161"/>
                      <a:pt x="89" y="7131"/>
                    </a:cubicBezTo>
                    <a:lnTo>
                      <a:pt x="89" y="42"/>
                    </a:lnTo>
                    <a:cubicBezTo>
                      <a:pt x="89" y="18"/>
                      <a:pt x="66" y="1"/>
                      <a:pt x="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8"/>
              <p:cNvSpPr/>
              <p:nvPr/>
            </p:nvSpPr>
            <p:spPr>
              <a:xfrm>
                <a:off x="6328726" y="1272429"/>
                <a:ext cx="477696" cy="196611"/>
              </a:xfrm>
              <a:custGeom>
                <a:avLst/>
                <a:gdLst/>
                <a:ahLst/>
                <a:cxnLst/>
                <a:rect l="l" t="t" r="r" b="b"/>
                <a:pathLst>
                  <a:path w="6130" h="2523" extrusionOk="0">
                    <a:moveTo>
                      <a:pt x="0" y="1"/>
                    </a:moveTo>
                    <a:cubicBezTo>
                      <a:pt x="281" y="1443"/>
                      <a:pt x="1544" y="2523"/>
                      <a:pt x="3065" y="2523"/>
                    </a:cubicBezTo>
                    <a:cubicBezTo>
                      <a:pt x="4585" y="2523"/>
                      <a:pt x="5849" y="1443"/>
                      <a:pt x="61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6328726" y="1272429"/>
                <a:ext cx="477696" cy="196611"/>
              </a:xfrm>
              <a:custGeom>
                <a:avLst/>
                <a:gdLst/>
                <a:ahLst/>
                <a:cxnLst/>
                <a:rect l="l" t="t" r="r" b="b"/>
                <a:pathLst>
                  <a:path w="6130" h="2523" extrusionOk="0">
                    <a:moveTo>
                      <a:pt x="5300" y="1"/>
                    </a:moveTo>
                    <a:cubicBezTo>
                      <a:pt x="4488" y="823"/>
                      <a:pt x="3628" y="1098"/>
                      <a:pt x="2843" y="1098"/>
                    </a:cubicBezTo>
                    <a:cubicBezTo>
                      <a:pt x="1272" y="1098"/>
                      <a:pt x="1" y="1"/>
                      <a:pt x="0" y="1"/>
                    </a:cubicBezTo>
                    <a:lnTo>
                      <a:pt x="0" y="1"/>
                    </a:lnTo>
                    <a:cubicBezTo>
                      <a:pt x="281" y="1443"/>
                      <a:pt x="1544" y="2523"/>
                      <a:pt x="3065" y="2523"/>
                    </a:cubicBezTo>
                    <a:cubicBezTo>
                      <a:pt x="4585" y="2523"/>
                      <a:pt x="5849" y="1443"/>
                      <a:pt x="6129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7181256" y="1267364"/>
                <a:ext cx="144088" cy="24703"/>
              </a:xfrm>
              <a:custGeom>
                <a:avLst/>
                <a:gdLst/>
                <a:ahLst/>
                <a:cxnLst/>
                <a:rect l="l" t="t" r="r" b="b"/>
                <a:pathLst>
                  <a:path w="1849" h="317" extrusionOk="0">
                    <a:moveTo>
                      <a:pt x="18" y="0"/>
                    </a:moveTo>
                    <a:lnTo>
                      <a:pt x="0" y="316"/>
                    </a:lnTo>
                    <a:lnTo>
                      <a:pt x="1849" y="316"/>
                    </a:lnTo>
                    <a:lnTo>
                      <a:pt x="184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8"/>
              <p:cNvSpPr/>
              <p:nvPr/>
            </p:nvSpPr>
            <p:spPr>
              <a:xfrm>
                <a:off x="7183127" y="1245933"/>
                <a:ext cx="141283" cy="8962"/>
              </a:xfrm>
              <a:custGeom>
                <a:avLst/>
                <a:gdLst/>
                <a:ahLst/>
                <a:cxnLst/>
                <a:rect l="l" t="t" r="r" b="b"/>
                <a:pathLst>
                  <a:path w="1813" h="115" extrusionOk="0">
                    <a:moveTo>
                      <a:pt x="6" y="1"/>
                    </a:moveTo>
                    <a:lnTo>
                      <a:pt x="0" y="114"/>
                    </a:lnTo>
                    <a:lnTo>
                      <a:pt x="1813" y="114"/>
                    </a:lnTo>
                    <a:lnTo>
                      <a:pt x="18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8"/>
              <p:cNvSpPr/>
              <p:nvPr/>
            </p:nvSpPr>
            <p:spPr>
              <a:xfrm>
                <a:off x="7180789" y="1304536"/>
                <a:ext cx="145491" cy="8416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108" extrusionOk="0">
                    <a:moveTo>
                      <a:pt x="0" y="0"/>
                    </a:moveTo>
                    <a:lnTo>
                      <a:pt x="0" y="107"/>
                    </a:lnTo>
                    <a:lnTo>
                      <a:pt x="1867" y="107"/>
                    </a:lnTo>
                    <a:lnTo>
                      <a:pt x="18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6751952" y="1534035"/>
                <a:ext cx="1009161" cy="127334"/>
              </a:xfrm>
              <a:custGeom>
                <a:avLst/>
                <a:gdLst/>
                <a:ahLst/>
                <a:cxnLst/>
                <a:rect l="l" t="t" r="r" b="b"/>
                <a:pathLst>
                  <a:path w="12950" h="1634" extrusionOk="0">
                    <a:moveTo>
                      <a:pt x="1634" y="0"/>
                    </a:moveTo>
                    <a:cubicBezTo>
                      <a:pt x="1181" y="0"/>
                      <a:pt x="776" y="179"/>
                      <a:pt x="478" y="477"/>
                    </a:cubicBezTo>
                    <a:cubicBezTo>
                      <a:pt x="239" y="716"/>
                      <a:pt x="78" y="1020"/>
                      <a:pt x="24" y="1371"/>
                    </a:cubicBezTo>
                    <a:cubicBezTo>
                      <a:pt x="13" y="1461"/>
                      <a:pt x="1" y="1538"/>
                      <a:pt x="1" y="1634"/>
                    </a:cubicBezTo>
                    <a:lnTo>
                      <a:pt x="12950" y="1634"/>
                    </a:lnTo>
                    <a:cubicBezTo>
                      <a:pt x="12950" y="1544"/>
                      <a:pt x="12938" y="1455"/>
                      <a:pt x="12932" y="1371"/>
                    </a:cubicBezTo>
                    <a:cubicBezTo>
                      <a:pt x="12813" y="596"/>
                      <a:pt x="12133" y="0"/>
                      <a:pt x="113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6700364" y="1660356"/>
                <a:ext cx="1110467" cy="58212"/>
              </a:xfrm>
              <a:custGeom>
                <a:avLst/>
                <a:gdLst/>
                <a:ahLst/>
                <a:cxnLst/>
                <a:rect l="l" t="t" r="r" b="b"/>
                <a:pathLst>
                  <a:path w="14250" h="747" extrusionOk="0">
                    <a:moveTo>
                      <a:pt x="376" y="1"/>
                    </a:moveTo>
                    <a:cubicBezTo>
                      <a:pt x="168" y="1"/>
                      <a:pt x="1" y="168"/>
                      <a:pt x="1" y="376"/>
                    </a:cubicBezTo>
                    <a:cubicBezTo>
                      <a:pt x="1" y="585"/>
                      <a:pt x="168" y="746"/>
                      <a:pt x="376" y="746"/>
                    </a:cubicBezTo>
                    <a:lnTo>
                      <a:pt x="13880" y="746"/>
                    </a:lnTo>
                    <a:cubicBezTo>
                      <a:pt x="14089" y="746"/>
                      <a:pt x="14250" y="585"/>
                      <a:pt x="14250" y="376"/>
                    </a:cubicBezTo>
                    <a:cubicBezTo>
                      <a:pt x="14250" y="168"/>
                      <a:pt x="14089" y="1"/>
                      <a:pt x="13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8"/>
              <p:cNvSpPr/>
              <p:nvPr/>
            </p:nvSpPr>
            <p:spPr>
              <a:xfrm>
                <a:off x="6752887" y="1640874"/>
                <a:ext cx="1008694" cy="20495"/>
              </a:xfrm>
              <a:custGeom>
                <a:avLst/>
                <a:gdLst/>
                <a:ahLst/>
                <a:cxnLst/>
                <a:rect l="l" t="t" r="r" b="b"/>
                <a:pathLst>
                  <a:path w="12944" h="263" extrusionOk="0">
                    <a:moveTo>
                      <a:pt x="12" y="0"/>
                    </a:moveTo>
                    <a:lnTo>
                      <a:pt x="1" y="263"/>
                    </a:lnTo>
                    <a:lnTo>
                      <a:pt x="12944" y="263"/>
                    </a:lnTo>
                    <a:cubicBezTo>
                      <a:pt x="12944" y="167"/>
                      <a:pt x="12932" y="84"/>
                      <a:pt x="12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" name="Google Shape;543;p38">
            <a:extLst>
              <a:ext uri="{FF2B5EF4-FFF2-40B4-BE49-F238E27FC236}">
                <a16:creationId xmlns:a16="http://schemas.microsoft.com/office/drawing/2014/main" id="{3C1634A7-7BD6-05ED-5FC6-5AF0A6443E18}"/>
              </a:ext>
            </a:extLst>
          </p:cNvPr>
          <p:cNvGrpSpPr/>
          <p:nvPr/>
        </p:nvGrpSpPr>
        <p:grpSpPr>
          <a:xfrm>
            <a:off x="2229238" y="3457993"/>
            <a:ext cx="664633" cy="664286"/>
            <a:chOff x="6212418" y="1482331"/>
            <a:chExt cx="627249" cy="626921"/>
          </a:xfrm>
        </p:grpSpPr>
        <p:sp>
          <p:nvSpPr>
            <p:cNvPr id="5" name="Google Shape;544;p38">
              <a:extLst>
                <a:ext uri="{FF2B5EF4-FFF2-40B4-BE49-F238E27FC236}">
                  <a16:creationId xmlns:a16="http://schemas.microsoft.com/office/drawing/2014/main" id="{BBA202B6-FDA3-F1BB-951F-397BABF233AB}"/>
                </a:ext>
              </a:extLst>
            </p:cNvPr>
            <p:cNvSpPr/>
            <p:nvPr/>
          </p:nvSpPr>
          <p:spPr>
            <a:xfrm>
              <a:off x="6212418" y="1482331"/>
              <a:ext cx="627249" cy="620800"/>
            </a:xfrm>
            <a:custGeom>
              <a:avLst/>
              <a:gdLst/>
              <a:ahLst/>
              <a:cxnLst/>
              <a:rect l="l" t="t" r="r" b="b"/>
              <a:pathLst>
                <a:path w="7782" h="7702" extrusionOk="0">
                  <a:moveTo>
                    <a:pt x="6112" y="1623"/>
                  </a:moveTo>
                  <a:cubicBezTo>
                    <a:pt x="6112" y="1623"/>
                    <a:pt x="6112" y="1623"/>
                    <a:pt x="6112" y="1623"/>
                  </a:cubicBezTo>
                  <a:lnTo>
                    <a:pt x="6112" y="1623"/>
                  </a:lnTo>
                  <a:cubicBezTo>
                    <a:pt x="6112" y="1623"/>
                    <a:pt x="6112" y="1623"/>
                    <a:pt x="6112" y="1623"/>
                  </a:cubicBezTo>
                  <a:close/>
                  <a:moveTo>
                    <a:pt x="1032" y="1"/>
                  </a:moveTo>
                  <a:cubicBezTo>
                    <a:pt x="1032" y="1"/>
                    <a:pt x="1" y="4037"/>
                    <a:pt x="1909" y="6207"/>
                  </a:cubicBezTo>
                  <a:cubicBezTo>
                    <a:pt x="1909" y="6207"/>
                    <a:pt x="3569" y="7701"/>
                    <a:pt x="5835" y="7701"/>
                  </a:cubicBezTo>
                  <a:cubicBezTo>
                    <a:pt x="6447" y="7701"/>
                    <a:pt x="7102" y="7592"/>
                    <a:pt x="7781" y="7316"/>
                  </a:cubicBezTo>
                  <a:cubicBezTo>
                    <a:pt x="7781" y="7316"/>
                    <a:pt x="5635" y="6499"/>
                    <a:pt x="6112" y="1623"/>
                  </a:cubicBezTo>
                  <a:lnTo>
                    <a:pt x="6112" y="1623"/>
                  </a:lnTo>
                  <a:cubicBezTo>
                    <a:pt x="6112" y="1623"/>
                    <a:pt x="6109" y="1623"/>
                    <a:pt x="6104" y="1623"/>
                  </a:cubicBezTo>
                  <a:cubicBezTo>
                    <a:pt x="5980" y="1623"/>
                    <a:pt x="4400" y="1465"/>
                    <a:pt x="10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45;p38">
              <a:extLst>
                <a:ext uri="{FF2B5EF4-FFF2-40B4-BE49-F238E27FC236}">
                  <a16:creationId xmlns:a16="http://schemas.microsoft.com/office/drawing/2014/main" id="{8C967E9C-F149-2F78-0404-8379C36107E8}"/>
                </a:ext>
              </a:extLst>
            </p:cNvPr>
            <p:cNvSpPr/>
            <p:nvPr/>
          </p:nvSpPr>
          <p:spPr>
            <a:xfrm>
              <a:off x="6365722" y="1881228"/>
              <a:ext cx="473459" cy="228024"/>
            </a:xfrm>
            <a:custGeom>
              <a:avLst/>
              <a:gdLst/>
              <a:ahLst/>
              <a:cxnLst/>
              <a:rect l="l" t="t" r="r" b="b"/>
              <a:pathLst>
                <a:path w="5874" h="2829" extrusionOk="0">
                  <a:moveTo>
                    <a:pt x="5873" y="2367"/>
                  </a:moveTo>
                  <a:cubicBezTo>
                    <a:pt x="5872" y="2368"/>
                    <a:pt x="5870" y="2368"/>
                    <a:pt x="5869" y="2369"/>
                  </a:cubicBezTo>
                  <a:lnTo>
                    <a:pt x="5869" y="2369"/>
                  </a:lnTo>
                  <a:cubicBezTo>
                    <a:pt x="5872" y="2368"/>
                    <a:pt x="5874" y="2368"/>
                    <a:pt x="5873" y="2367"/>
                  </a:cubicBezTo>
                  <a:close/>
                  <a:moveTo>
                    <a:pt x="2141" y="0"/>
                  </a:moveTo>
                  <a:cubicBezTo>
                    <a:pt x="2141" y="0"/>
                    <a:pt x="1496" y="1415"/>
                    <a:pt x="546" y="1415"/>
                  </a:cubicBezTo>
                  <a:cubicBezTo>
                    <a:pt x="373" y="1415"/>
                    <a:pt x="191" y="1368"/>
                    <a:pt x="1" y="1258"/>
                  </a:cubicBezTo>
                  <a:lnTo>
                    <a:pt x="1" y="1258"/>
                  </a:lnTo>
                  <a:cubicBezTo>
                    <a:pt x="1" y="1258"/>
                    <a:pt x="1394" y="2828"/>
                    <a:pt x="3689" y="2828"/>
                  </a:cubicBezTo>
                  <a:cubicBezTo>
                    <a:pt x="4346" y="2828"/>
                    <a:pt x="5076" y="2700"/>
                    <a:pt x="5869" y="2369"/>
                  </a:cubicBezTo>
                  <a:lnTo>
                    <a:pt x="5869" y="2369"/>
                  </a:lnTo>
                  <a:cubicBezTo>
                    <a:pt x="5850" y="2374"/>
                    <a:pt x="5766" y="2386"/>
                    <a:pt x="5633" y="2386"/>
                  </a:cubicBezTo>
                  <a:cubicBezTo>
                    <a:pt x="5034" y="2386"/>
                    <a:pt x="3434" y="2150"/>
                    <a:pt x="2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ABC76-B375-FEBC-B1C0-1E65045C0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79" y="212271"/>
            <a:ext cx="6422871" cy="751115"/>
          </a:xfrm>
        </p:spPr>
        <p:txBody>
          <a:bodyPr/>
          <a:lstStyle/>
          <a:p>
            <a:pPr algn="l"/>
            <a:r>
              <a:rPr lang="en-US" sz="1800" b="1" u="sng" dirty="0"/>
              <a:t>Criminal Case Flow – How a Criminal Case Proceeds</a:t>
            </a:r>
            <a:br>
              <a:rPr lang="en-US" sz="1800" b="1" u="sng" dirty="0"/>
            </a:br>
            <a:endParaRPr lang="en-US" sz="1800" u="sng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3D2ABA0-D03F-1CD3-5CC4-37392972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29" y="644977"/>
            <a:ext cx="8931727" cy="4008665"/>
          </a:xfrm>
        </p:spPr>
        <p:txBody>
          <a:bodyPr/>
          <a:lstStyle/>
          <a:p>
            <a:pPr algn="l"/>
            <a:r>
              <a:rPr lang="en-US" sz="1200" dirty="0"/>
              <a:t>Kamlesh is caught </a:t>
            </a:r>
            <a:r>
              <a:rPr lang="en-US" sz="1200" b="1" dirty="0"/>
              <a:t>stealing a motorcycle </a:t>
            </a:r>
            <a:r>
              <a:rPr lang="en-US" sz="1200" dirty="0"/>
              <a:t>and is arrested. The prosecutor reviews the case and initiates the </a:t>
            </a:r>
            <a:r>
              <a:rPr lang="en-US" sz="1200" b="1" dirty="0"/>
              <a:t>criminal case </a:t>
            </a:r>
            <a:r>
              <a:rPr lang="en-US" sz="1200" dirty="0"/>
              <a:t>in one of two ways:</a:t>
            </a:r>
          </a:p>
          <a:p>
            <a:pPr marL="311150" indent="-171450" algn="l">
              <a:buSzPct val="150000"/>
              <a:buFont typeface="Arial" panose="020B0604020202020204" pitchFamily="34" charset="0"/>
              <a:buChar char="•"/>
            </a:pPr>
            <a:r>
              <a:rPr lang="en-US" sz="1200" b="1" dirty="0"/>
              <a:t>Criminal Written Complaint </a:t>
            </a:r>
            <a:r>
              <a:rPr lang="en-US" sz="1200" dirty="0"/>
              <a:t>– If the prosecutor files formal charges.</a:t>
            </a:r>
          </a:p>
          <a:p>
            <a:pPr marL="311150" indent="-171450" algn="l">
              <a:buSzPct val="150000"/>
              <a:buFont typeface="Arial" panose="020B0604020202020204" pitchFamily="34" charset="0"/>
              <a:buChar char="•"/>
            </a:pPr>
            <a:r>
              <a:rPr lang="en-US" sz="1200" b="1" dirty="0"/>
              <a:t>Criminal Citation </a:t>
            </a:r>
            <a:r>
              <a:rPr lang="en-US" sz="1200" dirty="0"/>
              <a:t>– If Kamlesh was caught in a minor offense and released with a court summons.</a:t>
            </a:r>
          </a:p>
          <a:p>
            <a:pPr marL="139700" indent="0" algn="l">
              <a:buSzPct val="150000"/>
            </a:pPr>
            <a:endParaRPr lang="en-US" sz="1200" dirty="0"/>
          </a:p>
          <a:p>
            <a:pPr algn="l"/>
            <a:r>
              <a:rPr lang="en-US" sz="1200" dirty="0"/>
              <a:t>How the Case Moves in District Court (Single Defendant Cases):-</a:t>
            </a:r>
          </a:p>
          <a:p>
            <a:pPr lvl="1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Kamlesh is arrested and held in custody until his court hearing.</a:t>
            </a:r>
          </a:p>
          <a:p>
            <a:pPr marL="768350" lvl="1" indent="-171450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     </a:t>
            </a:r>
            <a:r>
              <a:rPr lang="en-US" sz="1200" b="1" dirty="0"/>
              <a:t>First Court Event : Preliminary Hearing</a:t>
            </a:r>
          </a:p>
          <a:p>
            <a:pPr lvl="2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The judge checks if there is enough evidence (probable cause) to continue.</a:t>
            </a:r>
          </a:p>
          <a:p>
            <a:pPr lvl="2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If no probable cause, Kamlesh is released (case dismissed).</a:t>
            </a:r>
          </a:p>
          <a:p>
            <a:pPr lvl="2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If probable cause is found, the case moves forward.</a:t>
            </a:r>
          </a:p>
          <a:p>
            <a:pPr lvl="1" algn="l">
              <a:buSzPct val="150000"/>
              <a:buFont typeface="Arial" panose="020B0604020202020204" pitchFamily="34" charset="0"/>
              <a:buChar char="•"/>
            </a:pPr>
            <a:r>
              <a:rPr lang="en-US" sz="1200" b="1" dirty="0"/>
              <a:t>Next Event: Arraignment &amp; Plea</a:t>
            </a:r>
          </a:p>
          <a:p>
            <a:pPr lvl="2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Kamlesh is asked to plead guilty or not guilty.</a:t>
            </a:r>
          </a:p>
          <a:p>
            <a:pPr lvl="2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If guilty, the judge sets a sentencing date.</a:t>
            </a:r>
          </a:p>
          <a:p>
            <a:pPr lvl="2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If not guilty, the case moves to trial.</a:t>
            </a:r>
          </a:p>
          <a:p>
            <a:pPr lvl="1" algn="l">
              <a:buSzPct val="150000"/>
              <a:buFont typeface="Arial" panose="020B0604020202020204" pitchFamily="34" charset="0"/>
              <a:buChar char="•"/>
            </a:pPr>
            <a:r>
              <a:rPr lang="en-US" sz="1200" b="1" dirty="0"/>
              <a:t>Trial Process</a:t>
            </a:r>
          </a:p>
          <a:p>
            <a:pPr lvl="2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A pre-trial agreement may resolve the case.</a:t>
            </a:r>
          </a:p>
          <a:p>
            <a:pPr lvl="2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If no agreement is reached, a bench trial is scheduled.</a:t>
            </a:r>
          </a:p>
          <a:p>
            <a:pPr lvl="2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If motions and pleadings settle the case, it ends before trial.</a:t>
            </a:r>
          </a:p>
          <a:p>
            <a:pPr lvl="2" algn="l">
              <a:buSzPct val="150000"/>
              <a:buFont typeface="Arial" panose="020B0604020202020204" pitchFamily="34" charset="0"/>
              <a:buChar char="•"/>
            </a:pPr>
            <a:r>
              <a:rPr lang="en-US" sz="1200" dirty="0"/>
              <a:t>Otherwise, Kamlesh faces trial where the judge decides the outcome.</a:t>
            </a:r>
          </a:p>
          <a:p>
            <a:pPr marL="139700" indent="0" algn="l">
              <a:buSzPct val="150000"/>
            </a:pPr>
            <a:r>
              <a:rPr lang="en-US" sz="1200" dirty="0"/>
              <a:t>-&gt; JIMS tracks every stage, from case filing to final judgment!</a:t>
            </a:r>
          </a:p>
          <a:p>
            <a:pPr algn="l"/>
            <a:endParaRPr lang="en-US" sz="1200" dirty="0"/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66980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u="sng" dirty="0">
                <a:latin typeface="Archivo" panose="020B0604020202020204" charset="0"/>
                <a:cs typeface="Archivo" panose="020B0604020202020204" charset="0"/>
              </a:rPr>
              <a:t>Case Initiation – How a Criminal Case Starts</a:t>
            </a:r>
            <a:br>
              <a:rPr lang="en-US" sz="2400" u="sng" dirty="0">
                <a:latin typeface="Archivo" panose="020B0604020202020204" charset="0"/>
                <a:cs typeface="Archivo" panose="020B0604020202020204" charset="0"/>
              </a:rPr>
            </a:br>
            <a:endParaRPr sz="24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629" name="Google Shape;629;p39"/>
          <p:cNvGrpSpPr/>
          <p:nvPr/>
        </p:nvGrpSpPr>
        <p:grpSpPr>
          <a:xfrm>
            <a:off x="1130554" y="3942625"/>
            <a:ext cx="396322" cy="572701"/>
            <a:chOff x="1943179" y="1609600"/>
            <a:chExt cx="396322" cy="572701"/>
          </a:xfrm>
        </p:grpSpPr>
        <p:sp>
          <p:nvSpPr>
            <p:cNvPr id="630" name="Google Shape;630;p39"/>
            <p:cNvSpPr/>
            <p:nvPr/>
          </p:nvSpPr>
          <p:spPr>
            <a:xfrm>
              <a:off x="1963142" y="1609600"/>
              <a:ext cx="376358" cy="529154"/>
            </a:xfrm>
            <a:custGeom>
              <a:avLst/>
              <a:gdLst/>
              <a:ahLst/>
              <a:cxnLst/>
              <a:rect l="l" t="t" r="r" b="b"/>
              <a:pathLst>
                <a:path w="6749" h="9489" extrusionOk="0">
                  <a:moveTo>
                    <a:pt x="6312" y="1"/>
                  </a:moveTo>
                  <a:cubicBezTo>
                    <a:pt x="6191" y="1"/>
                    <a:pt x="6072" y="59"/>
                    <a:pt x="5998" y="170"/>
                  </a:cubicBezTo>
                  <a:lnTo>
                    <a:pt x="0" y="9053"/>
                  </a:lnTo>
                  <a:lnTo>
                    <a:pt x="632" y="9488"/>
                  </a:lnTo>
                  <a:lnTo>
                    <a:pt x="6630" y="593"/>
                  </a:lnTo>
                  <a:cubicBezTo>
                    <a:pt x="6749" y="426"/>
                    <a:pt x="6707" y="187"/>
                    <a:pt x="6528" y="68"/>
                  </a:cubicBezTo>
                  <a:cubicBezTo>
                    <a:pt x="6462" y="23"/>
                    <a:pt x="6387" y="1"/>
                    <a:pt x="6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9"/>
            <p:cNvSpPr/>
            <p:nvPr/>
          </p:nvSpPr>
          <p:spPr>
            <a:xfrm>
              <a:off x="1943179" y="2114379"/>
              <a:ext cx="55263" cy="67922"/>
            </a:xfrm>
            <a:custGeom>
              <a:avLst/>
              <a:gdLst/>
              <a:ahLst/>
              <a:cxnLst/>
              <a:rect l="l" t="t" r="r" b="b"/>
              <a:pathLst>
                <a:path w="991" h="1218" extrusionOk="0">
                  <a:moveTo>
                    <a:pt x="358" y="1"/>
                  </a:moveTo>
                  <a:lnTo>
                    <a:pt x="0" y="1217"/>
                  </a:lnTo>
                  <a:lnTo>
                    <a:pt x="0" y="1217"/>
                  </a:lnTo>
                  <a:lnTo>
                    <a:pt x="990" y="436"/>
                  </a:lnTo>
                  <a:lnTo>
                    <a:pt x="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9"/>
            <p:cNvSpPr/>
            <p:nvPr/>
          </p:nvSpPr>
          <p:spPr>
            <a:xfrm>
              <a:off x="2270962" y="1642278"/>
              <a:ext cx="46620" cy="40653"/>
            </a:xfrm>
            <a:custGeom>
              <a:avLst/>
              <a:gdLst/>
              <a:ahLst/>
              <a:cxnLst/>
              <a:rect l="l" t="t" r="r" b="b"/>
              <a:pathLst>
                <a:path w="836" h="729" extrusionOk="0">
                  <a:moveTo>
                    <a:pt x="198" y="1"/>
                  </a:moveTo>
                  <a:lnTo>
                    <a:pt x="1" y="293"/>
                  </a:lnTo>
                  <a:lnTo>
                    <a:pt x="633" y="728"/>
                  </a:lnTo>
                  <a:lnTo>
                    <a:pt x="835" y="430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9"/>
            <p:cNvSpPr/>
            <p:nvPr/>
          </p:nvSpPr>
          <p:spPr>
            <a:xfrm>
              <a:off x="2074504" y="1933201"/>
              <a:ext cx="46564" cy="40262"/>
            </a:xfrm>
            <a:custGeom>
              <a:avLst/>
              <a:gdLst/>
              <a:ahLst/>
              <a:cxnLst/>
              <a:rect l="l" t="t" r="r" b="b"/>
              <a:pathLst>
                <a:path w="835" h="722" extrusionOk="0">
                  <a:moveTo>
                    <a:pt x="203" y="1"/>
                  </a:moveTo>
                  <a:lnTo>
                    <a:pt x="0" y="293"/>
                  </a:lnTo>
                  <a:lnTo>
                    <a:pt x="638" y="722"/>
                  </a:lnTo>
                  <a:lnTo>
                    <a:pt x="835" y="430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2068481" y="1953833"/>
              <a:ext cx="38645" cy="28607"/>
            </a:xfrm>
            <a:custGeom>
              <a:avLst/>
              <a:gdLst/>
              <a:ahLst/>
              <a:cxnLst/>
              <a:rect l="l" t="t" r="r" b="b"/>
              <a:pathLst>
                <a:path w="693" h="513" extrusionOk="0">
                  <a:moveTo>
                    <a:pt x="55" y="0"/>
                  </a:moveTo>
                  <a:lnTo>
                    <a:pt x="1" y="84"/>
                  </a:lnTo>
                  <a:lnTo>
                    <a:pt x="639" y="513"/>
                  </a:lnTo>
                  <a:lnTo>
                    <a:pt x="693" y="429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2088780" y="1923888"/>
              <a:ext cx="38645" cy="28663"/>
            </a:xfrm>
            <a:custGeom>
              <a:avLst/>
              <a:gdLst/>
              <a:ahLst/>
              <a:cxnLst/>
              <a:rect l="l" t="t" r="r" b="b"/>
              <a:pathLst>
                <a:path w="693" h="514" extrusionOk="0">
                  <a:moveTo>
                    <a:pt x="54" y="1"/>
                  </a:moveTo>
                  <a:lnTo>
                    <a:pt x="1" y="84"/>
                  </a:lnTo>
                  <a:lnTo>
                    <a:pt x="639" y="513"/>
                  </a:lnTo>
                  <a:lnTo>
                    <a:pt x="692" y="430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9"/>
            <p:cNvSpPr/>
            <p:nvPr/>
          </p:nvSpPr>
          <p:spPr>
            <a:xfrm>
              <a:off x="2302246" y="1663580"/>
              <a:ext cx="28273" cy="25931"/>
            </a:xfrm>
            <a:custGeom>
              <a:avLst/>
              <a:gdLst/>
              <a:ahLst/>
              <a:cxnLst/>
              <a:rect l="l" t="t" r="r" b="b"/>
              <a:pathLst>
                <a:path w="507" h="465" extrusionOk="0">
                  <a:moveTo>
                    <a:pt x="197" y="0"/>
                  </a:moveTo>
                  <a:lnTo>
                    <a:pt x="0" y="298"/>
                  </a:lnTo>
                  <a:lnTo>
                    <a:pt x="197" y="430"/>
                  </a:lnTo>
                  <a:cubicBezTo>
                    <a:pt x="230" y="453"/>
                    <a:pt x="267" y="464"/>
                    <a:pt x="303" y="464"/>
                  </a:cubicBezTo>
                  <a:cubicBezTo>
                    <a:pt x="360" y="464"/>
                    <a:pt x="415" y="436"/>
                    <a:pt x="447" y="382"/>
                  </a:cubicBezTo>
                  <a:cubicBezTo>
                    <a:pt x="507" y="298"/>
                    <a:pt x="483" y="185"/>
                    <a:pt x="400" y="132"/>
                  </a:cubicBezTo>
                  <a:lnTo>
                    <a:pt x="1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9"/>
            <p:cNvSpPr/>
            <p:nvPr/>
          </p:nvSpPr>
          <p:spPr>
            <a:xfrm>
              <a:off x="2201814" y="1676852"/>
              <a:ext cx="124412" cy="181961"/>
            </a:xfrm>
            <a:custGeom>
              <a:avLst/>
              <a:gdLst/>
              <a:ahLst/>
              <a:cxnLst/>
              <a:rect l="l" t="t" r="r" b="b"/>
              <a:pathLst>
                <a:path w="2231" h="3263" extrusionOk="0">
                  <a:moveTo>
                    <a:pt x="2129" y="1"/>
                  </a:moveTo>
                  <a:lnTo>
                    <a:pt x="42" y="3095"/>
                  </a:lnTo>
                  <a:cubicBezTo>
                    <a:pt x="1" y="3143"/>
                    <a:pt x="19" y="3226"/>
                    <a:pt x="78" y="3262"/>
                  </a:cubicBezTo>
                  <a:lnTo>
                    <a:pt x="2230" y="66"/>
                  </a:lnTo>
                  <a:lnTo>
                    <a:pt x="2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9"/>
            <p:cNvSpPr/>
            <p:nvPr/>
          </p:nvSpPr>
          <p:spPr>
            <a:xfrm>
              <a:off x="2208115" y="1754643"/>
              <a:ext cx="68591" cy="96641"/>
            </a:xfrm>
            <a:custGeom>
              <a:avLst/>
              <a:gdLst/>
              <a:ahLst/>
              <a:cxnLst/>
              <a:rect l="l" t="t" r="r" b="b"/>
              <a:pathLst>
                <a:path w="1230" h="1733" extrusionOk="0">
                  <a:moveTo>
                    <a:pt x="1158" y="1"/>
                  </a:moveTo>
                  <a:lnTo>
                    <a:pt x="1" y="1712"/>
                  </a:lnTo>
                  <a:cubicBezTo>
                    <a:pt x="24" y="1726"/>
                    <a:pt x="50" y="1732"/>
                    <a:pt x="76" y="1732"/>
                  </a:cubicBezTo>
                  <a:cubicBezTo>
                    <a:pt x="118" y="1732"/>
                    <a:pt x="158" y="1715"/>
                    <a:pt x="180" y="1682"/>
                  </a:cubicBezTo>
                  <a:lnTo>
                    <a:pt x="1193" y="186"/>
                  </a:lnTo>
                  <a:cubicBezTo>
                    <a:pt x="1229" y="120"/>
                    <a:pt x="1217" y="37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2A0A08-C35A-3E79-B286-7BF84C8CB181}"/>
              </a:ext>
            </a:extLst>
          </p:cNvPr>
          <p:cNvSpPr txBox="1"/>
          <p:nvPr/>
        </p:nvSpPr>
        <p:spPr>
          <a:xfrm>
            <a:off x="720000" y="1017725"/>
            <a:ext cx="785757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Once the prosecutor files a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Criminal Written Complaint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or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Criminal Citation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, the court staff use the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Create Case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function to register the case in the system. This is where case initiation begins in the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Judiciary Information Management System (JIMS).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Criminal Case Details Required: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Basic Case Information: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Depends on whether the case is in Circuit, Family, or District Court.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Defendant Information: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Kamlesh, who was arrested, is added as the defendant.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Plaintiff: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The system automatically lists the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State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as the plaintiff since criminal cases are offenses against the government.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Charges: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At least one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violation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(for District Court cases) or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offense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(for Circuit/Family Court cases) is recorded.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-&gt; This marks the official start of Kamlesh’s case, enabling further court proceedings.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F552B-F358-FE33-064F-817A3AD1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171450"/>
            <a:ext cx="8048443" cy="2269672"/>
          </a:xfrm>
        </p:spPr>
        <p:txBody>
          <a:bodyPr/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Court Types &amp; Case Types</a:t>
            </a:r>
            <a:br>
              <a:rPr lang="en-US" sz="1200" b="1" dirty="0">
                <a:latin typeface="Archivo" panose="020B0604020202020204" charset="0"/>
                <a:cs typeface="Archivo" panose="020B0604020202020204" charset="0"/>
              </a:rPr>
            </a:br>
            <a:br>
              <a:rPr lang="en-US" sz="1200" b="1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When a case is initiated, the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court type 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determines which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case type 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can be selected: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-&gt;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Circuit Court (CC): 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Handles both civil and criminal cases, including serious felonies.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-&gt;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District Court (DC): 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Handles both civil and criminal cases, including misdemeanors.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-&gt;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Family Court (FC): 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Handles family-related civil and criminal cases (e.g., juvenile offenses, domestic      violence).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-&gt; Intermediate Court of Appeals (ICA): 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Handles Appeals (AP), Other (OT), and Agreed Statement (ST) case types.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-&gt;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Supreme Court: 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Handles constitutional matters, final appeals, and high-profile cases.</a:t>
            </a:r>
            <a:br>
              <a:rPr lang="en-US" sz="1200" dirty="0">
                <a:latin typeface="Archivo" panose="020B0604020202020204" charset="0"/>
                <a:cs typeface="Archivo" panose="020B0604020202020204" charset="0"/>
              </a:rPr>
            </a:b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789326-BA9A-5BE2-B5F2-C57E8F6A3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15" y="2571750"/>
            <a:ext cx="7935685" cy="226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33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CA75D-C5EE-DA53-A6CF-D2F4CE15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37550"/>
            <a:ext cx="7704000" cy="1852507"/>
          </a:xfrm>
        </p:spPr>
        <p:txBody>
          <a:bodyPr/>
          <a:lstStyle/>
          <a:p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After selecting the court type and case type, clicking "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Continue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" will open various tabs where important case details are entered: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-&gt; 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Summary Tab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: Displays key case details.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-&gt; 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Parties Tab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: Adds defendants, attorneys, and other involved parties.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-&gt; </a:t>
            </a:r>
            <a:r>
              <a:rPr lang="en-US" sz="1000" dirty="0"/>
              <a:t>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Violation Tab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: Captures offense details, statutes violated, and police report numbers.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-&gt; 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Events Tab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: Logs hearings, arraignments, and trials.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-&gt; 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Dockets Tab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: Stores legal documents, filings, and orders.</a:t>
            </a:r>
            <a:br>
              <a:rPr lang="en-US" sz="1400" b="0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-&gt;  </a:t>
            </a:r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Notes Tab</a:t>
            </a:r>
            <a:r>
              <a:rPr lang="en-US" sz="1400" b="0" dirty="0">
                <a:latin typeface="Archivo" panose="020B0604020202020204" charset="0"/>
                <a:cs typeface="Archivo" panose="020B0604020202020204" charset="0"/>
              </a:rPr>
              <a:t>: Records additional case-related information.</a:t>
            </a:r>
            <a:br>
              <a:rPr lang="en-US" sz="1200" dirty="0"/>
            </a:b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6ADC8-FAB9-873D-0E57-39A1CD2DA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50" y="2163535"/>
            <a:ext cx="7704000" cy="284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66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8B8B-216B-2283-7EC0-B4E797AC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Case Inquiry/Maintenance – Continuing Kamlesh’s Case</a:t>
            </a: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7D0EE-BB74-34EA-AD83-22603FBFD057}"/>
              </a:ext>
            </a:extLst>
          </p:cNvPr>
          <p:cNvSpPr txBox="1"/>
          <p:nvPr/>
        </p:nvSpPr>
        <p:spPr>
          <a:xfrm>
            <a:off x="375557" y="957739"/>
            <a:ext cx="837655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After Kamlesh’s case is initiated in the system, court staff use the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Case Inquiry/Maintenance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function to track and manage all updates related to his case.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Case Search &amp; Maintenance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Court staff can search for Kamlesh’s case using his name, case number, or other identifiers. Once retrieved, they can add new details like additional charges, attorneys, or schedule upcoming hearings.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Scheduling Court Hearings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If Kamlesh pleads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not guilty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, court staff use this function to schedule pre-trial hearings, trial dates, and other necessary proceedings.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Docketing Additional Documents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Any new legal filings, such as motions submitted by the defense attorney or prosecution, are uploaded under the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Dockets Tab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to maintain an official record.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On-Demand Printing (ODP) Documents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If the judge issues a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summons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for a witness or an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order for Kamlesh’s release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, the system generates preformatted court documents, which are automatically docketed in his case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Compliance &amp; Reports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If Kamlesh’s case is inactive for too long without required legal actions (like missing a court-mandated deadline), staff review compliance reports and issue dismissals if necessary.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This module ensures all court proceedings, from arraignment to trial or dismissal, are documented, scheduled, and legally processed within the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99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776E-AFFD-B8DA-6EE2-FA97ACAE4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E31B-5C95-E818-C487-7388E962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Work Queue</a:t>
            </a: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6E3DF-97E6-AE43-2B9E-8AA8BE0ABC82}"/>
              </a:ext>
            </a:extLst>
          </p:cNvPr>
          <p:cNvSpPr txBox="1"/>
          <p:nvPr/>
        </p:nvSpPr>
        <p:spPr>
          <a:xfrm>
            <a:off x="375557" y="1137353"/>
            <a:ext cx="83765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As Kamlesh’s case progresses, various legal documents (dockets) are filed by attorneys, court staff, or other involved parties. The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Work Queue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acts as an inbox where these documents are stored for review and action by court staff.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My Work Queue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If a court clerk is assigned to Kamlesh’s case, any documents requiring their attention (like a motion filed by the defense) will appear in their personal work queue.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Case ID Queue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Court staff can search for Kamlesh’s case directly by its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Case ID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and view all pending tasks related to it, such as scheduling a hearing or updating a ruling.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Manage Work Queue Rules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Supervisors set up rules to ensure that critical tasks—such as reviewing a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new evidence submission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—are automatically assigned to the right court personnel.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The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Work Queue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ensures that every necessary action in Kamlesh’s case, from reviewing legal filings to scheduling hearings, is handled promptly and efficiently.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20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B475D-8C3C-9727-9F74-C7696979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B902-1F0F-E892-9DE3-99E7F8A5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Calendaring – Scheduling Kamlesh’s Court Hearings</a:t>
            </a:r>
            <a:br>
              <a:rPr lang="en-US" sz="1000" b="1" dirty="0"/>
            </a:b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76CD13-C9D9-F46D-2CD7-B1D41922DB78}"/>
              </a:ext>
            </a:extLst>
          </p:cNvPr>
          <p:cNvSpPr txBox="1"/>
          <p:nvPr/>
        </p:nvSpPr>
        <p:spPr>
          <a:xfrm>
            <a:off x="375557" y="1137353"/>
            <a:ext cx="837655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Once Kamlesh’s case moves forward, the court staff schedules hearings and trials using the Calendaring function.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This ensures that all upcoming events are properly documented and organized.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Scheduling Court Events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Before a court hearing, staff schedule the preliminary hearing, arraignment, and trial dates in the system. For example, Kamlesh's arraignment &amp; plea hearing is scheduled in the District Court.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Generating Court Calendar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Once scheduled, the system generates a daily court calendar showing all hearings for a specific day, categorized by courtroom and division.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Printing the Calendar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Court clerks print the official court calendar (PDF) for judges, attorneys, and other staff to prepare for the day's proceedings.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With Calendaring, all of Kamlesh’s court events—from preliminary hearings to final sentencing—are systematically planned and accessible to authorized staff.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084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4FFB0-357C-D308-7EA0-25C81389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30BA-613F-EB21-8422-4C67A1EAB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Bench Warrant – Handling Kamlesh’s Missed Criminal Court Appearance</a:t>
            </a:r>
            <a:br>
              <a:rPr lang="en-US" sz="1000" b="1" dirty="0"/>
            </a:b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8A5CD-E724-8F72-6BC6-F5E3D0F20002}"/>
              </a:ext>
            </a:extLst>
          </p:cNvPr>
          <p:cNvSpPr txBox="1"/>
          <p:nvPr/>
        </p:nvSpPr>
        <p:spPr>
          <a:xfrm>
            <a:off x="375557" y="1017725"/>
            <a:ext cx="837655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If Kamlesh fails to appear for his scheduled criminal case hearing, the judge may order a bench warrant for his arrest.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The court staff then uses the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Bench Warrant function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to officially issue and track the warrant.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Issuing a Bench Warrant (Criminal Case - BWC)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</a:t>
            </a:r>
          </a:p>
          <a:p>
            <a:pPr lvl="8"/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Since Kamlesh missed his criminal court appearance, the court issues a Bench Warrant – 	      Criminal (BWC).</a:t>
            </a:r>
          </a:p>
          <a:p>
            <a:pPr lvl="5"/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The system generates and dockets the warrant under Kamlesh’s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Managing Bench Warrants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</a:t>
            </a:r>
          </a:p>
          <a:p>
            <a:pPr lvl="2"/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	-&gt; Recall Warrant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If Kamlesh later appears in court or provides a valid reason, the judge may 	recall the warrant, and the staff updates the system accordingly.</a:t>
            </a:r>
          </a:p>
          <a:p>
            <a:pPr lvl="1"/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Update Warrant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 If any details of the warrant change (e.g., bond amount, conditions), the          	staff can update the warrant details in the system.</a:t>
            </a:r>
          </a:p>
          <a:p>
            <a:pPr lvl="1"/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With the Bench Warrant function, the court ensures that defendants like Kamlesh cannot evade justice by missing their scheduled hearings.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964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7C65-500A-0697-C6F2-8AE24886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65B1-CFFC-7B5B-6B93-49039D4C4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User Administration – Managing Court System Access for Kamlesh’s Case</a:t>
            </a: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189733-220E-546E-C1A8-73A57DF83453}"/>
              </a:ext>
            </a:extLst>
          </p:cNvPr>
          <p:cNvSpPr txBox="1"/>
          <p:nvPr/>
        </p:nvSpPr>
        <p:spPr>
          <a:xfrm>
            <a:off x="391886" y="1017725"/>
            <a:ext cx="837655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The User Administration function ensures that only authorized court personnel can access and manage cases, including Kamlesh’s criminal case.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E-Filing User Profiles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</a:t>
            </a:r>
          </a:p>
          <a:p>
            <a:pPr lvl="1"/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Court supervisors manage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electronic filing (JEFS) user profiles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, ensuring that attorneys, 	      prosecutors, and court staff have the right access to file and retrieve documents.</a:t>
            </a:r>
          </a:p>
          <a:p>
            <a:pPr lvl="1"/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If Kamlesh’s attorney needs access to submit motions or evidence, their profile is configured 	      by the admin.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In-Camera Access for Judges’ Staff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: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Some case documents may be sensitive or confidential (e.g. sealed evidence, witness 	      identities).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Judges can grant their staff (court clerks, judicial assistants) permission to view in-camera 	      documents related to Kamlesh’s case.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With User Administration, the court ensures secure, role-based access to sensitive case information, maintaining data privacy and judicial efficiency.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103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75F10-DE63-6014-1635-BB00E058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u="sng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 Kokua – Public &amp; Internal Access to Kamlesh’s Case</a:t>
            </a: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0B698-342B-1989-0956-A0001072AB3C}"/>
              </a:ext>
            </a:extLst>
          </p:cNvPr>
          <p:cNvSpPr txBox="1"/>
          <p:nvPr/>
        </p:nvSpPr>
        <p:spPr>
          <a:xfrm>
            <a:off x="720000" y="1017725"/>
            <a:ext cx="77040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Kokua is a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read-only portal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that enables court staff and the public to view case details while ensuring security and transparency.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Types of </a:t>
            </a:r>
            <a:r>
              <a:rPr lang="en-US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Kokua Access: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Internal </a:t>
            </a:r>
            <a:r>
              <a:rPr lang="en-US" b="1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 Kokua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Used by court staff to access Kamlesh’s case details, review court events, and obtain certified documents. Judges can also view Judge’s Exhibit for criminal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External </a:t>
            </a:r>
            <a:r>
              <a:rPr lang="en-US" b="1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 Kokua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Attorneys, prosecutors, and the public can search for and view non-confidential case details (e.g., Kamlesh’s next hearing date). Documents can be purchased as certified or non-certified copies.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Kiosk Access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Available at designated courthouse kiosks, allowing individuals to check case statuses without logging into the internal system. Documents can be viewed but must be purchased over the counter.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JEFS Document Subscription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Attorneys and registered users can subscribe for automated updates on Kamlesh’s case, ensuring they receive notifications for filings, motions, and court orders.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With </a:t>
            </a:r>
            <a:r>
              <a:rPr lang="en-US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Kokua, court information remains accessible, organized, and transparent, supporting fair trial procedures for Kamlesh and all involved parties.</a:t>
            </a:r>
          </a:p>
        </p:txBody>
      </p:sp>
    </p:spTree>
    <p:extLst>
      <p:ext uri="{BB962C8B-B14F-4D97-AF65-F5344CB8AC3E}">
        <p14:creationId xmlns:p14="http://schemas.microsoft.com/office/powerpoint/2010/main" val="572865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40E1-26A6-2755-2E72-8DF50EE0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3DCA-1D24-48BB-89A1-C04B083A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 Kokua – Versions &amp; Differences</a:t>
            </a: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F18B92-9104-B6FD-CC89-8C776235893C}"/>
              </a:ext>
            </a:extLst>
          </p:cNvPr>
          <p:cNvSpPr txBox="1"/>
          <p:nvPr/>
        </p:nvSpPr>
        <p:spPr>
          <a:xfrm>
            <a:off x="391886" y="944246"/>
            <a:ext cx="8376557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Internal </a:t>
            </a:r>
            <a:r>
              <a:rPr lang="en-US" sz="1300" b="1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 Kokua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Used by court staff for viewing case details and court events via calendar search.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Judges have access to Judge’s Exhibit for criminal case details.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Allows retrieval of certified documents based on user permissions.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Designed for JIMS users, inheriting their security permissions.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External </a:t>
            </a:r>
            <a:r>
              <a:rPr lang="en-US" sz="1300" b="1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 Kokua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Public access to non-confidential cases and documents.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Users must purchase documents (two types available):</a:t>
            </a:r>
          </a:p>
          <a:p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	-&gt; Non-certified copies</a:t>
            </a:r>
          </a:p>
          <a:p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	-&gt; Certified copies (priced higher)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Purchased documents can be downloaded as PDFs.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sz="1300" b="1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 Kokua Kiosk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Available only in courthouses at designated kiosks.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Public can view non-confidential cases &amp; documents without purchasing.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For printed copies, users must approach court staff for purchase.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JEFS Document Subscription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Subscription-based access to case documents.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No additional pay-per-document charges for subscribers.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Similar to External </a:t>
            </a:r>
            <a:r>
              <a:rPr lang="en-US" sz="1300" dirty="0" err="1">
                <a:latin typeface="Archivo" panose="020B0604020202020204" charset="0"/>
                <a:cs typeface="Archivo" panose="020B0604020202020204" charset="0"/>
              </a:rPr>
              <a:t>eCourt</a:t>
            </a: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 Kokua but includes document access in the plan.</a:t>
            </a:r>
          </a:p>
          <a:p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014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19BFE-A9CB-CA91-83F1-0BD9D6E6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681FD-12F4-049B-023C-AC757B8C9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Scheduling and Event Management – Kamlesh’s Case</a:t>
            </a: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D75C3-0167-37CE-E1A0-BD95D48F3E41}"/>
              </a:ext>
            </a:extLst>
          </p:cNvPr>
          <p:cNvSpPr txBox="1"/>
          <p:nvPr/>
        </p:nvSpPr>
        <p:spPr>
          <a:xfrm>
            <a:off x="391886" y="944246"/>
            <a:ext cx="837655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Kamlesh is involved in a criminal case, and proper scheduling of court events is crucial for ensuring a smooth judicial process.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The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Scheduling and Event Management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functionality helps court staff manage all hearings and proceedings related to his case.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How Scheduling Works in Kamlesh’s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Pre-Scheduled Events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Kamlesh’s arraignment and trial hearings are scheduled in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Cancel Events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a preliminary hearing is no longer needed due to a plea deal, it can be canceled.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Edit Events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the trial date needs to be postponed due to new evidence, the staff can modify the schedule.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Associate Case Dockets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Any new motions filed by Kamlesh’s attorney (e.g. a motion to dismiss evidence) can be linked to his upcoming court hearing.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Generate Amended Notice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Kamlesh’s court date changes, the system generates an updated notice automatically.</a:t>
            </a:r>
            <a:br>
              <a:rPr lang="en-US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Delete Events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an unnecessary hearing was scheduled in error, it can be removed.</a:t>
            </a:r>
            <a:br>
              <a:rPr lang="en-US" dirty="0">
                <a:latin typeface="Archivo" panose="020B0604020202020204" charset="0"/>
                <a:cs typeface="Archivo" panose="020B0604020202020204" charset="0"/>
              </a:rPr>
            </a:b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Copy Events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a status hearing is needed on a future date, staff can duplicate the existing 	      event, ensuring consistency.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This functionality ensures that Kamlesh’s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criminal case proceedings are accurately managed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, keeping all parties informed and reducing scheduling conflicts.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695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7212F-9AE4-D252-21B8-49DFE9F9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B058-6030-D98E-0278-3BDE78116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Tracking Items – Managing Judicial Documents in Kamlesh’s Case</a:t>
            </a: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125DA6-B335-9467-D2C8-F32F7576DCC6}"/>
              </a:ext>
            </a:extLst>
          </p:cNvPr>
          <p:cNvSpPr txBox="1"/>
          <p:nvPr/>
        </p:nvSpPr>
        <p:spPr>
          <a:xfrm>
            <a:off x="391886" y="944246"/>
            <a:ext cx="83765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Tracking items are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official court documents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signed by judges or clerks, maintained as paper records.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These documents are not directly linked to any specific case in JIMS, but they play a crucial role in judicial operations.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Types of Tracking Items Relevant to Kamlesh’s Criminal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Search Warrants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law enforcement needs to search Kamlesh’s residence for evidence, they must obtain a search warrant signed by a judge.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Arrest Warrants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Kamlesh fails to appear for a scheduled court hearing, an arrest warrant may be issued.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Administrative Warrants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the court requires additional actions outside of a criminal case, such as enforcing compliance with a court order, an administrative warrant may be generated.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Tracking Item Operations: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Create Tracking Items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A new search warrant can be issued for an investigation related to Kamlesh’s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Search Tracking Items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Court staff can retrieve and verify past warrants or judicial orders related to Kamlesh.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This system ensures that important judicial documents are efficiently recorded and retrieved, helping maintain accountability and due process in Kamlesh’s case.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585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B3B93-0F74-37DB-4142-BBDE4A31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0652-E0D3-3033-537A-6E31CE2E4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Adoption Case Management</a:t>
            </a:r>
            <a:br>
              <a:rPr lang="en-US" sz="1000" b="1" dirty="0"/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60517-7BA8-B050-7AB1-7380994D4F5E}"/>
              </a:ext>
            </a:extLst>
          </p:cNvPr>
          <p:cNvSpPr txBox="1"/>
          <p:nvPr/>
        </p:nvSpPr>
        <p:spPr>
          <a:xfrm>
            <a:off x="391886" y="944246"/>
            <a:ext cx="837655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When a family adopts a child, they must file an adoption case with the judiciary.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The court clerk then creates an adoption case under the Family Court, ensuring all necessary details are documented.</a:t>
            </a:r>
          </a:p>
          <a:p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Key Adoption Case Details: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Court Type: Family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Case Type: Adoption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Confidentiality: By default, adoption cases are marked as confidential to protect privacy.</a:t>
            </a:r>
          </a:p>
          <a:p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Steps in Adoption Case Creation: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Filling Mandatory Fields</a:t>
            </a: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 – The party details, dockets, and summary fields must be completed.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Submitting the Case</a:t>
            </a: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 – Once submitted, the system creates an adoption case in JIMS.</a:t>
            </a:r>
          </a:p>
          <a:p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Searching for Adoption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Search by Case ID</a:t>
            </a: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 – Users can retrieve adoption cases by entering the </a:t>
            </a: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unique case ID</a:t>
            </a: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Search by Person</a:t>
            </a: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 – The system allows searches based on </a:t>
            </a: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the individual's name</a:t>
            </a: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, linking them to any adoption records.</a:t>
            </a:r>
          </a:p>
          <a:p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Access Control: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Restricted Access</a:t>
            </a: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 – If a court user does not have permission, they cannot view adoption-related records, ensuring sensitive data is protected.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This system maintains </a:t>
            </a:r>
            <a:r>
              <a:rPr lang="en-US" sz="1300" b="1" dirty="0">
                <a:latin typeface="Archivo" panose="020B0604020202020204" charset="0"/>
                <a:cs typeface="Archivo" panose="020B0604020202020204" charset="0"/>
              </a:rPr>
              <a:t>privacy and efficiency</a:t>
            </a:r>
            <a:r>
              <a:rPr lang="en-US" sz="1300" dirty="0">
                <a:latin typeface="Archivo" panose="020B0604020202020204" charset="0"/>
                <a:cs typeface="Archivo" panose="020B0604020202020204" charset="0"/>
              </a:rPr>
              <a:t> in adoption cases while ensuring compliance with judicial procedures.</a:t>
            </a:r>
          </a:p>
          <a:p>
            <a:endParaRPr lang="en-US" sz="1300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9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E2DD4-E824-3F36-EF8B-D9765E0A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B60C-B594-CEAD-6D7F-530F84D4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Person/Business Maintenance – Kamlesh’s Case</a:t>
            </a: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B773D-5F57-C4C4-C8E6-F4AD6568F11B}"/>
              </a:ext>
            </a:extLst>
          </p:cNvPr>
          <p:cNvSpPr txBox="1"/>
          <p:nvPr/>
        </p:nvSpPr>
        <p:spPr>
          <a:xfrm>
            <a:off x="391886" y="944246"/>
            <a:ext cx="8376557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As part of Kamlesh’s criminal case, his personal details need to be accurately recorded and maintained in the system.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How This Functionality is Used in Kamlesh’s Case:</a:t>
            </a:r>
          </a:p>
          <a:p>
            <a:endParaRPr lang="en-US" b="1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Adding details to the System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When Kamlesh was first involved in the case, his details (name, date of birth, address, and other identifiers) were added to the court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Modifying Details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Kamlesh's address changed or there was an update in his legal representation, court staff could edit his information to ensure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Merging Party IDs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there were multiple records for Kamlesh due to past cases or clerical errors, the system allowed merging duplicate entries into a single profile, ensuring consistency across judicial records.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By maintaining accurate and updated details for Kamlesh, the system ensures seamless case tracking, proper legal notifications, and efficient court proceedings.</a:t>
            </a:r>
          </a:p>
          <a:p>
            <a:endParaRPr lang="en-US" sz="1300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536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2BAD2-9886-3CFD-40A4-0804B61B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DF0EE-B15B-7A38-9447-03FBC9F3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Charge Code Maintenance</a:t>
            </a:r>
            <a:br>
              <a:rPr lang="en-US" sz="1800" b="1" dirty="0"/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2F644-E368-78CC-E582-89535B78E90F}"/>
              </a:ext>
            </a:extLst>
          </p:cNvPr>
          <p:cNvSpPr txBox="1"/>
          <p:nvPr/>
        </p:nvSpPr>
        <p:spPr>
          <a:xfrm>
            <a:off x="391886" y="944246"/>
            <a:ext cx="83765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In Kamlesh’s criminal case, the charge code maintenance functionality ensures that all charges against him are properly recorded and categorized based on their severity.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How This Functionality is Used in Kamlesh’s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Assigning Charge Codes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When Kamlesh was charged, the system assigned specific charge codes based on the nature of the offense or violation (e.g., misdemeanor, felony, or traffic violation).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Severity Level Classification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The charge codes were categorized by severity, ensuring the correct legal procedures and penalties were applied.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Updating Charges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If additional charges were filed against Kamlesh or if charges were modified/dropped, the court staff could update the charge code details accordingly.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Tracking Offenses &amp; Violations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The charge code maintenance pod allowed legal professionals to review and reference the charges against Kamlesh, ensuring transparency and proper judicial handling.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By maintaining accurate charge codes, Kamlesh’s case is processed efficiently, ensuring fairness in legal proceedings.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433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109D8-738B-C1AC-E783-9CD96928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FB9F-3B7E-3CEA-BE92-2F647312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Default Judgment (DJ) </a:t>
            </a:r>
            <a:b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DA1A50-90B4-6173-EE21-80D7182D6283}"/>
              </a:ext>
            </a:extLst>
          </p:cNvPr>
          <p:cNvSpPr txBox="1"/>
          <p:nvPr/>
        </p:nvSpPr>
        <p:spPr>
          <a:xfrm>
            <a:off x="391886" y="944246"/>
            <a:ext cx="837655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/>
              <a:t>In Kamlesh’s criminal case, a Default Judgment (DJ) was issued due to his failure to appear in court for his scheduled hearing.</a:t>
            </a:r>
          </a:p>
          <a:p>
            <a:endParaRPr lang="en-US" dirty="0"/>
          </a:p>
          <a:p>
            <a:r>
              <a:rPr lang="en-US" dirty="0"/>
              <a:t>How DJ Functionality is Applied in Kamlesh’s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Failure to Appear</a:t>
            </a:r>
            <a:r>
              <a:rPr lang="en-US" dirty="0"/>
              <a:t> – Kamlesh missed his court hearing, triggering the system to process a Default Judgment against him.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DJ Generation &amp; Notification</a:t>
            </a:r>
            <a:r>
              <a:rPr lang="en-US" dirty="0"/>
              <a:t> – A PDF document was generated automatically, summarizing the court’s ruling against Kamlesh, and sent to his last known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Batch Processing for Multiple Cases</a:t>
            </a:r>
            <a:r>
              <a:rPr lang="en-US" dirty="0"/>
              <a:t> – If Kamlesh’s case was part of a batch process, the system processed multiple Default Judgments at once, ensuring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Tracking &amp; Verification</a:t>
            </a:r>
            <a:r>
              <a:rPr lang="en-US" dirty="0"/>
              <a:t> – The DJ processing job ID was recorded in the system, allowing court staff to track its success through the summary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Viewing &amp; Reprocessing</a:t>
            </a:r>
            <a:r>
              <a:rPr lang="en-US" dirty="0"/>
              <a:t> – If needed, the DJ document could be viewed under the maintenance docket tab or reprocessed if corrections were required.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/>
              <a:t>The Default Judgment ensured that even in Kamlesh’s absence, the court proceedings continued as per the legal framework.</a:t>
            </a:r>
          </a:p>
          <a:p>
            <a:endParaRPr lang="en-US" dirty="0"/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774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387BF-C759-39FC-DD9D-E5EC25D0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FC30C-879C-C6CD-8D2A-C3ECAEEB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1800" u="sng" dirty="0">
                <a:latin typeface="Archivo" panose="020B0604020202020204" charset="0"/>
                <a:cs typeface="Archivo" panose="020B0604020202020204" charset="0"/>
              </a:rPr>
              <a:t>Interfaces</a:t>
            </a:r>
            <a:br>
              <a:rPr lang="en-US" sz="1800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B53A2-2F84-3BE9-81F0-146B75DF7CF1}"/>
              </a:ext>
            </a:extLst>
          </p:cNvPr>
          <p:cNvSpPr txBox="1"/>
          <p:nvPr/>
        </p:nvSpPr>
        <p:spPr>
          <a:xfrm>
            <a:off x="391886" y="944246"/>
            <a:ext cx="83765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In Kamlesh’s criminal case, several batch jobs were utilized to ensure smooth court operations and timely processing of documents, notifications, and judgments.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Key Batch Jobs and Their Role in Kamlesh’s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Document </a:t>
            </a:r>
            <a:r>
              <a:rPr lang="en-US" b="1" dirty="0" err="1">
                <a:latin typeface="Archivo" panose="020B0604020202020204" charset="0"/>
                <a:cs typeface="Archivo" panose="020B0604020202020204" charset="0"/>
              </a:rPr>
              <a:t>Pollar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Automatically retrieved and processed legal documents related to Kamlesh’s case, ensuring they were available in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Notification </a:t>
            </a:r>
            <a:r>
              <a:rPr lang="en-US" b="1" dirty="0" err="1">
                <a:latin typeface="Archivo" panose="020B0604020202020204" charset="0"/>
                <a:cs typeface="Archivo" panose="020B0604020202020204" charset="0"/>
              </a:rPr>
              <a:t>Pollar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Sent court hearing reminders and updates to Kamlesh via registered communication channels. If he failed to respond, it escalated the process leading to a Default Judgment (DJ).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Calendar </a:t>
            </a:r>
            <a:r>
              <a:rPr lang="en-US" b="1" dirty="0" err="1">
                <a:latin typeface="Archivo" panose="020B0604020202020204" charset="0"/>
                <a:cs typeface="Archivo" panose="020B0604020202020204" charset="0"/>
              </a:rPr>
              <a:t>Pollar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Managed the scheduling of Kamlesh’s hearings and updated court staff and attorneys regarding any modifications.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DJ </a:t>
            </a:r>
            <a:r>
              <a:rPr lang="en-US" b="1" dirty="0" err="1">
                <a:latin typeface="Archivo" panose="020B0604020202020204" charset="0"/>
                <a:cs typeface="Archivo" panose="020B0604020202020204" charset="0"/>
              </a:rPr>
              <a:t>Pollar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Once Kamlesh failed to appear in court, this job triggered the generation of his Default Judgment (DJ), ensuring timely legal actions.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All these batch jobs ran on a scheduled execution pattern, ensuring court operations were automated, efficient, and adaptable based on real-time requirements.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45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0118-5FC1-B416-CCE7-2C8BAB7AD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u="sng" dirty="0">
                <a:latin typeface="Archivo" panose="020B0604020202020204" charset="0"/>
                <a:cs typeface="Archivo" panose="020B0604020202020204" charset="0"/>
              </a:rPr>
              <a:t>JEFS Portal</a:t>
            </a:r>
            <a:endParaRPr lang="en-US" sz="2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F54D12-9BE2-EF81-8A9C-9FFA98591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1170754"/>
            <a:ext cx="5943600" cy="346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87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>
          <a:extLst>
            <a:ext uri="{FF2B5EF4-FFF2-40B4-BE49-F238E27FC236}">
              <a16:creationId xmlns:a16="http://schemas.microsoft.com/office/drawing/2014/main" id="{19703826-5F1E-7BE3-3F60-954CADBC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>
            <a:extLst>
              <a:ext uri="{FF2B5EF4-FFF2-40B4-BE49-F238E27FC236}">
                <a16:creationId xmlns:a16="http://schemas.microsoft.com/office/drawing/2014/main" id="{FA74C299-9C8D-FAAC-4773-A208904D7FBE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561657" y="185875"/>
            <a:ext cx="80206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u="sng" dirty="0">
                <a:latin typeface="Archivo" panose="020B0604020202020204" charset="0"/>
                <a:cs typeface="Archivo" panose="020B0604020202020204" charset="0"/>
              </a:rPr>
              <a:t>Judiciary Electronic Filing and Service System</a:t>
            </a:r>
            <a:br>
              <a:rPr lang="en-US" sz="1800" u="sng" dirty="0">
                <a:latin typeface="Archivo" panose="020B0604020202020204" charset="0"/>
                <a:cs typeface="Archivo" panose="020B0604020202020204" charset="0"/>
              </a:rPr>
            </a:br>
            <a:endParaRPr sz="18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399" name="Google Shape;399;p35">
            <a:extLst>
              <a:ext uri="{FF2B5EF4-FFF2-40B4-BE49-F238E27FC236}">
                <a16:creationId xmlns:a16="http://schemas.microsoft.com/office/drawing/2014/main" id="{59FD63D3-9FCA-7E95-CCD2-092374A51ADB}"/>
              </a:ext>
            </a:extLst>
          </p:cNvPr>
          <p:cNvGrpSpPr/>
          <p:nvPr/>
        </p:nvGrpSpPr>
        <p:grpSpPr>
          <a:xfrm>
            <a:off x="195875" y="1246316"/>
            <a:ext cx="2849877" cy="3467883"/>
            <a:chOff x="195875" y="1246316"/>
            <a:chExt cx="2849877" cy="3467883"/>
          </a:xfrm>
        </p:grpSpPr>
        <p:grpSp>
          <p:nvGrpSpPr>
            <p:cNvPr id="400" name="Google Shape;400;p35">
              <a:extLst>
                <a:ext uri="{FF2B5EF4-FFF2-40B4-BE49-F238E27FC236}">
                  <a16:creationId xmlns:a16="http://schemas.microsoft.com/office/drawing/2014/main" id="{B35B2CE2-C694-6E10-E404-589B5A6BA0FF}"/>
                </a:ext>
              </a:extLst>
            </p:cNvPr>
            <p:cNvGrpSpPr/>
            <p:nvPr/>
          </p:nvGrpSpPr>
          <p:grpSpPr>
            <a:xfrm flipH="1">
              <a:off x="195875" y="3219050"/>
              <a:ext cx="2849877" cy="1495149"/>
              <a:chOff x="195875" y="3219050"/>
              <a:chExt cx="2849877" cy="1495149"/>
            </a:xfrm>
          </p:grpSpPr>
          <p:sp>
            <p:nvSpPr>
              <p:cNvPr id="401" name="Google Shape;401;p35">
                <a:extLst>
                  <a:ext uri="{FF2B5EF4-FFF2-40B4-BE49-F238E27FC236}">
                    <a16:creationId xmlns:a16="http://schemas.microsoft.com/office/drawing/2014/main" id="{94489C63-47A6-ABC6-052D-71E2D1DA4182}"/>
                  </a:ext>
                </a:extLst>
              </p:cNvPr>
              <p:cNvSpPr/>
              <p:nvPr/>
            </p:nvSpPr>
            <p:spPr>
              <a:xfrm>
                <a:off x="195875" y="4594800"/>
                <a:ext cx="1790426" cy="119399"/>
              </a:xfrm>
              <a:custGeom>
                <a:avLst/>
                <a:gdLst/>
                <a:ahLst/>
                <a:cxnLst/>
                <a:rect l="l" t="t" r="r" b="b"/>
                <a:pathLst>
                  <a:path w="20975" h="1504" extrusionOk="0">
                    <a:moveTo>
                      <a:pt x="10487" y="1"/>
                    </a:moveTo>
                    <a:cubicBezTo>
                      <a:pt x="4698" y="1"/>
                      <a:pt x="0" y="335"/>
                      <a:pt x="0" y="752"/>
                    </a:cubicBezTo>
                    <a:cubicBezTo>
                      <a:pt x="0" y="1169"/>
                      <a:pt x="4698" y="1503"/>
                      <a:pt x="10487" y="1503"/>
                    </a:cubicBezTo>
                    <a:cubicBezTo>
                      <a:pt x="16276" y="1503"/>
                      <a:pt x="20974" y="1169"/>
                      <a:pt x="20974" y="752"/>
                    </a:cubicBezTo>
                    <a:cubicBezTo>
                      <a:pt x="20974" y="335"/>
                      <a:pt x="16276" y="1"/>
                      <a:pt x="10487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5">
                <a:extLst>
                  <a:ext uri="{FF2B5EF4-FFF2-40B4-BE49-F238E27FC236}">
                    <a16:creationId xmlns:a16="http://schemas.microsoft.com/office/drawing/2014/main" id="{E4A6A0DF-4EC0-85AA-6AF6-7C13CF0476C7}"/>
                  </a:ext>
                </a:extLst>
              </p:cNvPr>
              <p:cNvSpPr/>
              <p:nvPr/>
            </p:nvSpPr>
            <p:spPr>
              <a:xfrm>
                <a:off x="712383" y="3546816"/>
                <a:ext cx="2333369" cy="808590"/>
              </a:xfrm>
              <a:custGeom>
                <a:avLst/>
                <a:gdLst/>
                <a:ahLst/>
                <a:cxnLst/>
                <a:rect l="l" t="t" r="r" b="b"/>
                <a:pathLst>
                  <a:path w="29394" h="10186" extrusionOk="0">
                    <a:moveTo>
                      <a:pt x="783" y="1"/>
                    </a:moveTo>
                    <a:cubicBezTo>
                      <a:pt x="456" y="1"/>
                      <a:pt x="158" y="210"/>
                      <a:pt x="60" y="528"/>
                    </a:cubicBezTo>
                    <a:cubicBezTo>
                      <a:pt x="1" y="718"/>
                      <a:pt x="31" y="921"/>
                      <a:pt x="120" y="1094"/>
                    </a:cubicBezTo>
                    <a:cubicBezTo>
                      <a:pt x="210" y="1261"/>
                      <a:pt x="365" y="1398"/>
                      <a:pt x="567" y="1458"/>
                    </a:cubicBezTo>
                    <a:lnTo>
                      <a:pt x="2630" y="2113"/>
                    </a:lnTo>
                    <a:lnTo>
                      <a:pt x="2940" y="2209"/>
                    </a:lnTo>
                    <a:lnTo>
                      <a:pt x="11007" y="4778"/>
                    </a:lnTo>
                    <a:lnTo>
                      <a:pt x="11317" y="4880"/>
                    </a:lnTo>
                    <a:lnTo>
                      <a:pt x="27754" y="10114"/>
                    </a:lnTo>
                    <a:cubicBezTo>
                      <a:pt x="27887" y="10163"/>
                      <a:pt x="28023" y="10186"/>
                      <a:pt x="28154" y="10186"/>
                    </a:cubicBezTo>
                    <a:cubicBezTo>
                      <a:pt x="28638" y="10186"/>
                      <a:pt x="29074" y="9877"/>
                      <a:pt x="29214" y="9399"/>
                    </a:cubicBezTo>
                    <a:cubicBezTo>
                      <a:pt x="29393" y="8803"/>
                      <a:pt x="29041" y="8165"/>
                      <a:pt x="28433" y="7980"/>
                    </a:cubicBezTo>
                    <a:lnTo>
                      <a:pt x="28415" y="7968"/>
                    </a:lnTo>
                    <a:lnTo>
                      <a:pt x="11835" y="3169"/>
                    </a:lnTo>
                    <a:lnTo>
                      <a:pt x="11531" y="3079"/>
                    </a:lnTo>
                    <a:lnTo>
                      <a:pt x="3393" y="724"/>
                    </a:lnTo>
                    <a:lnTo>
                      <a:pt x="3089" y="635"/>
                    </a:lnTo>
                    <a:lnTo>
                      <a:pt x="1002" y="33"/>
                    </a:lnTo>
                    <a:cubicBezTo>
                      <a:pt x="929" y="11"/>
                      <a:pt x="855" y="1"/>
                      <a:pt x="7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5">
                <a:extLst>
                  <a:ext uri="{FF2B5EF4-FFF2-40B4-BE49-F238E27FC236}">
                    <a16:creationId xmlns:a16="http://schemas.microsoft.com/office/drawing/2014/main" id="{1C2DAC64-5C7D-ED4B-4360-F4631E488F0E}"/>
                  </a:ext>
                </a:extLst>
              </p:cNvPr>
              <p:cNvSpPr/>
              <p:nvPr/>
            </p:nvSpPr>
            <p:spPr>
              <a:xfrm>
                <a:off x="916874" y="3270648"/>
                <a:ext cx="741671" cy="970769"/>
              </a:xfrm>
              <a:custGeom>
                <a:avLst/>
                <a:gdLst/>
                <a:ahLst/>
                <a:cxnLst/>
                <a:rect l="l" t="t" r="r" b="b"/>
                <a:pathLst>
                  <a:path w="9343" h="12229" extrusionOk="0">
                    <a:moveTo>
                      <a:pt x="3142" y="0"/>
                    </a:moveTo>
                    <a:lnTo>
                      <a:pt x="0" y="10344"/>
                    </a:lnTo>
                    <a:lnTo>
                      <a:pt x="6195" y="12228"/>
                    </a:lnTo>
                    <a:lnTo>
                      <a:pt x="9343" y="1884"/>
                    </a:lnTo>
                    <a:lnTo>
                      <a:pt x="314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5">
                <a:extLst>
                  <a:ext uri="{FF2B5EF4-FFF2-40B4-BE49-F238E27FC236}">
                    <a16:creationId xmlns:a16="http://schemas.microsoft.com/office/drawing/2014/main" id="{96B3DDDB-F270-9E34-1C5A-2813D4F790B5}"/>
                  </a:ext>
                </a:extLst>
              </p:cNvPr>
              <p:cNvSpPr/>
              <p:nvPr/>
            </p:nvSpPr>
            <p:spPr>
              <a:xfrm>
                <a:off x="1327680" y="3395118"/>
                <a:ext cx="331343" cy="846297"/>
              </a:xfrm>
              <a:custGeom>
                <a:avLst/>
                <a:gdLst/>
                <a:ahLst/>
                <a:cxnLst/>
                <a:rect l="l" t="t" r="r" b="b"/>
                <a:pathLst>
                  <a:path w="4174" h="10661" extrusionOk="0">
                    <a:moveTo>
                      <a:pt x="3142" y="0"/>
                    </a:moveTo>
                    <a:lnTo>
                      <a:pt x="0" y="10350"/>
                    </a:lnTo>
                    <a:lnTo>
                      <a:pt x="1026" y="10660"/>
                    </a:lnTo>
                    <a:lnTo>
                      <a:pt x="4174" y="316"/>
                    </a:lnTo>
                    <a:lnTo>
                      <a:pt x="3142" y="0"/>
                    </a:ln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5">
                <a:extLst>
                  <a:ext uri="{FF2B5EF4-FFF2-40B4-BE49-F238E27FC236}">
                    <a16:creationId xmlns:a16="http://schemas.microsoft.com/office/drawing/2014/main" id="{5C6EFBFC-D42F-C582-C17C-ABCAE92DE35C}"/>
                  </a:ext>
                </a:extLst>
              </p:cNvPr>
              <p:cNvSpPr/>
              <p:nvPr/>
            </p:nvSpPr>
            <p:spPr>
              <a:xfrm>
                <a:off x="840190" y="3993495"/>
                <a:ext cx="655541" cy="313402"/>
              </a:xfrm>
              <a:custGeom>
                <a:avLst/>
                <a:gdLst/>
                <a:ahLst/>
                <a:cxnLst/>
                <a:rect l="l" t="t" r="r" b="b"/>
                <a:pathLst>
                  <a:path w="8258" h="3948" extrusionOk="0">
                    <a:moveTo>
                      <a:pt x="1084" y="1"/>
                    </a:moveTo>
                    <a:cubicBezTo>
                      <a:pt x="633" y="1"/>
                      <a:pt x="216" y="290"/>
                      <a:pt x="84" y="743"/>
                    </a:cubicBezTo>
                    <a:cubicBezTo>
                      <a:pt x="1" y="1018"/>
                      <a:pt x="36" y="1298"/>
                      <a:pt x="156" y="1536"/>
                    </a:cubicBezTo>
                    <a:cubicBezTo>
                      <a:pt x="245" y="1709"/>
                      <a:pt x="388" y="1852"/>
                      <a:pt x="561" y="1948"/>
                    </a:cubicBezTo>
                    <a:cubicBezTo>
                      <a:pt x="627" y="1983"/>
                      <a:pt x="704" y="2025"/>
                      <a:pt x="776" y="2043"/>
                    </a:cubicBezTo>
                    <a:lnTo>
                      <a:pt x="6875" y="3903"/>
                    </a:lnTo>
                    <a:cubicBezTo>
                      <a:pt x="6976" y="3933"/>
                      <a:pt x="7078" y="3948"/>
                      <a:pt x="7179" y="3948"/>
                    </a:cubicBezTo>
                    <a:cubicBezTo>
                      <a:pt x="7375" y="3948"/>
                      <a:pt x="7566" y="3892"/>
                      <a:pt x="7727" y="3790"/>
                    </a:cubicBezTo>
                    <a:cubicBezTo>
                      <a:pt x="7930" y="3665"/>
                      <a:pt x="8097" y="3462"/>
                      <a:pt x="8174" y="3206"/>
                    </a:cubicBezTo>
                    <a:cubicBezTo>
                      <a:pt x="8258" y="2931"/>
                      <a:pt x="8222" y="2651"/>
                      <a:pt x="8103" y="2413"/>
                    </a:cubicBezTo>
                    <a:cubicBezTo>
                      <a:pt x="8097" y="2389"/>
                      <a:pt x="8079" y="2371"/>
                      <a:pt x="8067" y="2353"/>
                    </a:cubicBezTo>
                    <a:cubicBezTo>
                      <a:pt x="7936" y="2144"/>
                      <a:pt x="7739" y="1977"/>
                      <a:pt x="7483" y="1906"/>
                    </a:cubicBezTo>
                    <a:lnTo>
                      <a:pt x="1390" y="46"/>
                    </a:lnTo>
                    <a:cubicBezTo>
                      <a:pt x="1288" y="15"/>
                      <a:pt x="1185" y="1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5">
                <a:extLst>
                  <a:ext uri="{FF2B5EF4-FFF2-40B4-BE49-F238E27FC236}">
                    <a16:creationId xmlns:a16="http://schemas.microsoft.com/office/drawing/2014/main" id="{973F04C2-A80C-C087-2941-CDC93E321CF3}"/>
                  </a:ext>
                </a:extLst>
              </p:cNvPr>
              <p:cNvSpPr/>
              <p:nvPr/>
            </p:nvSpPr>
            <p:spPr>
              <a:xfrm>
                <a:off x="1067860" y="3219050"/>
                <a:ext cx="669750" cy="313402"/>
              </a:xfrm>
              <a:custGeom>
                <a:avLst/>
                <a:gdLst/>
                <a:ahLst/>
                <a:cxnLst/>
                <a:rect l="l" t="t" r="r" b="b"/>
                <a:pathLst>
                  <a:path w="8437" h="3948" extrusionOk="0">
                    <a:moveTo>
                      <a:pt x="1169" y="1"/>
                    </a:moveTo>
                    <a:cubicBezTo>
                      <a:pt x="722" y="1"/>
                      <a:pt x="309" y="293"/>
                      <a:pt x="173" y="740"/>
                    </a:cubicBezTo>
                    <a:cubicBezTo>
                      <a:pt x="0" y="1294"/>
                      <a:pt x="316" y="1878"/>
                      <a:pt x="865" y="2045"/>
                    </a:cubicBezTo>
                    <a:lnTo>
                      <a:pt x="6964" y="3899"/>
                    </a:lnTo>
                    <a:cubicBezTo>
                      <a:pt x="7067" y="3932"/>
                      <a:pt x="7171" y="3947"/>
                      <a:pt x="7274" y="3947"/>
                    </a:cubicBezTo>
                    <a:cubicBezTo>
                      <a:pt x="7719" y="3947"/>
                      <a:pt x="8134" y="3658"/>
                      <a:pt x="8269" y="3208"/>
                    </a:cubicBezTo>
                    <a:cubicBezTo>
                      <a:pt x="8436" y="2653"/>
                      <a:pt x="8126" y="2075"/>
                      <a:pt x="7572" y="1902"/>
                    </a:cubicBezTo>
                    <a:lnTo>
                      <a:pt x="1479" y="48"/>
                    </a:lnTo>
                    <a:cubicBezTo>
                      <a:pt x="1376" y="16"/>
                      <a:pt x="1272" y="1"/>
                      <a:pt x="11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5">
                <a:extLst>
                  <a:ext uri="{FF2B5EF4-FFF2-40B4-BE49-F238E27FC236}">
                    <a16:creationId xmlns:a16="http://schemas.microsoft.com/office/drawing/2014/main" id="{D5D9CFC8-1C76-1E80-5167-642D7FE408E8}"/>
                  </a:ext>
                </a:extLst>
              </p:cNvPr>
              <p:cNvSpPr/>
              <p:nvPr/>
            </p:nvSpPr>
            <p:spPr>
              <a:xfrm>
                <a:off x="924415" y="3524589"/>
                <a:ext cx="720396" cy="476295"/>
              </a:xfrm>
              <a:custGeom>
                <a:avLst/>
                <a:gdLst/>
                <a:ahLst/>
                <a:cxnLst/>
                <a:rect l="l" t="t" r="r" b="b"/>
                <a:pathLst>
                  <a:path w="9075" h="6000" extrusionOk="0">
                    <a:moveTo>
                      <a:pt x="1435" y="1"/>
                    </a:moveTo>
                    <a:cubicBezTo>
                      <a:pt x="1207" y="1"/>
                      <a:pt x="1000" y="146"/>
                      <a:pt x="931" y="372"/>
                    </a:cubicBezTo>
                    <a:lnTo>
                      <a:pt x="78" y="3169"/>
                    </a:lnTo>
                    <a:cubicBezTo>
                      <a:pt x="1" y="3443"/>
                      <a:pt x="156" y="3735"/>
                      <a:pt x="430" y="3818"/>
                    </a:cubicBezTo>
                    <a:lnTo>
                      <a:pt x="7531" y="5977"/>
                    </a:lnTo>
                    <a:cubicBezTo>
                      <a:pt x="7580" y="5992"/>
                      <a:pt x="7630" y="5999"/>
                      <a:pt x="7679" y="5999"/>
                    </a:cubicBezTo>
                    <a:cubicBezTo>
                      <a:pt x="7899" y="5999"/>
                      <a:pt x="8106" y="5854"/>
                      <a:pt x="8175" y="5625"/>
                    </a:cubicBezTo>
                    <a:lnTo>
                      <a:pt x="9021" y="2835"/>
                    </a:lnTo>
                    <a:cubicBezTo>
                      <a:pt x="9075" y="2650"/>
                      <a:pt x="9033" y="2465"/>
                      <a:pt x="8920" y="2340"/>
                    </a:cubicBezTo>
                    <a:cubicBezTo>
                      <a:pt x="8860" y="2268"/>
                      <a:pt x="8777" y="2215"/>
                      <a:pt x="8681" y="2185"/>
                    </a:cubicBezTo>
                    <a:lnTo>
                      <a:pt x="1581" y="21"/>
                    </a:lnTo>
                    <a:cubicBezTo>
                      <a:pt x="1532" y="7"/>
                      <a:pt x="1483" y="1"/>
                      <a:pt x="14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5">
                <a:extLst>
                  <a:ext uri="{FF2B5EF4-FFF2-40B4-BE49-F238E27FC236}">
                    <a16:creationId xmlns:a16="http://schemas.microsoft.com/office/drawing/2014/main" id="{A3FEA1C4-F3C3-6256-3D65-3BC0603FC141}"/>
                  </a:ext>
                </a:extLst>
              </p:cNvPr>
              <p:cNvSpPr/>
              <p:nvPr/>
            </p:nvSpPr>
            <p:spPr>
              <a:xfrm>
                <a:off x="923462" y="3771307"/>
                <a:ext cx="650857" cy="229574"/>
              </a:xfrm>
              <a:custGeom>
                <a:avLst/>
                <a:gdLst/>
                <a:ahLst/>
                <a:cxnLst/>
                <a:rect l="l" t="t" r="r" b="b"/>
                <a:pathLst>
                  <a:path w="8199" h="2892" extrusionOk="0">
                    <a:moveTo>
                      <a:pt x="102" y="1"/>
                    </a:moveTo>
                    <a:lnTo>
                      <a:pt x="84" y="61"/>
                    </a:lnTo>
                    <a:cubicBezTo>
                      <a:pt x="1" y="335"/>
                      <a:pt x="162" y="627"/>
                      <a:pt x="436" y="710"/>
                    </a:cubicBezTo>
                    <a:lnTo>
                      <a:pt x="7537" y="2869"/>
                    </a:lnTo>
                    <a:cubicBezTo>
                      <a:pt x="7587" y="2884"/>
                      <a:pt x="7638" y="2891"/>
                      <a:pt x="7688" y="2891"/>
                    </a:cubicBezTo>
                    <a:cubicBezTo>
                      <a:pt x="7911" y="2891"/>
                      <a:pt x="8118" y="2746"/>
                      <a:pt x="8187" y="2517"/>
                    </a:cubicBezTo>
                    <a:lnTo>
                      <a:pt x="8199" y="2457"/>
                    </a:lnTo>
                    <a:lnTo>
                      <a:pt x="1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5">
                <a:extLst>
                  <a:ext uri="{FF2B5EF4-FFF2-40B4-BE49-F238E27FC236}">
                    <a16:creationId xmlns:a16="http://schemas.microsoft.com/office/drawing/2014/main" id="{1389AD2C-4250-BFBA-84ED-30C4A2545282}"/>
                  </a:ext>
                </a:extLst>
              </p:cNvPr>
              <p:cNvSpPr/>
              <p:nvPr/>
            </p:nvSpPr>
            <p:spPr>
              <a:xfrm>
                <a:off x="996415" y="3523954"/>
                <a:ext cx="650778" cy="229495"/>
              </a:xfrm>
              <a:custGeom>
                <a:avLst/>
                <a:gdLst/>
                <a:ahLst/>
                <a:cxnLst/>
                <a:rect l="l" t="t" r="r" b="b"/>
                <a:pathLst>
                  <a:path w="8198" h="2891" extrusionOk="0">
                    <a:moveTo>
                      <a:pt x="514" y="1"/>
                    </a:moveTo>
                    <a:cubicBezTo>
                      <a:pt x="290" y="1"/>
                      <a:pt x="82" y="149"/>
                      <a:pt x="18" y="374"/>
                    </a:cubicBezTo>
                    <a:lnTo>
                      <a:pt x="0" y="434"/>
                    </a:lnTo>
                    <a:lnTo>
                      <a:pt x="8102" y="2890"/>
                    </a:lnTo>
                    <a:lnTo>
                      <a:pt x="8114" y="2831"/>
                    </a:lnTo>
                    <a:cubicBezTo>
                      <a:pt x="8198" y="2556"/>
                      <a:pt x="8043" y="2264"/>
                      <a:pt x="7768" y="2187"/>
                    </a:cubicBezTo>
                    <a:lnTo>
                      <a:pt x="662" y="23"/>
                    </a:lnTo>
                    <a:cubicBezTo>
                      <a:pt x="613" y="8"/>
                      <a:pt x="563" y="1"/>
                      <a:pt x="5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5">
                <a:extLst>
                  <a:ext uri="{FF2B5EF4-FFF2-40B4-BE49-F238E27FC236}">
                    <a16:creationId xmlns:a16="http://schemas.microsoft.com/office/drawing/2014/main" id="{9642FA71-EBD1-3FC2-C498-5AD67D3AAD8D}"/>
                  </a:ext>
                </a:extLst>
              </p:cNvPr>
              <p:cNvSpPr/>
              <p:nvPr/>
            </p:nvSpPr>
            <p:spPr>
              <a:xfrm>
                <a:off x="924425" y="3710250"/>
                <a:ext cx="720372" cy="290628"/>
              </a:xfrm>
              <a:custGeom>
                <a:avLst/>
                <a:gdLst/>
                <a:ahLst/>
                <a:cxnLst/>
                <a:rect l="l" t="t" r="r" b="b"/>
                <a:pathLst>
                  <a:path w="9087" h="3661" extrusionOk="0">
                    <a:moveTo>
                      <a:pt x="8932" y="1"/>
                    </a:moveTo>
                    <a:cubicBezTo>
                      <a:pt x="7050" y="756"/>
                      <a:pt x="4401" y="916"/>
                      <a:pt x="2493" y="916"/>
                    </a:cubicBezTo>
                    <a:cubicBezTo>
                      <a:pt x="1088" y="916"/>
                      <a:pt x="84" y="830"/>
                      <a:pt x="84" y="830"/>
                    </a:cubicBezTo>
                    <a:lnTo>
                      <a:pt x="84" y="830"/>
                    </a:lnTo>
                    <a:cubicBezTo>
                      <a:pt x="1" y="1104"/>
                      <a:pt x="162" y="1396"/>
                      <a:pt x="436" y="1479"/>
                    </a:cubicBezTo>
                    <a:lnTo>
                      <a:pt x="7537" y="3638"/>
                    </a:lnTo>
                    <a:cubicBezTo>
                      <a:pt x="7587" y="3653"/>
                      <a:pt x="7638" y="3660"/>
                      <a:pt x="7688" y="3660"/>
                    </a:cubicBezTo>
                    <a:cubicBezTo>
                      <a:pt x="7911" y="3660"/>
                      <a:pt x="8118" y="3515"/>
                      <a:pt x="8187" y="3286"/>
                    </a:cubicBezTo>
                    <a:lnTo>
                      <a:pt x="9033" y="496"/>
                    </a:lnTo>
                    <a:cubicBezTo>
                      <a:pt x="9087" y="311"/>
                      <a:pt x="9045" y="126"/>
                      <a:pt x="8932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5">
                <a:extLst>
                  <a:ext uri="{FF2B5EF4-FFF2-40B4-BE49-F238E27FC236}">
                    <a16:creationId xmlns:a16="http://schemas.microsoft.com/office/drawing/2014/main" id="{BDFD3545-E729-91A7-2F81-853F307B96A4}"/>
                  </a:ext>
                </a:extLst>
              </p:cNvPr>
              <p:cNvSpPr/>
              <p:nvPr/>
            </p:nvSpPr>
            <p:spPr>
              <a:xfrm>
                <a:off x="884247" y="4148527"/>
                <a:ext cx="611483" cy="158844"/>
              </a:xfrm>
              <a:custGeom>
                <a:avLst/>
                <a:gdLst/>
                <a:ahLst/>
                <a:cxnLst/>
                <a:rect l="l" t="t" r="r" b="b"/>
                <a:pathLst>
                  <a:path w="7703" h="200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66" y="42"/>
                      <a:pt x="137" y="78"/>
                      <a:pt x="215" y="102"/>
                    </a:cubicBezTo>
                    <a:lnTo>
                      <a:pt x="6308" y="1956"/>
                    </a:lnTo>
                    <a:cubicBezTo>
                      <a:pt x="6409" y="1986"/>
                      <a:pt x="6512" y="2001"/>
                      <a:pt x="6613" y="2001"/>
                    </a:cubicBezTo>
                    <a:cubicBezTo>
                      <a:pt x="6812" y="2001"/>
                      <a:pt x="7005" y="1945"/>
                      <a:pt x="7166" y="1843"/>
                    </a:cubicBezTo>
                    <a:cubicBezTo>
                      <a:pt x="7375" y="1712"/>
                      <a:pt x="7542" y="1509"/>
                      <a:pt x="7619" y="1253"/>
                    </a:cubicBezTo>
                    <a:cubicBezTo>
                      <a:pt x="7703" y="978"/>
                      <a:pt x="7667" y="698"/>
                      <a:pt x="7548" y="460"/>
                    </a:cubicBezTo>
                    <a:cubicBezTo>
                      <a:pt x="7542" y="436"/>
                      <a:pt x="7524" y="418"/>
                      <a:pt x="7512" y="400"/>
                    </a:cubicBezTo>
                    <a:cubicBezTo>
                      <a:pt x="6819" y="490"/>
                      <a:pt x="6092" y="526"/>
                      <a:pt x="5373" y="526"/>
                    </a:cubicBezTo>
                    <a:cubicBezTo>
                      <a:pt x="2618" y="526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5">
                <a:extLst>
                  <a:ext uri="{FF2B5EF4-FFF2-40B4-BE49-F238E27FC236}">
                    <a16:creationId xmlns:a16="http://schemas.microsoft.com/office/drawing/2014/main" id="{87779FAF-1EE5-6AEC-44DB-4A6CAE2142BD}"/>
                  </a:ext>
                </a:extLst>
              </p:cNvPr>
              <p:cNvSpPr/>
              <p:nvPr/>
            </p:nvSpPr>
            <p:spPr>
              <a:xfrm>
                <a:off x="1118983" y="3374241"/>
                <a:ext cx="611483" cy="158924"/>
              </a:xfrm>
              <a:custGeom>
                <a:avLst/>
                <a:gdLst/>
                <a:ahLst/>
                <a:cxnLst/>
                <a:rect l="l" t="t" r="r" b="b"/>
                <a:pathLst>
                  <a:path w="7703" h="2002" extrusionOk="0">
                    <a:moveTo>
                      <a:pt x="0" y="1"/>
                    </a:moveTo>
                    <a:cubicBezTo>
                      <a:pt x="66" y="37"/>
                      <a:pt x="143" y="78"/>
                      <a:pt x="215" y="96"/>
                    </a:cubicBezTo>
                    <a:lnTo>
                      <a:pt x="6314" y="1956"/>
                    </a:lnTo>
                    <a:cubicBezTo>
                      <a:pt x="6415" y="1987"/>
                      <a:pt x="6517" y="2001"/>
                      <a:pt x="6618" y="2001"/>
                    </a:cubicBezTo>
                    <a:cubicBezTo>
                      <a:pt x="6814" y="2001"/>
                      <a:pt x="7005" y="1946"/>
                      <a:pt x="7166" y="1843"/>
                    </a:cubicBezTo>
                    <a:cubicBezTo>
                      <a:pt x="7387" y="1718"/>
                      <a:pt x="7548" y="1509"/>
                      <a:pt x="7625" y="1253"/>
                    </a:cubicBezTo>
                    <a:cubicBezTo>
                      <a:pt x="7703" y="979"/>
                      <a:pt x="7667" y="692"/>
                      <a:pt x="7548" y="454"/>
                    </a:cubicBezTo>
                    <a:cubicBezTo>
                      <a:pt x="7542" y="436"/>
                      <a:pt x="7524" y="418"/>
                      <a:pt x="7512" y="394"/>
                    </a:cubicBezTo>
                    <a:cubicBezTo>
                      <a:pt x="6813" y="487"/>
                      <a:pt x="6078" y="523"/>
                      <a:pt x="5352" y="523"/>
                    </a:cubicBezTo>
                    <a:cubicBezTo>
                      <a:pt x="2607" y="52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5">
                <a:extLst>
                  <a:ext uri="{FF2B5EF4-FFF2-40B4-BE49-F238E27FC236}">
                    <a16:creationId xmlns:a16="http://schemas.microsoft.com/office/drawing/2014/main" id="{39B00E23-D4A8-DB80-B930-2C9E279BB84F}"/>
                  </a:ext>
                </a:extLst>
              </p:cNvPr>
              <p:cNvSpPr/>
              <p:nvPr/>
            </p:nvSpPr>
            <p:spPr>
              <a:xfrm>
                <a:off x="922033" y="3598573"/>
                <a:ext cx="59775" cy="12550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581" extrusionOk="0">
                    <a:moveTo>
                      <a:pt x="448" y="1"/>
                    </a:moveTo>
                    <a:lnTo>
                      <a:pt x="1" y="1485"/>
                    </a:lnTo>
                    <a:lnTo>
                      <a:pt x="299" y="1581"/>
                    </a:lnTo>
                    <a:lnTo>
                      <a:pt x="752" y="90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5">
                <a:extLst>
                  <a:ext uri="{FF2B5EF4-FFF2-40B4-BE49-F238E27FC236}">
                    <a16:creationId xmlns:a16="http://schemas.microsoft.com/office/drawing/2014/main" id="{DEDEB51C-ACEF-81F0-A68F-AB0C35C159A4}"/>
                  </a:ext>
                </a:extLst>
              </p:cNvPr>
              <p:cNvSpPr/>
              <p:nvPr/>
            </p:nvSpPr>
            <p:spPr>
              <a:xfrm>
                <a:off x="1586072" y="3792184"/>
                <a:ext cx="65887" cy="143444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807" extrusionOk="0">
                    <a:moveTo>
                      <a:pt x="525" y="0"/>
                    </a:moveTo>
                    <a:lnTo>
                      <a:pt x="1" y="1711"/>
                    </a:lnTo>
                    <a:lnTo>
                      <a:pt x="311" y="1807"/>
                    </a:lnTo>
                    <a:lnTo>
                      <a:pt x="829" y="90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191919">
                  <a:alpha val="23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5">
                <a:extLst>
                  <a:ext uri="{FF2B5EF4-FFF2-40B4-BE49-F238E27FC236}">
                    <a16:creationId xmlns:a16="http://schemas.microsoft.com/office/drawing/2014/main" id="{A375D41B-714D-8430-97F7-F84EC5FC48B9}"/>
                  </a:ext>
                </a:extLst>
              </p:cNvPr>
              <p:cNvSpPr/>
              <p:nvPr/>
            </p:nvSpPr>
            <p:spPr>
              <a:xfrm>
                <a:off x="612996" y="4306576"/>
                <a:ext cx="923457" cy="153446"/>
              </a:xfrm>
              <a:custGeom>
                <a:avLst/>
                <a:gdLst/>
                <a:ahLst/>
                <a:cxnLst/>
                <a:rect l="l" t="t" r="r" b="b"/>
                <a:pathLst>
                  <a:path w="11633" h="1933" extrusionOk="0">
                    <a:moveTo>
                      <a:pt x="1933" y="1"/>
                    </a:moveTo>
                    <a:cubicBezTo>
                      <a:pt x="865" y="1"/>
                      <a:pt x="1" y="865"/>
                      <a:pt x="1" y="1933"/>
                    </a:cubicBezTo>
                    <a:lnTo>
                      <a:pt x="11633" y="1933"/>
                    </a:lnTo>
                    <a:cubicBezTo>
                      <a:pt x="11633" y="865"/>
                      <a:pt x="10768" y="1"/>
                      <a:pt x="96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5">
                <a:extLst>
                  <a:ext uri="{FF2B5EF4-FFF2-40B4-BE49-F238E27FC236}">
                    <a16:creationId xmlns:a16="http://schemas.microsoft.com/office/drawing/2014/main" id="{96051344-7047-2641-2A22-74AA2662A0CD}"/>
                  </a:ext>
                </a:extLst>
              </p:cNvPr>
              <p:cNvSpPr/>
              <p:nvPr/>
            </p:nvSpPr>
            <p:spPr>
              <a:xfrm>
                <a:off x="428430" y="4502569"/>
                <a:ext cx="1292585" cy="159559"/>
              </a:xfrm>
              <a:custGeom>
                <a:avLst/>
                <a:gdLst/>
                <a:ahLst/>
                <a:cxnLst/>
                <a:rect l="l" t="t" r="r" b="b"/>
                <a:pathLst>
                  <a:path w="16283" h="2010" extrusionOk="0">
                    <a:moveTo>
                      <a:pt x="734" y="0"/>
                    </a:moveTo>
                    <a:cubicBezTo>
                      <a:pt x="329" y="0"/>
                      <a:pt x="1" y="328"/>
                      <a:pt x="1" y="727"/>
                    </a:cubicBezTo>
                    <a:lnTo>
                      <a:pt x="1" y="1282"/>
                    </a:lnTo>
                    <a:cubicBezTo>
                      <a:pt x="1" y="1681"/>
                      <a:pt x="329" y="2009"/>
                      <a:pt x="734" y="2009"/>
                    </a:cubicBezTo>
                    <a:lnTo>
                      <a:pt x="15555" y="2009"/>
                    </a:lnTo>
                    <a:cubicBezTo>
                      <a:pt x="15955" y="2009"/>
                      <a:pt x="16283" y="1681"/>
                      <a:pt x="16283" y="1282"/>
                    </a:cubicBezTo>
                    <a:lnTo>
                      <a:pt x="16283" y="727"/>
                    </a:lnTo>
                    <a:cubicBezTo>
                      <a:pt x="16283" y="328"/>
                      <a:pt x="15955" y="0"/>
                      <a:pt x="15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5">
                <a:extLst>
                  <a:ext uri="{FF2B5EF4-FFF2-40B4-BE49-F238E27FC236}">
                    <a16:creationId xmlns:a16="http://schemas.microsoft.com/office/drawing/2014/main" id="{BCB73F00-BB15-E65E-0B22-2ABFA2E64F79}"/>
                  </a:ext>
                </a:extLst>
              </p:cNvPr>
              <p:cNvSpPr/>
              <p:nvPr/>
            </p:nvSpPr>
            <p:spPr>
              <a:xfrm>
                <a:off x="500827" y="4417313"/>
                <a:ext cx="1148744" cy="84860"/>
              </a:xfrm>
              <a:custGeom>
                <a:avLst/>
                <a:gdLst/>
                <a:ahLst/>
                <a:cxnLst/>
                <a:rect l="l" t="t" r="r" b="b"/>
                <a:pathLst>
                  <a:path w="14471" h="1069" extrusionOk="0">
                    <a:moveTo>
                      <a:pt x="794" y="1"/>
                    </a:moveTo>
                    <a:cubicBezTo>
                      <a:pt x="424" y="1"/>
                      <a:pt x="108" y="275"/>
                      <a:pt x="61" y="639"/>
                    </a:cubicBezTo>
                    <a:lnTo>
                      <a:pt x="1" y="1068"/>
                    </a:lnTo>
                    <a:lnTo>
                      <a:pt x="14470" y="1068"/>
                    </a:lnTo>
                    <a:lnTo>
                      <a:pt x="14411" y="639"/>
                    </a:lnTo>
                    <a:cubicBezTo>
                      <a:pt x="14357" y="269"/>
                      <a:pt x="14047" y="1"/>
                      <a:pt x="136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" name="Google Shape;418;p35">
              <a:extLst>
                <a:ext uri="{FF2B5EF4-FFF2-40B4-BE49-F238E27FC236}">
                  <a16:creationId xmlns:a16="http://schemas.microsoft.com/office/drawing/2014/main" id="{675EABA5-EE8D-A4F1-6418-0270DE54B7B2}"/>
                </a:ext>
              </a:extLst>
            </p:cNvPr>
            <p:cNvGrpSpPr/>
            <p:nvPr/>
          </p:nvGrpSpPr>
          <p:grpSpPr>
            <a:xfrm flipH="1">
              <a:off x="2258199" y="2522480"/>
              <a:ext cx="664633" cy="664286"/>
              <a:chOff x="6212418" y="1482331"/>
              <a:chExt cx="627249" cy="626921"/>
            </a:xfrm>
          </p:grpSpPr>
          <p:sp>
            <p:nvSpPr>
              <p:cNvPr id="419" name="Google Shape;419;p35">
                <a:extLst>
                  <a:ext uri="{FF2B5EF4-FFF2-40B4-BE49-F238E27FC236}">
                    <a16:creationId xmlns:a16="http://schemas.microsoft.com/office/drawing/2014/main" id="{D285300A-DF55-A8B4-2D30-ED2BBFE751D5}"/>
                  </a:ext>
                </a:extLst>
              </p:cNvPr>
              <p:cNvSpPr/>
              <p:nvPr/>
            </p:nvSpPr>
            <p:spPr>
              <a:xfrm>
                <a:off x="6212418" y="1482331"/>
                <a:ext cx="627249" cy="620800"/>
              </a:xfrm>
              <a:custGeom>
                <a:avLst/>
                <a:gdLst/>
                <a:ahLst/>
                <a:cxnLst/>
                <a:rect l="l" t="t" r="r" b="b"/>
                <a:pathLst>
                  <a:path w="7782" h="7702" extrusionOk="0">
                    <a:moveTo>
                      <a:pt x="6112" y="1623"/>
                    </a:moveTo>
                    <a:cubicBezTo>
                      <a:pt x="6112" y="1623"/>
                      <a:pt x="6112" y="1623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12" y="1623"/>
                      <a:pt x="6112" y="1623"/>
                    </a:cubicBezTo>
                    <a:close/>
                    <a:moveTo>
                      <a:pt x="1032" y="1"/>
                    </a:moveTo>
                    <a:cubicBezTo>
                      <a:pt x="1032" y="1"/>
                      <a:pt x="1" y="4037"/>
                      <a:pt x="1909" y="6207"/>
                    </a:cubicBezTo>
                    <a:cubicBezTo>
                      <a:pt x="1909" y="6207"/>
                      <a:pt x="3569" y="7701"/>
                      <a:pt x="5835" y="7701"/>
                    </a:cubicBezTo>
                    <a:cubicBezTo>
                      <a:pt x="6447" y="7701"/>
                      <a:pt x="7102" y="7592"/>
                      <a:pt x="7781" y="7316"/>
                    </a:cubicBezTo>
                    <a:cubicBezTo>
                      <a:pt x="7781" y="7316"/>
                      <a:pt x="5635" y="6499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09" y="1623"/>
                      <a:pt x="6104" y="1623"/>
                    </a:cubicBezTo>
                    <a:cubicBezTo>
                      <a:pt x="5980" y="1623"/>
                      <a:pt x="4400" y="1465"/>
                      <a:pt x="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5">
                <a:extLst>
                  <a:ext uri="{FF2B5EF4-FFF2-40B4-BE49-F238E27FC236}">
                    <a16:creationId xmlns:a16="http://schemas.microsoft.com/office/drawing/2014/main" id="{5ADF88BD-4969-41AA-1E3D-67D52244B693}"/>
                  </a:ext>
                </a:extLst>
              </p:cNvPr>
              <p:cNvSpPr/>
              <p:nvPr/>
            </p:nvSpPr>
            <p:spPr>
              <a:xfrm>
                <a:off x="6365722" y="1881228"/>
                <a:ext cx="473459" cy="228024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2829" extrusionOk="0">
                    <a:moveTo>
                      <a:pt x="5873" y="2367"/>
                    </a:moveTo>
                    <a:cubicBezTo>
                      <a:pt x="5872" y="2368"/>
                      <a:pt x="5870" y="2368"/>
                      <a:pt x="5869" y="2369"/>
                    </a:cubicBezTo>
                    <a:lnTo>
                      <a:pt x="5869" y="2369"/>
                    </a:lnTo>
                    <a:cubicBezTo>
                      <a:pt x="5872" y="2368"/>
                      <a:pt x="5874" y="2368"/>
                      <a:pt x="5873" y="2367"/>
                    </a:cubicBezTo>
                    <a:close/>
                    <a:moveTo>
                      <a:pt x="2141" y="0"/>
                    </a:moveTo>
                    <a:cubicBezTo>
                      <a:pt x="2141" y="0"/>
                      <a:pt x="1496" y="1415"/>
                      <a:pt x="546" y="1415"/>
                    </a:cubicBezTo>
                    <a:cubicBezTo>
                      <a:pt x="373" y="1415"/>
                      <a:pt x="191" y="1368"/>
                      <a:pt x="1" y="1258"/>
                    </a:cubicBezTo>
                    <a:lnTo>
                      <a:pt x="1" y="1258"/>
                    </a:lnTo>
                    <a:cubicBezTo>
                      <a:pt x="1" y="1258"/>
                      <a:pt x="1394" y="2828"/>
                      <a:pt x="3689" y="2828"/>
                    </a:cubicBezTo>
                    <a:cubicBezTo>
                      <a:pt x="4346" y="2828"/>
                      <a:pt x="5076" y="2700"/>
                      <a:pt x="5869" y="2369"/>
                    </a:cubicBezTo>
                    <a:lnTo>
                      <a:pt x="5869" y="2369"/>
                    </a:lnTo>
                    <a:cubicBezTo>
                      <a:pt x="5850" y="2374"/>
                      <a:pt x="5766" y="2386"/>
                      <a:pt x="5633" y="2386"/>
                    </a:cubicBezTo>
                    <a:cubicBezTo>
                      <a:pt x="5034" y="2386"/>
                      <a:pt x="3434" y="2150"/>
                      <a:pt x="2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35">
              <a:extLst>
                <a:ext uri="{FF2B5EF4-FFF2-40B4-BE49-F238E27FC236}">
                  <a16:creationId xmlns:a16="http://schemas.microsoft.com/office/drawing/2014/main" id="{38192CD6-B164-4C79-B330-E895385F957C}"/>
                </a:ext>
              </a:extLst>
            </p:cNvPr>
            <p:cNvGrpSpPr/>
            <p:nvPr/>
          </p:nvGrpSpPr>
          <p:grpSpPr>
            <a:xfrm flipH="1">
              <a:off x="1365165" y="1246316"/>
              <a:ext cx="845522" cy="916625"/>
              <a:chOff x="7511392" y="307000"/>
              <a:chExt cx="863570" cy="936192"/>
            </a:xfrm>
          </p:grpSpPr>
          <p:sp>
            <p:nvSpPr>
              <p:cNvPr id="422" name="Google Shape;422;p35">
                <a:extLst>
                  <a:ext uri="{FF2B5EF4-FFF2-40B4-BE49-F238E27FC236}">
                    <a16:creationId xmlns:a16="http://schemas.microsoft.com/office/drawing/2014/main" id="{3DE7940E-8469-EEEA-6B84-0DB2EB0B26E0}"/>
                  </a:ext>
                </a:extLst>
              </p:cNvPr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5">
                <a:extLst>
                  <a:ext uri="{FF2B5EF4-FFF2-40B4-BE49-F238E27FC236}">
                    <a16:creationId xmlns:a16="http://schemas.microsoft.com/office/drawing/2014/main" id="{620104F5-2913-B5B1-0159-961BF2709A74}"/>
                  </a:ext>
                </a:extLst>
              </p:cNvPr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73C4CFF-3AD1-8883-FF60-7572AC26D6F9}"/>
              </a:ext>
            </a:extLst>
          </p:cNvPr>
          <p:cNvSpPr txBox="1"/>
          <p:nvPr/>
        </p:nvSpPr>
        <p:spPr>
          <a:xfrm>
            <a:off x="3059486" y="677343"/>
            <a:ext cx="602529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JEFS (Judiciary Electronic Filing and Service System) – Key Functionalities:-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Electronic Case Filing: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Allows attorneys registered with the Hawaii State Bar Association to create and manage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Document Submission: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Attorneys and authorized firm staff can file legal documents electronically.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Role-Based Access: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Attorneys control access for their firm staff, ensuring accountability.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Judiciary Integration: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Submitted documents are directly integrated into the court system for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Efficient Notification System: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Users receive updates on case filings, motions, and court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Secure Access: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Only registered attorneys and their designated staff can utilize the system.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This system streamlines legal case management, reducing paperwork and enhancing efficiency in court operations.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75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CEB6-856B-D728-BE0D-4E0B2641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F040D-096A-2967-DF3C-09ADE12D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Submit Case Filing</a:t>
            </a: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3B116-6C1C-A3CF-5287-A88F40189090}"/>
              </a:ext>
            </a:extLst>
          </p:cNvPr>
          <p:cNvSpPr txBox="1"/>
          <p:nvPr/>
        </p:nvSpPr>
        <p:spPr>
          <a:xfrm>
            <a:off x="391886" y="944246"/>
            <a:ext cx="837655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Creating a Criminal Case</a:t>
            </a:r>
            <a:endParaRPr lang="en-US" dirty="0"/>
          </a:p>
          <a:p>
            <a:r>
              <a:rPr lang="en-US" dirty="0"/>
              <a:t>	-&gt; Only </a:t>
            </a:r>
            <a:r>
              <a:rPr lang="en-US" b="1" dirty="0"/>
              <a:t>Attorney General &amp; Prosecutors</a:t>
            </a:r>
            <a:r>
              <a:rPr lang="en-US" dirty="0"/>
              <a:t> can create criminal cases.</a:t>
            </a:r>
          </a:p>
          <a:p>
            <a:r>
              <a:rPr lang="en-US" dirty="0"/>
              <a:t>	-&gt;Attorneys can create cases in Supreme Court, ICA, and civil courts.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Filing on an Existing Case</a:t>
            </a:r>
            <a:endParaRPr lang="en-US" dirty="0"/>
          </a:p>
          <a:p>
            <a:r>
              <a:rPr lang="en-US" dirty="0"/>
              <a:t>	-&gt; Attorneys &amp; their staff can submit filings on active cases.</a:t>
            </a:r>
          </a:p>
          <a:p>
            <a:r>
              <a:rPr lang="en-US" dirty="0"/>
              <a:t>	-&gt; Criminal cases: Filings allowed on </a:t>
            </a:r>
            <a:r>
              <a:rPr lang="en-US" b="1" dirty="0"/>
              <a:t>active cases &amp; cases closed within 90 days</a:t>
            </a:r>
            <a:r>
              <a:rPr lang="en-US" dirty="0"/>
              <a:t>.</a:t>
            </a:r>
          </a:p>
          <a:p>
            <a:r>
              <a:rPr lang="en-US" dirty="0"/>
              <a:t>	-&gt; Civil cases: Filings allowed </a:t>
            </a:r>
            <a:r>
              <a:rPr lang="en-US" b="1" dirty="0"/>
              <a:t>irrespective of case status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Self-Represented Filings</a:t>
            </a:r>
            <a:endParaRPr lang="en-US" dirty="0"/>
          </a:p>
          <a:p>
            <a:r>
              <a:rPr lang="en-US" dirty="0"/>
              <a:t>	-&gt; Allowed in </a:t>
            </a:r>
            <a:r>
              <a:rPr lang="en-US" b="1" dirty="0"/>
              <a:t>criminal cases</a:t>
            </a:r>
            <a:r>
              <a:rPr lang="en-US" dirty="0"/>
              <a:t> upon court approval.</a:t>
            </a:r>
          </a:p>
          <a:p>
            <a:r>
              <a:rPr lang="en-US" dirty="0"/>
              <a:t>	-&gt; Self-represented parties can file civil cases from </a:t>
            </a:r>
            <a:r>
              <a:rPr lang="en-US" b="1" dirty="0"/>
              <a:t>Q4 2019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Outcome</a:t>
            </a:r>
            <a:endParaRPr lang="en-US" dirty="0"/>
          </a:p>
          <a:p>
            <a:r>
              <a:rPr lang="en-US" b="1" dirty="0"/>
              <a:t>	</a:t>
            </a:r>
            <a:r>
              <a:rPr lang="en-US" dirty="0"/>
              <a:t>-&gt; JEFS ensures structured, transparent, &amp; efficient case management.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890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49C35-2A7F-42A5-F7FA-39DCE722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8B9F-0EF3-367F-8744-D1F6C8AF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My Case View </a:t>
            </a: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B332D-C84D-ECA6-0656-F89F96EB6C98}"/>
              </a:ext>
            </a:extLst>
          </p:cNvPr>
          <p:cNvSpPr txBox="1"/>
          <p:nvPr/>
        </p:nvSpPr>
        <p:spPr>
          <a:xfrm>
            <a:off x="383721" y="1125200"/>
            <a:ext cx="83765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Manage Cases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View documents on active cases and those closed within 90 days.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Add parties and view events related to the case.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Not an attorney’s personal case repository—only recent cases are available.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Law firm staff can access case information from colleagues’ active cases if at least one 	      member of the firm is involved.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Manage Payments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Attorneys &amp; staff can pay outstanding filing fees for Civil cases.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Part of the Civil Project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Outcome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	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-&gt; Efficient case tracking, collaboration, and payment management for attorneys.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889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3FA5D-AE5D-E58C-19A9-8DD85AA4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E4FD-2B1B-486B-C100-BDC5935F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User Administration </a:t>
            </a:r>
            <a:br>
              <a:rPr lang="en-US" sz="1050" b="1" dirty="0"/>
            </a:b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5DB03-A120-003F-32C7-0EA0212BF939}"/>
              </a:ext>
            </a:extLst>
          </p:cNvPr>
          <p:cNvSpPr txBox="1"/>
          <p:nvPr/>
        </p:nvSpPr>
        <p:spPr>
          <a:xfrm>
            <a:off x="383721" y="1125200"/>
            <a:ext cx="83765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Manage My Profile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-&gt;JEFS users can update personal details as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Outcome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Ensures user information is accurate and up to date.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015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1DAE4-7095-13AE-B3AD-EFFE0E1B3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EA6E-6179-FBFD-CF04-C6592576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Document Subscription </a:t>
            </a: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F1290-260B-B943-222B-2AAF757946B0}"/>
              </a:ext>
            </a:extLst>
          </p:cNvPr>
          <p:cNvSpPr txBox="1"/>
          <p:nvPr/>
        </p:nvSpPr>
        <p:spPr>
          <a:xfrm>
            <a:off x="383721" y="1125200"/>
            <a:ext cx="83765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Purchase Subscriptions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Allows attorneys, firm staff, self-represented parties, and the public to subscribe to view 	     court documents for cases they are not associated with.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View Documents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Subscribers can access non-confidential documents at no extra cost.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Option to obtain certified copies of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Subscription Details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Displays existing subscription information for the user.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853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>
          <a:extLst>
            <a:ext uri="{FF2B5EF4-FFF2-40B4-BE49-F238E27FC236}">
              <a16:creationId xmlns:a16="http://schemas.microsoft.com/office/drawing/2014/main" id="{81C8353E-23DF-123D-D98E-05684C33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>
            <a:extLst>
              <a:ext uri="{FF2B5EF4-FFF2-40B4-BE49-F238E27FC236}">
                <a16:creationId xmlns:a16="http://schemas.microsoft.com/office/drawing/2014/main" id="{EBB498AE-134C-4844-4422-BB9ED952E000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561657" y="185875"/>
            <a:ext cx="80206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JIMS/JEFS Payment</a:t>
            </a: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399" name="Google Shape;399;p35">
            <a:extLst>
              <a:ext uri="{FF2B5EF4-FFF2-40B4-BE49-F238E27FC236}">
                <a16:creationId xmlns:a16="http://schemas.microsoft.com/office/drawing/2014/main" id="{8C66FF4E-86D1-DE58-1386-FD7FCAB8ABB8}"/>
              </a:ext>
            </a:extLst>
          </p:cNvPr>
          <p:cNvGrpSpPr/>
          <p:nvPr/>
        </p:nvGrpSpPr>
        <p:grpSpPr>
          <a:xfrm>
            <a:off x="195875" y="1246316"/>
            <a:ext cx="2849877" cy="3467883"/>
            <a:chOff x="195875" y="1246316"/>
            <a:chExt cx="2849877" cy="3467883"/>
          </a:xfrm>
        </p:grpSpPr>
        <p:grpSp>
          <p:nvGrpSpPr>
            <p:cNvPr id="400" name="Google Shape;400;p35">
              <a:extLst>
                <a:ext uri="{FF2B5EF4-FFF2-40B4-BE49-F238E27FC236}">
                  <a16:creationId xmlns:a16="http://schemas.microsoft.com/office/drawing/2014/main" id="{019B1087-B0A5-5A7B-8A0D-0536A2D22FDE}"/>
                </a:ext>
              </a:extLst>
            </p:cNvPr>
            <p:cNvGrpSpPr/>
            <p:nvPr/>
          </p:nvGrpSpPr>
          <p:grpSpPr>
            <a:xfrm flipH="1">
              <a:off x="195875" y="3219050"/>
              <a:ext cx="2849877" cy="1495149"/>
              <a:chOff x="195875" y="3219050"/>
              <a:chExt cx="2849877" cy="1495149"/>
            </a:xfrm>
          </p:grpSpPr>
          <p:sp>
            <p:nvSpPr>
              <p:cNvPr id="401" name="Google Shape;401;p35">
                <a:extLst>
                  <a:ext uri="{FF2B5EF4-FFF2-40B4-BE49-F238E27FC236}">
                    <a16:creationId xmlns:a16="http://schemas.microsoft.com/office/drawing/2014/main" id="{A89942B4-6D9D-3FB8-4333-20C3D787DA13}"/>
                  </a:ext>
                </a:extLst>
              </p:cNvPr>
              <p:cNvSpPr/>
              <p:nvPr/>
            </p:nvSpPr>
            <p:spPr>
              <a:xfrm>
                <a:off x="195875" y="4594800"/>
                <a:ext cx="1790426" cy="119399"/>
              </a:xfrm>
              <a:custGeom>
                <a:avLst/>
                <a:gdLst/>
                <a:ahLst/>
                <a:cxnLst/>
                <a:rect l="l" t="t" r="r" b="b"/>
                <a:pathLst>
                  <a:path w="20975" h="1504" extrusionOk="0">
                    <a:moveTo>
                      <a:pt x="10487" y="1"/>
                    </a:moveTo>
                    <a:cubicBezTo>
                      <a:pt x="4698" y="1"/>
                      <a:pt x="0" y="335"/>
                      <a:pt x="0" y="752"/>
                    </a:cubicBezTo>
                    <a:cubicBezTo>
                      <a:pt x="0" y="1169"/>
                      <a:pt x="4698" y="1503"/>
                      <a:pt x="10487" y="1503"/>
                    </a:cubicBezTo>
                    <a:cubicBezTo>
                      <a:pt x="16276" y="1503"/>
                      <a:pt x="20974" y="1169"/>
                      <a:pt x="20974" y="752"/>
                    </a:cubicBezTo>
                    <a:cubicBezTo>
                      <a:pt x="20974" y="335"/>
                      <a:pt x="16276" y="1"/>
                      <a:pt x="10487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5">
                <a:extLst>
                  <a:ext uri="{FF2B5EF4-FFF2-40B4-BE49-F238E27FC236}">
                    <a16:creationId xmlns:a16="http://schemas.microsoft.com/office/drawing/2014/main" id="{30574BB8-9BF9-B2B2-80E6-120F2A81CC7B}"/>
                  </a:ext>
                </a:extLst>
              </p:cNvPr>
              <p:cNvSpPr/>
              <p:nvPr/>
            </p:nvSpPr>
            <p:spPr>
              <a:xfrm>
                <a:off x="712383" y="3546816"/>
                <a:ext cx="2333369" cy="808590"/>
              </a:xfrm>
              <a:custGeom>
                <a:avLst/>
                <a:gdLst/>
                <a:ahLst/>
                <a:cxnLst/>
                <a:rect l="l" t="t" r="r" b="b"/>
                <a:pathLst>
                  <a:path w="29394" h="10186" extrusionOk="0">
                    <a:moveTo>
                      <a:pt x="783" y="1"/>
                    </a:moveTo>
                    <a:cubicBezTo>
                      <a:pt x="456" y="1"/>
                      <a:pt x="158" y="210"/>
                      <a:pt x="60" y="528"/>
                    </a:cubicBezTo>
                    <a:cubicBezTo>
                      <a:pt x="1" y="718"/>
                      <a:pt x="31" y="921"/>
                      <a:pt x="120" y="1094"/>
                    </a:cubicBezTo>
                    <a:cubicBezTo>
                      <a:pt x="210" y="1261"/>
                      <a:pt x="365" y="1398"/>
                      <a:pt x="567" y="1458"/>
                    </a:cubicBezTo>
                    <a:lnTo>
                      <a:pt x="2630" y="2113"/>
                    </a:lnTo>
                    <a:lnTo>
                      <a:pt x="2940" y="2209"/>
                    </a:lnTo>
                    <a:lnTo>
                      <a:pt x="11007" y="4778"/>
                    </a:lnTo>
                    <a:lnTo>
                      <a:pt x="11317" y="4880"/>
                    </a:lnTo>
                    <a:lnTo>
                      <a:pt x="27754" y="10114"/>
                    </a:lnTo>
                    <a:cubicBezTo>
                      <a:pt x="27887" y="10163"/>
                      <a:pt x="28023" y="10186"/>
                      <a:pt x="28154" y="10186"/>
                    </a:cubicBezTo>
                    <a:cubicBezTo>
                      <a:pt x="28638" y="10186"/>
                      <a:pt x="29074" y="9877"/>
                      <a:pt x="29214" y="9399"/>
                    </a:cubicBezTo>
                    <a:cubicBezTo>
                      <a:pt x="29393" y="8803"/>
                      <a:pt x="29041" y="8165"/>
                      <a:pt x="28433" y="7980"/>
                    </a:cubicBezTo>
                    <a:lnTo>
                      <a:pt x="28415" y="7968"/>
                    </a:lnTo>
                    <a:lnTo>
                      <a:pt x="11835" y="3169"/>
                    </a:lnTo>
                    <a:lnTo>
                      <a:pt x="11531" y="3079"/>
                    </a:lnTo>
                    <a:lnTo>
                      <a:pt x="3393" y="724"/>
                    </a:lnTo>
                    <a:lnTo>
                      <a:pt x="3089" y="635"/>
                    </a:lnTo>
                    <a:lnTo>
                      <a:pt x="1002" y="33"/>
                    </a:lnTo>
                    <a:cubicBezTo>
                      <a:pt x="929" y="11"/>
                      <a:pt x="855" y="1"/>
                      <a:pt x="7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5">
                <a:extLst>
                  <a:ext uri="{FF2B5EF4-FFF2-40B4-BE49-F238E27FC236}">
                    <a16:creationId xmlns:a16="http://schemas.microsoft.com/office/drawing/2014/main" id="{61EE2159-D135-A65B-80F7-C71B2706BC0C}"/>
                  </a:ext>
                </a:extLst>
              </p:cNvPr>
              <p:cNvSpPr/>
              <p:nvPr/>
            </p:nvSpPr>
            <p:spPr>
              <a:xfrm>
                <a:off x="916874" y="3270648"/>
                <a:ext cx="741671" cy="970769"/>
              </a:xfrm>
              <a:custGeom>
                <a:avLst/>
                <a:gdLst/>
                <a:ahLst/>
                <a:cxnLst/>
                <a:rect l="l" t="t" r="r" b="b"/>
                <a:pathLst>
                  <a:path w="9343" h="12229" extrusionOk="0">
                    <a:moveTo>
                      <a:pt x="3142" y="0"/>
                    </a:moveTo>
                    <a:lnTo>
                      <a:pt x="0" y="10344"/>
                    </a:lnTo>
                    <a:lnTo>
                      <a:pt x="6195" y="12228"/>
                    </a:lnTo>
                    <a:lnTo>
                      <a:pt x="9343" y="1884"/>
                    </a:lnTo>
                    <a:lnTo>
                      <a:pt x="314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5">
                <a:extLst>
                  <a:ext uri="{FF2B5EF4-FFF2-40B4-BE49-F238E27FC236}">
                    <a16:creationId xmlns:a16="http://schemas.microsoft.com/office/drawing/2014/main" id="{E7E99A6E-20D5-DB78-C5CB-D1C82AC491D3}"/>
                  </a:ext>
                </a:extLst>
              </p:cNvPr>
              <p:cNvSpPr/>
              <p:nvPr/>
            </p:nvSpPr>
            <p:spPr>
              <a:xfrm>
                <a:off x="1327680" y="3395118"/>
                <a:ext cx="331343" cy="846297"/>
              </a:xfrm>
              <a:custGeom>
                <a:avLst/>
                <a:gdLst/>
                <a:ahLst/>
                <a:cxnLst/>
                <a:rect l="l" t="t" r="r" b="b"/>
                <a:pathLst>
                  <a:path w="4174" h="10661" extrusionOk="0">
                    <a:moveTo>
                      <a:pt x="3142" y="0"/>
                    </a:moveTo>
                    <a:lnTo>
                      <a:pt x="0" y="10350"/>
                    </a:lnTo>
                    <a:lnTo>
                      <a:pt x="1026" y="10660"/>
                    </a:lnTo>
                    <a:lnTo>
                      <a:pt x="4174" y="316"/>
                    </a:lnTo>
                    <a:lnTo>
                      <a:pt x="3142" y="0"/>
                    </a:ln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5">
                <a:extLst>
                  <a:ext uri="{FF2B5EF4-FFF2-40B4-BE49-F238E27FC236}">
                    <a16:creationId xmlns:a16="http://schemas.microsoft.com/office/drawing/2014/main" id="{BBAE9E14-C3C2-9D5F-214A-3762B8CE3B34}"/>
                  </a:ext>
                </a:extLst>
              </p:cNvPr>
              <p:cNvSpPr/>
              <p:nvPr/>
            </p:nvSpPr>
            <p:spPr>
              <a:xfrm>
                <a:off x="840190" y="3993495"/>
                <a:ext cx="655541" cy="313402"/>
              </a:xfrm>
              <a:custGeom>
                <a:avLst/>
                <a:gdLst/>
                <a:ahLst/>
                <a:cxnLst/>
                <a:rect l="l" t="t" r="r" b="b"/>
                <a:pathLst>
                  <a:path w="8258" h="3948" extrusionOk="0">
                    <a:moveTo>
                      <a:pt x="1084" y="1"/>
                    </a:moveTo>
                    <a:cubicBezTo>
                      <a:pt x="633" y="1"/>
                      <a:pt x="216" y="290"/>
                      <a:pt x="84" y="743"/>
                    </a:cubicBezTo>
                    <a:cubicBezTo>
                      <a:pt x="1" y="1018"/>
                      <a:pt x="36" y="1298"/>
                      <a:pt x="156" y="1536"/>
                    </a:cubicBezTo>
                    <a:cubicBezTo>
                      <a:pt x="245" y="1709"/>
                      <a:pt x="388" y="1852"/>
                      <a:pt x="561" y="1948"/>
                    </a:cubicBezTo>
                    <a:cubicBezTo>
                      <a:pt x="627" y="1983"/>
                      <a:pt x="704" y="2025"/>
                      <a:pt x="776" y="2043"/>
                    </a:cubicBezTo>
                    <a:lnTo>
                      <a:pt x="6875" y="3903"/>
                    </a:lnTo>
                    <a:cubicBezTo>
                      <a:pt x="6976" y="3933"/>
                      <a:pt x="7078" y="3948"/>
                      <a:pt x="7179" y="3948"/>
                    </a:cubicBezTo>
                    <a:cubicBezTo>
                      <a:pt x="7375" y="3948"/>
                      <a:pt x="7566" y="3892"/>
                      <a:pt x="7727" y="3790"/>
                    </a:cubicBezTo>
                    <a:cubicBezTo>
                      <a:pt x="7930" y="3665"/>
                      <a:pt x="8097" y="3462"/>
                      <a:pt x="8174" y="3206"/>
                    </a:cubicBezTo>
                    <a:cubicBezTo>
                      <a:pt x="8258" y="2931"/>
                      <a:pt x="8222" y="2651"/>
                      <a:pt x="8103" y="2413"/>
                    </a:cubicBezTo>
                    <a:cubicBezTo>
                      <a:pt x="8097" y="2389"/>
                      <a:pt x="8079" y="2371"/>
                      <a:pt x="8067" y="2353"/>
                    </a:cubicBezTo>
                    <a:cubicBezTo>
                      <a:pt x="7936" y="2144"/>
                      <a:pt x="7739" y="1977"/>
                      <a:pt x="7483" y="1906"/>
                    </a:cubicBezTo>
                    <a:lnTo>
                      <a:pt x="1390" y="46"/>
                    </a:lnTo>
                    <a:cubicBezTo>
                      <a:pt x="1288" y="15"/>
                      <a:pt x="1185" y="1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5">
                <a:extLst>
                  <a:ext uri="{FF2B5EF4-FFF2-40B4-BE49-F238E27FC236}">
                    <a16:creationId xmlns:a16="http://schemas.microsoft.com/office/drawing/2014/main" id="{6F0EA6C7-C032-4BF3-4EC5-CD74B7A8DC9A}"/>
                  </a:ext>
                </a:extLst>
              </p:cNvPr>
              <p:cNvSpPr/>
              <p:nvPr/>
            </p:nvSpPr>
            <p:spPr>
              <a:xfrm>
                <a:off x="1067860" y="3219050"/>
                <a:ext cx="669750" cy="313402"/>
              </a:xfrm>
              <a:custGeom>
                <a:avLst/>
                <a:gdLst/>
                <a:ahLst/>
                <a:cxnLst/>
                <a:rect l="l" t="t" r="r" b="b"/>
                <a:pathLst>
                  <a:path w="8437" h="3948" extrusionOk="0">
                    <a:moveTo>
                      <a:pt x="1169" y="1"/>
                    </a:moveTo>
                    <a:cubicBezTo>
                      <a:pt x="722" y="1"/>
                      <a:pt x="309" y="293"/>
                      <a:pt x="173" y="740"/>
                    </a:cubicBezTo>
                    <a:cubicBezTo>
                      <a:pt x="0" y="1294"/>
                      <a:pt x="316" y="1878"/>
                      <a:pt x="865" y="2045"/>
                    </a:cubicBezTo>
                    <a:lnTo>
                      <a:pt x="6964" y="3899"/>
                    </a:lnTo>
                    <a:cubicBezTo>
                      <a:pt x="7067" y="3932"/>
                      <a:pt x="7171" y="3947"/>
                      <a:pt x="7274" y="3947"/>
                    </a:cubicBezTo>
                    <a:cubicBezTo>
                      <a:pt x="7719" y="3947"/>
                      <a:pt x="8134" y="3658"/>
                      <a:pt x="8269" y="3208"/>
                    </a:cubicBezTo>
                    <a:cubicBezTo>
                      <a:pt x="8436" y="2653"/>
                      <a:pt x="8126" y="2075"/>
                      <a:pt x="7572" y="1902"/>
                    </a:cubicBezTo>
                    <a:lnTo>
                      <a:pt x="1479" y="48"/>
                    </a:lnTo>
                    <a:cubicBezTo>
                      <a:pt x="1376" y="16"/>
                      <a:pt x="1272" y="1"/>
                      <a:pt x="11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5">
                <a:extLst>
                  <a:ext uri="{FF2B5EF4-FFF2-40B4-BE49-F238E27FC236}">
                    <a16:creationId xmlns:a16="http://schemas.microsoft.com/office/drawing/2014/main" id="{7E7B6656-CC7D-76C4-85B9-4FC813383C1E}"/>
                  </a:ext>
                </a:extLst>
              </p:cNvPr>
              <p:cNvSpPr/>
              <p:nvPr/>
            </p:nvSpPr>
            <p:spPr>
              <a:xfrm>
                <a:off x="924415" y="3524589"/>
                <a:ext cx="720396" cy="476295"/>
              </a:xfrm>
              <a:custGeom>
                <a:avLst/>
                <a:gdLst/>
                <a:ahLst/>
                <a:cxnLst/>
                <a:rect l="l" t="t" r="r" b="b"/>
                <a:pathLst>
                  <a:path w="9075" h="6000" extrusionOk="0">
                    <a:moveTo>
                      <a:pt x="1435" y="1"/>
                    </a:moveTo>
                    <a:cubicBezTo>
                      <a:pt x="1207" y="1"/>
                      <a:pt x="1000" y="146"/>
                      <a:pt x="931" y="372"/>
                    </a:cubicBezTo>
                    <a:lnTo>
                      <a:pt x="78" y="3169"/>
                    </a:lnTo>
                    <a:cubicBezTo>
                      <a:pt x="1" y="3443"/>
                      <a:pt x="156" y="3735"/>
                      <a:pt x="430" y="3818"/>
                    </a:cubicBezTo>
                    <a:lnTo>
                      <a:pt x="7531" y="5977"/>
                    </a:lnTo>
                    <a:cubicBezTo>
                      <a:pt x="7580" y="5992"/>
                      <a:pt x="7630" y="5999"/>
                      <a:pt x="7679" y="5999"/>
                    </a:cubicBezTo>
                    <a:cubicBezTo>
                      <a:pt x="7899" y="5999"/>
                      <a:pt x="8106" y="5854"/>
                      <a:pt x="8175" y="5625"/>
                    </a:cubicBezTo>
                    <a:lnTo>
                      <a:pt x="9021" y="2835"/>
                    </a:lnTo>
                    <a:cubicBezTo>
                      <a:pt x="9075" y="2650"/>
                      <a:pt x="9033" y="2465"/>
                      <a:pt x="8920" y="2340"/>
                    </a:cubicBezTo>
                    <a:cubicBezTo>
                      <a:pt x="8860" y="2268"/>
                      <a:pt x="8777" y="2215"/>
                      <a:pt x="8681" y="2185"/>
                    </a:cubicBezTo>
                    <a:lnTo>
                      <a:pt x="1581" y="21"/>
                    </a:lnTo>
                    <a:cubicBezTo>
                      <a:pt x="1532" y="7"/>
                      <a:pt x="1483" y="1"/>
                      <a:pt x="14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5">
                <a:extLst>
                  <a:ext uri="{FF2B5EF4-FFF2-40B4-BE49-F238E27FC236}">
                    <a16:creationId xmlns:a16="http://schemas.microsoft.com/office/drawing/2014/main" id="{B18BDF7D-339A-47AF-97B1-583F01D69C6E}"/>
                  </a:ext>
                </a:extLst>
              </p:cNvPr>
              <p:cNvSpPr/>
              <p:nvPr/>
            </p:nvSpPr>
            <p:spPr>
              <a:xfrm>
                <a:off x="923462" y="3771307"/>
                <a:ext cx="650857" cy="229574"/>
              </a:xfrm>
              <a:custGeom>
                <a:avLst/>
                <a:gdLst/>
                <a:ahLst/>
                <a:cxnLst/>
                <a:rect l="l" t="t" r="r" b="b"/>
                <a:pathLst>
                  <a:path w="8199" h="2892" extrusionOk="0">
                    <a:moveTo>
                      <a:pt x="102" y="1"/>
                    </a:moveTo>
                    <a:lnTo>
                      <a:pt x="84" y="61"/>
                    </a:lnTo>
                    <a:cubicBezTo>
                      <a:pt x="1" y="335"/>
                      <a:pt x="162" y="627"/>
                      <a:pt x="436" y="710"/>
                    </a:cubicBezTo>
                    <a:lnTo>
                      <a:pt x="7537" y="2869"/>
                    </a:lnTo>
                    <a:cubicBezTo>
                      <a:pt x="7587" y="2884"/>
                      <a:pt x="7638" y="2891"/>
                      <a:pt x="7688" y="2891"/>
                    </a:cubicBezTo>
                    <a:cubicBezTo>
                      <a:pt x="7911" y="2891"/>
                      <a:pt x="8118" y="2746"/>
                      <a:pt x="8187" y="2517"/>
                    </a:cubicBezTo>
                    <a:lnTo>
                      <a:pt x="8199" y="2457"/>
                    </a:lnTo>
                    <a:lnTo>
                      <a:pt x="1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5">
                <a:extLst>
                  <a:ext uri="{FF2B5EF4-FFF2-40B4-BE49-F238E27FC236}">
                    <a16:creationId xmlns:a16="http://schemas.microsoft.com/office/drawing/2014/main" id="{8EA9BAE2-F4FF-4553-38AE-C78F87A354B3}"/>
                  </a:ext>
                </a:extLst>
              </p:cNvPr>
              <p:cNvSpPr/>
              <p:nvPr/>
            </p:nvSpPr>
            <p:spPr>
              <a:xfrm>
                <a:off x="996415" y="3523954"/>
                <a:ext cx="650778" cy="229495"/>
              </a:xfrm>
              <a:custGeom>
                <a:avLst/>
                <a:gdLst/>
                <a:ahLst/>
                <a:cxnLst/>
                <a:rect l="l" t="t" r="r" b="b"/>
                <a:pathLst>
                  <a:path w="8198" h="2891" extrusionOk="0">
                    <a:moveTo>
                      <a:pt x="514" y="1"/>
                    </a:moveTo>
                    <a:cubicBezTo>
                      <a:pt x="290" y="1"/>
                      <a:pt x="82" y="149"/>
                      <a:pt x="18" y="374"/>
                    </a:cubicBezTo>
                    <a:lnTo>
                      <a:pt x="0" y="434"/>
                    </a:lnTo>
                    <a:lnTo>
                      <a:pt x="8102" y="2890"/>
                    </a:lnTo>
                    <a:lnTo>
                      <a:pt x="8114" y="2831"/>
                    </a:lnTo>
                    <a:cubicBezTo>
                      <a:pt x="8198" y="2556"/>
                      <a:pt x="8043" y="2264"/>
                      <a:pt x="7768" y="2187"/>
                    </a:cubicBezTo>
                    <a:lnTo>
                      <a:pt x="662" y="23"/>
                    </a:lnTo>
                    <a:cubicBezTo>
                      <a:pt x="613" y="8"/>
                      <a:pt x="563" y="1"/>
                      <a:pt x="5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5">
                <a:extLst>
                  <a:ext uri="{FF2B5EF4-FFF2-40B4-BE49-F238E27FC236}">
                    <a16:creationId xmlns:a16="http://schemas.microsoft.com/office/drawing/2014/main" id="{E95D8D8F-F0E5-00D6-A700-B211B7C37FB9}"/>
                  </a:ext>
                </a:extLst>
              </p:cNvPr>
              <p:cNvSpPr/>
              <p:nvPr/>
            </p:nvSpPr>
            <p:spPr>
              <a:xfrm>
                <a:off x="924425" y="3710250"/>
                <a:ext cx="720372" cy="290628"/>
              </a:xfrm>
              <a:custGeom>
                <a:avLst/>
                <a:gdLst/>
                <a:ahLst/>
                <a:cxnLst/>
                <a:rect l="l" t="t" r="r" b="b"/>
                <a:pathLst>
                  <a:path w="9087" h="3661" extrusionOk="0">
                    <a:moveTo>
                      <a:pt x="8932" y="1"/>
                    </a:moveTo>
                    <a:cubicBezTo>
                      <a:pt x="7050" y="756"/>
                      <a:pt x="4401" y="916"/>
                      <a:pt x="2493" y="916"/>
                    </a:cubicBezTo>
                    <a:cubicBezTo>
                      <a:pt x="1088" y="916"/>
                      <a:pt x="84" y="830"/>
                      <a:pt x="84" y="830"/>
                    </a:cubicBezTo>
                    <a:lnTo>
                      <a:pt x="84" y="830"/>
                    </a:lnTo>
                    <a:cubicBezTo>
                      <a:pt x="1" y="1104"/>
                      <a:pt x="162" y="1396"/>
                      <a:pt x="436" y="1479"/>
                    </a:cubicBezTo>
                    <a:lnTo>
                      <a:pt x="7537" y="3638"/>
                    </a:lnTo>
                    <a:cubicBezTo>
                      <a:pt x="7587" y="3653"/>
                      <a:pt x="7638" y="3660"/>
                      <a:pt x="7688" y="3660"/>
                    </a:cubicBezTo>
                    <a:cubicBezTo>
                      <a:pt x="7911" y="3660"/>
                      <a:pt x="8118" y="3515"/>
                      <a:pt x="8187" y="3286"/>
                    </a:cubicBezTo>
                    <a:lnTo>
                      <a:pt x="9033" y="496"/>
                    </a:lnTo>
                    <a:cubicBezTo>
                      <a:pt x="9087" y="311"/>
                      <a:pt x="9045" y="126"/>
                      <a:pt x="8932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5">
                <a:extLst>
                  <a:ext uri="{FF2B5EF4-FFF2-40B4-BE49-F238E27FC236}">
                    <a16:creationId xmlns:a16="http://schemas.microsoft.com/office/drawing/2014/main" id="{093D20D7-B9DE-603C-B609-E36AB29776D9}"/>
                  </a:ext>
                </a:extLst>
              </p:cNvPr>
              <p:cNvSpPr/>
              <p:nvPr/>
            </p:nvSpPr>
            <p:spPr>
              <a:xfrm>
                <a:off x="884247" y="4148527"/>
                <a:ext cx="611483" cy="158844"/>
              </a:xfrm>
              <a:custGeom>
                <a:avLst/>
                <a:gdLst/>
                <a:ahLst/>
                <a:cxnLst/>
                <a:rect l="l" t="t" r="r" b="b"/>
                <a:pathLst>
                  <a:path w="7703" h="200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66" y="42"/>
                      <a:pt x="137" y="78"/>
                      <a:pt x="215" y="102"/>
                    </a:cubicBezTo>
                    <a:lnTo>
                      <a:pt x="6308" y="1956"/>
                    </a:lnTo>
                    <a:cubicBezTo>
                      <a:pt x="6409" y="1986"/>
                      <a:pt x="6512" y="2001"/>
                      <a:pt x="6613" y="2001"/>
                    </a:cubicBezTo>
                    <a:cubicBezTo>
                      <a:pt x="6812" y="2001"/>
                      <a:pt x="7005" y="1945"/>
                      <a:pt x="7166" y="1843"/>
                    </a:cubicBezTo>
                    <a:cubicBezTo>
                      <a:pt x="7375" y="1712"/>
                      <a:pt x="7542" y="1509"/>
                      <a:pt x="7619" y="1253"/>
                    </a:cubicBezTo>
                    <a:cubicBezTo>
                      <a:pt x="7703" y="978"/>
                      <a:pt x="7667" y="698"/>
                      <a:pt x="7548" y="460"/>
                    </a:cubicBezTo>
                    <a:cubicBezTo>
                      <a:pt x="7542" y="436"/>
                      <a:pt x="7524" y="418"/>
                      <a:pt x="7512" y="400"/>
                    </a:cubicBezTo>
                    <a:cubicBezTo>
                      <a:pt x="6819" y="490"/>
                      <a:pt x="6092" y="526"/>
                      <a:pt x="5373" y="526"/>
                    </a:cubicBezTo>
                    <a:cubicBezTo>
                      <a:pt x="2618" y="526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5">
                <a:extLst>
                  <a:ext uri="{FF2B5EF4-FFF2-40B4-BE49-F238E27FC236}">
                    <a16:creationId xmlns:a16="http://schemas.microsoft.com/office/drawing/2014/main" id="{151918D6-EC3A-29A6-9052-BC33BA3F4201}"/>
                  </a:ext>
                </a:extLst>
              </p:cNvPr>
              <p:cNvSpPr/>
              <p:nvPr/>
            </p:nvSpPr>
            <p:spPr>
              <a:xfrm>
                <a:off x="1118983" y="3374241"/>
                <a:ext cx="611483" cy="158924"/>
              </a:xfrm>
              <a:custGeom>
                <a:avLst/>
                <a:gdLst/>
                <a:ahLst/>
                <a:cxnLst/>
                <a:rect l="l" t="t" r="r" b="b"/>
                <a:pathLst>
                  <a:path w="7703" h="2002" extrusionOk="0">
                    <a:moveTo>
                      <a:pt x="0" y="1"/>
                    </a:moveTo>
                    <a:cubicBezTo>
                      <a:pt x="66" y="37"/>
                      <a:pt x="143" y="78"/>
                      <a:pt x="215" y="96"/>
                    </a:cubicBezTo>
                    <a:lnTo>
                      <a:pt x="6314" y="1956"/>
                    </a:lnTo>
                    <a:cubicBezTo>
                      <a:pt x="6415" y="1987"/>
                      <a:pt x="6517" y="2001"/>
                      <a:pt x="6618" y="2001"/>
                    </a:cubicBezTo>
                    <a:cubicBezTo>
                      <a:pt x="6814" y="2001"/>
                      <a:pt x="7005" y="1946"/>
                      <a:pt x="7166" y="1843"/>
                    </a:cubicBezTo>
                    <a:cubicBezTo>
                      <a:pt x="7387" y="1718"/>
                      <a:pt x="7548" y="1509"/>
                      <a:pt x="7625" y="1253"/>
                    </a:cubicBezTo>
                    <a:cubicBezTo>
                      <a:pt x="7703" y="979"/>
                      <a:pt x="7667" y="692"/>
                      <a:pt x="7548" y="454"/>
                    </a:cubicBezTo>
                    <a:cubicBezTo>
                      <a:pt x="7542" y="436"/>
                      <a:pt x="7524" y="418"/>
                      <a:pt x="7512" y="394"/>
                    </a:cubicBezTo>
                    <a:cubicBezTo>
                      <a:pt x="6813" y="487"/>
                      <a:pt x="6078" y="523"/>
                      <a:pt x="5352" y="523"/>
                    </a:cubicBezTo>
                    <a:cubicBezTo>
                      <a:pt x="2607" y="52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5">
                <a:extLst>
                  <a:ext uri="{FF2B5EF4-FFF2-40B4-BE49-F238E27FC236}">
                    <a16:creationId xmlns:a16="http://schemas.microsoft.com/office/drawing/2014/main" id="{CDA43ADE-5EED-947F-1FDD-E0001D356782}"/>
                  </a:ext>
                </a:extLst>
              </p:cNvPr>
              <p:cNvSpPr/>
              <p:nvPr/>
            </p:nvSpPr>
            <p:spPr>
              <a:xfrm>
                <a:off x="922033" y="3598573"/>
                <a:ext cx="59775" cy="12550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581" extrusionOk="0">
                    <a:moveTo>
                      <a:pt x="448" y="1"/>
                    </a:moveTo>
                    <a:lnTo>
                      <a:pt x="1" y="1485"/>
                    </a:lnTo>
                    <a:lnTo>
                      <a:pt x="299" y="1581"/>
                    </a:lnTo>
                    <a:lnTo>
                      <a:pt x="752" y="90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5">
                <a:extLst>
                  <a:ext uri="{FF2B5EF4-FFF2-40B4-BE49-F238E27FC236}">
                    <a16:creationId xmlns:a16="http://schemas.microsoft.com/office/drawing/2014/main" id="{638B5690-33DE-43B7-5E55-94DEA85902DC}"/>
                  </a:ext>
                </a:extLst>
              </p:cNvPr>
              <p:cNvSpPr/>
              <p:nvPr/>
            </p:nvSpPr>
            <p:spPr>
              <a:xfrm>
                <a:off x="1586072" y="3792184"/>
                <a:ext cx="65887" cy="143444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807" extrusionOk="0">
                    <a:moveTo>
                      <a:pt x="525" y="0"/>
                    </a:moveTo>
                    <a:lnTo>
                      <a:pt x="1" y="1711"/>
                    </a:lnTo>
                    <a:lnTo>
                      <a:pt x="311" y="1807"/>
                    </a:lnTo>
                    <a:lnTo>
                      <a:pt x="829" y="90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191919">
                  <a:alpha val="23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5">
                <a:extLst>
                  <a:ext uri="{FF2B5EF4-FFF2-40B4-BE49-F238E27FC236}">
                    <a16:creationId xmlns:a16="http://schemas.microsoft.com/office/drawing/2014/main" id="{55829D76-9A42-2ECB-3CD6-2D62AA0A104A}"/>
                  </a:ext>
                </a:extLst>
              </p:cNvPr>
              <p:cNvSpPr/>
              <p:nvPr/>
            </p:nvSpPr>
            <p:spPr>
              <a:xfrm>
                <a:off x="612996" y="4306576"/>
                <a:ext cx="923457" cy="153446"/>
              </a:xfrm>
              <a:custGeom>
                <a:avLst/>
                <a:gdLst/>
                <a:ahLst/>
                <a:cxnLst/>
                <a:rect l="l" t="t" r="r" b="b"/>
                <a:pathLst>
                  <a:path w="11633" h="1933" extrusionOk="0">
                    <a:moveTo>
                      <a:pt x="1933" y="1"/>
                    </a:moveTo>
                    <a:cubicBezTo>
                      <a:pt x="865" y="1"/>
                      <a:pt x="1" y="865"/>
                      <a:pt x="1" y="1933"/>
                    </a:cubicBezTo>
                    <a:lnTo>
                      <a:pt x="11633" y="1933"/>
                    </a:lnTo>
                    <a:cubicBezTo>
                      <a:pt x="11633" y="865"/>
                      <a:pt x="10768" y="1"/>
                      <a:pt x="96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5">
                <a:extLst>
                  <a:ext uri="{FF2B5EF4-FFF2-40B4-BE49-F238E27FC236}">
                    <a16:creationId xmlns:a16="http://schemas.microsoft.com/office/drawing/2014/main" id="{3CFB0213-1A87-93CE-34A1-3DFB0B34790C}"/>
                  </a:ext>
                </a:extLst>
              </p:cNvPr>
              <p:cNvSpPr/>
              <p:nvPr/>
            </p:nvSpPr>
            <p:spPr>
              <a:xfrm>
                <a:off x="428430" y="4502569"/>
                <a:ext cx="1292585" cy="159559"/>
              </a:xfrm>
              <a:custGeom>
                <a:avLst/>
                <a:gdLst/>
                <a:ahLst/>
                <a:cxnLst/>
                <a:rect l="l" t="t" r="r" b="b"/>
                <a:pathLst>
                  <a:path w="16283" h="2010" extrusionOk="0">
                    <a:moveTo>
                      <a:pt x="734" y="0"/>
                    </a:moveTo>
                    <a:cubicBezTo>
                      <a:pt x="329" y="0"/>
                      <a:pt x="1" y="328"/>
                      <a:pt x="1" y="727"/>
                    </a:cubicBezTo>
                    <a:lnTo>
                      <a:pt x="1" y="1282"/>
                    </a:lnTo>
                    <a:cubicBezTo>
                      <a:pt x="1" y="1681"/>
                      <a:pt x="329" y="2009"/>
                      <a:pt x="734" y="2009"/>
                    </a:cubicBezTo>
                    <a:lnTo>
                      <a:pt x="15555" y="2009"/>
                    </a:lnTo>
                    <a:cubicBezTo>
                      <a:pt x="15955" y="2009"/>
                      <a:pt x="16283" y="1681"/>
                      <a:pt x="16283" y="1282"/>
                    </a:cubicBezTo>
                    <a:lnTo>
                      <a:pt x="16283" y="727"/>
                    </a:lnTo>
                    <a:cubicBezTo>
                      <a:pt x="16283" y="328"/>
                      <a:pt x="15955" y="0"/>
                      <a:pt x="15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5">
                <a:extLst>
                  <a:ext uri="{FF2B5EF4-FFF2-40B4-BE49-F238E27FC236}">
                    <a16:creationId xmlns:a16="http://schemas.microsoft.com/office/drawing/2014/main" id="{AFD78681-E427-944F-0955-738297FD57FA}"/>
                  </a:ext>
                </a:extLst>
              </p:cNvPr>
              <p:cNvSpPr/>
              <p:nvPr/>
            </p:nvSpPr>
            <p:spPr>
              <a:xfrm>
                <a:off x="500827" y="4417313"/>
                <a:ext cx="1148744" cy="84860"/>
              </a:xfrm>
              <a:custGeom>
                <a:avLst/>
                <a:gdLst/>
                <a:ahLst/>
                <a:cxnLst/>
                <a:rect l="l" t="t" r="r" b="b"/>
                <a:pathLst>
                  <a:path w="14471" h="1069" extrusionOk="0">
                    <a:moveTo>
                      <a:pt x="794" y="1"/>
                    </a:moveTo>
                    <a:cubicBezTo>
                      <a:pt x="424" y="1"/>
                      <a:pt x="108" y="275"/>
                      <a:pt x="61" y="639"/>
                    </a:cubicBezTo>
                    <a:lnTo>
                      <a:pt x="1" y="1068"/>
                    </a:lnTo>
                    <a:lnTo>
                      <a:pt x="14470" y="1068"/>
                    </a:lnTo>
                    <a:lnTo>
                      <a:pt x="14411" y="639"/>
                    </a:lnTo>
                    <a:cubicBezTo>
                      <a:pt x="14357" y="269"/>
                      <a:pt x="14047" y="1"/>
                      <a:pt x="136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" name="Google Shape;418;p35">
              <a:extLst>
                <a:ext uri="{FF2B5EF4-FFF2-40B4-BE49-F238E27FC236}">
                  <a16:creationId xmlns:a16="http://schemas.microsoft.com/office/drawing/2014/main" id="{88CD9616-9C67-ED13-070A-5DFF306E33E0}"/>
                </a:ext>
              </a:extLst>
            </p:cNvPr>
            <p:cNvGrpSpPr/>
            <p:nvPr/>
          </p:nvGrpSpPr>
          <p:grpSpPr>
            <a:xfrm flipH="1">
              <a:off x="2258199" y="2522480"/>
              <a:ext cx="664633" cy="664286"/>
              <a:chOff x="6212418" y="1482331"/>
              <a:chExt cx="627249" cy="626921"/>
            </a:xfrm>
          </p:grpSpPr>
          <p:sp>
            <p:nvSpPr>
              <p:cNvPr id="419" name="Google Shape;419;p35">
                <a:extLst>
                  <a:ext uri="{FF2B5EF4-FFF2-40B4-BE49-F238E27FC236}">
                    <a16:creationId xmlns:a16="http://schemas.microsoft.com/office/drawing/2014/main" id="{F2B47ABD-382B-5C92-78FD-1010BF9F9447}"/>
                  </a:ext>
                </a:extLst>
              </p:cNvPr>
              <p:cNvSpPr/>
              <p:nvPr/>
            </p:nvSpPr>
            <p:spPr>
              <a:xfrm>
                <a:off x="6212418" y="1482331"/>
                <a:ext cx="627249" cy="620800"/>
              </a:xfrm>
              <a:custGeom>
                <a:avLst/>
                <a:gdLst/>
                <a:ahLst/>
                <a:cxnLst/>
                <a:rect l="l" t="t" r="r" b="b"/>
                <a:pathLst>
                  <a:path w="7782" h="7702" extrusionOk="0">
                    <a:moveTo>
                      <a:pt x="6112" y="1623"/>
                    </a:moveTo>
                    <a:cubicBezTo>
                      <a:pt x="6112" y="1623"/>
                      <a:pt x="6112" y="1623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12" y="1623"/>
                      <a:pt x="6112" y="1623"/>
                    </a:cubicBezTo>
                    <a:close/>
                    <a:moveTo>
                      <a:pt x="1032" y="1"/>
                    </a:moveTo>
                    <a:cubicBezTo>
                      <a:pt x="1032" y="1"/>
                      <a:pt x="1" y="4037"/>
                      <a:pt x="1909" y="6207"/>
                    </a:cubicBezTo>
                    <a:cubicBezTo>
                      <a:pt x="1909" y="6207"/>
                      <a:pt x="3569" y="7701"/>
                      <a:pt x="5835" y="7701"/>
                    </a:cubicBezTo>
                    <a:cubicBezTo>
                      <a:pt x="6447" y="7701"/>
                      <a:pt x="7102" y="7592"/>
                      <a:pt x="7781" y="7316"/>
                    </a:cubicBezTo>
                    <a:cubicBezTo>
                      <a:pt x="7781" y="7316"/>
                      <a:pt x="5635" y="6499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09" y="1623"/>
                      <a:pt x="6104" y="1623"/>
                    </a:cubicBezTo>
                    <a:cubicBezTo>
                      <a:pt x="5980" y="1623"/>
                      <a:pt x="4400" y="1465"/>
                      <a:pt x="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5">
                <a:extLst>
                  <a:ext uri="{FF2B5EF4-FFF2-40B4-BE49-F238E27FC236}">
                    <a16:creationId xmlns:a16="http://schemas.microsoft.com/office/drawing/2014/main" id="{2966B20E-9185-C9D3-C758-2DAFC7AEF324}"/>
                  </a:ext>
                </a:extLst>
              </p:cNvPr>
              <p:cNvSpPr/>
              <p:nvPr/>
            </p:nvSpPr>
            <p:spPr>
              <a:xfrm>
                <a:off x="6365722" y="1881228"/>
                <a:ext cx="473459" cy="228024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2829" extrusionOk="0">
                    <a:moveTo>
                      <a:pt x="5873" y="2367"/>
                    </a:moveTo>
                    <a:cubicBezTo>
                      <a:pt x="5872" y="2368"/>
                      <a:pt x="5870" y="2368"/>
                      <a:pt x="5869" y="2369"/>
                    </a:cubicBezTo>
                    <a:lnTo>
                      <a:pt x="5869" y="2369"/>
                    </a:lnTo>
                    <a:cubicBezTo>
                      <a:pt x="5872" y="2368"/>
                      <a:pt x="5874" y="2368"/>
                      <a:pt x="5873" y="2367"/>
                    </a:cubicBezTo>
                    <a:close/>
                    <a:moveTo>
                      <a:pt x="2141" y="0"/>
                    </a:moveTo>
                    <a:cubicBezTo>
                      <a:pt x="2141" y="0"/>
                      <a:pt x="1496" y="1415"/>
                      <a:pt x="546" y="1415"/>
                    </a:cubicBezTo>
                    <a:cubicBezTo>
                      <a:pt x="373" y="1415"/>
                      <a:pt x="191" y="1368"/>
                      <a:pt x="1" y="1258"/>
                    </a:cubicBezTo>
                    <a:lnTo>
                      <a:pt x="1" y="1258"/>
                    </a:lnTo>
                    <a:cubicBezTo>
                      <a:pt x="1" y="1258"/>
                      <a:pt x="1394" y="2828"/>
                      <a:pt x="3689" y="2828"/>
                    </a:cubicBezTo>
                    <a:cubicBezTo>
                      <a:pt x="4346" y="2828"/>
                      <a:pt x="5076" y="2700"/>
                      <a:pt x="5869" y="2369"/>
                    </a:cubicBezTo>
                    <a:lnTo>
                      <a:pt x="5869" y="2369"/>
                    </a:lnTo>
                    <a:cubicBezTo>
                      <a:pt x="5850" y="2374"/>
                      <a:pt x="5766" y="2386"/>
                      <a:pt x="5633" y="2386"/>
                    </a:cubicBezTo>
                    <a:cubicBezTo>
                      <a:pt x="5034" y="2386"/>
                      <a:pt x="3434" y="2150"/>
                      <a:pt x="2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35">
              <a:extLst>
                <a:ext uri="{FF2B5EF4-FFF2-40B4-BE49-F238E27FC236}">
                  <a16:creationId xmlns:a16="http://schemas.microsoft.com/office/drawing/2014/main" id="{AD2A1AFE-F5A7-B658-F893-5EC27329F2B7}"/>
                </a:ext>
              </a:extLst>
            </p:cNvPr>
            <p:cNvGrpSpPr/>
            <p:nvPr/>
          </p:nvGrpSpPr>
          <p:grpSpPr>
            <a:xfrm flipH="1">
              <a:off x="1365165" y="1246316"/>
              <a:ext cx="845522" cy="916625"/>
              <a:chOff x="7511392" y="307000"/>
              <a:chExt cx="863570" cy="936192"/>
            </a:xfrm>
          </p:grpSpPr>
          <p:sp>
            <p:nvSpPr>
              <p:cNvPr id="422" name="Google Shape;422;p35">
                <a:extLst>
                  <a:ext uri="{FF2B5EF4-FFF2-40B4-BE49-F238E27FC236}">
                    <a16:creationId xmlns:a16="http://schemas.microsoft.com/office/drawing/2014/main" id="{D80E1A8B-9D03-2D79-3E1D-06A8FAB4AB33}"/>
                  </a:ext>
                </a:extLst>
              </p:cNvPr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5">
                <a:extLst>
                  <a:ext uri="{FF2B5EF4-FFF2-40B4-BE49-F238E27FC236}">
                    <a16:creationId xmlns:a16="http://schemas.microsoft.com/office/drawing/2014/main" id="{5EF6D0EF-51A3-B79E-D040-97145F90E568}"/>
                  </a:ext>
                </a:extLst>
              </p:cNvPr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5979908-14AF-18C2-6D00-85C8BA41848A}"/>
              </a:ext>
            </a:extLst>
          </p:cNvPr>
          <p:cNvSpPr txBox="1"/>
          <p:nvPr/>
        </p:nvSpPr>
        <p:spPr>
          <a:xfrm>
            <a:off x="3059486" y="677343"/>
            <a:ext cx="602529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Purpose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Enables court staff to assess and process civil filing fees for 	     Circuit Civil and Family Civil cases.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Payment Sections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lvl="1"/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	1. Access Fee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Assess applicable fees.</a:t>
            </a:r>
          </a:p>
          <a:p>
            <a:pPr lvl="1"/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	2. Process Payment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Handle fee transactions.</a:t>
            </a:r>
          </a:p>
          <a:p>
            <a:pPr lvl="1"/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	3. Payment History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– Track past payments.</a:t>
            </a:r>
          </a:p>
          <a:p>
            <a:pPr lvl="1"/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Access Restrictions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Only authorized users can view and process payments.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Unauthorized users won’t see payment options (e.g., pay 	      button hidden)</a:t>
            </a:r>
          </a:p>
          <a:p>
            <a:endParaRPr lang="en-US" b="1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200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FEBB-DABC-162F-8C1E-2BCB3E74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FF045-3936-82A0-C83F-0C2367E8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Access Fee</a:t>
            </a:r>
            <a:br>
              <a:rPr lang="en-US" sz="1050" b="1" dirty="0"/>
            </a:b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022D64-F2FD-3114-6F91-81D210F78FE8}"/>
              </a:ext>
            </a:extLst>
          </p:cNvPr>
          <p:cNvSpPr txBox="1"/>
          <p:nvPr/>
        </p:nvSpPr>
        <p:spPr>
          <a:xfrm>
            <a:off x="391886" y="1017725"/>
            <a:ext cx="83765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Purpose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When a person files a case in court, the judge may require a fee to be paid.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Fees are fixed and divided into parts based on predefined units.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Functionality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The system calculates the total assessed amount based on the units given.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Displays ownership details of the person responsible for paying the fee.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84C8E-9EDA-02A5-30BC-36A1B446F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62" y="2571750"/>
            <a:ext cx="7954110" cy="23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00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74AD-1E6A-CD64-11A8-097A3F2B3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0ECA1-D2CB-B48A-4DBC-D1CD3C9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Process Payment</a:t>
            </a: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B0ACA-CAF6-182D-BCD7-9C425F05E473}"/>
              </a:ext>
            </a:extLst>
          </p:cNvPr>
          <p:cNvSpPr txBox="1"/>
          <p:nvPr/>
        </p:nvSpPr>
        <p:spPr>
          <a:xfrm>
            <a:off x="391886" y="994519"/>
            <a:ext cx="83765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Purpose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Facilitates the actual payment process for court fees.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Functionality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The payee can make payments using cash, credit card, or debit card.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"Pay" button is enabled for authorized users to complete transactions.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AD3EC2-FD08-A391-91AE-52F412B71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27" y="2195622"/>
            <a:ext cx="7446545" cy="250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13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01CD-5C2B-A95B-02D8-4A1F7C423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FCDB-246D-F0EA-BFAE-F068FA1A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Payment History</a:t>
            </a: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A1669-9C53-21F9-BBD1-335E348C6A5C}"/>
              </a:ext>
            </a:extLst>
          </p:cNvPr>
          <p:cNvSpPr txBox="1"/>
          <p:nvPr/>
        </p:nvSpPr>
        <p:spPr>
          <a:xfrm>
            <a:off x="391886" y="994519"/>
            <a:ext cx="83765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Purpose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-&gt;Maintains a record of all payments made by the payee for a particular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Functionality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Stores payment history details for reference.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Provides a printable view of the payment receipt for documentation.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A0800-BD30-3B61-6C53-01DB145F2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867" y="2237014"/>
            <a:ext cx="6517821" cy="258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276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250D-30C7-F99D-57D3-A6462D2E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F525-B6E0-4D22-A934-07E9422C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Reassess/Refund</a:t>
            </a: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1C594-5275-3690-672B-1A35FDC1DFB8}"/>
              </a:ext>
            </a:extLst>
          </p:cNvPr>
          <p:cNvSpPr txBox="1"/>
          <p:nvPr/>
        </p:nvSpPr>
        <p:spPr>
          <a:xfrm>
            <a:off x="391886" y="994519"/>
            <a:ext cx="83765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Purpose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Handles situations where the paid amount is either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less than or more than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the actual 	     required amount.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Functionality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If the amount paid is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less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, an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outstanding balance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is displayed, and the system allows an 	     option to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pay later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If the amount paid is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more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, the system processes a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refund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based on the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selected reason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50D1A-AB97-38C6-FA55-2EA1DD780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89" y="2702380"/>
            <a:ext cx="7338150" cy="228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838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>
          <a:extLst>
            <a:ext uri="{FF2B5EF4-FFF2-40B4-BE49-F238E27FC236}">
              <a16:creationId xmlns:a16="http://schemas.microsoft.com/office/drawing/2014/main" id="{B548B093-673C-3A8B-1982-D05A704D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>
            <a:extLst>
              <a:ext uri="{FF2B5EF4-FFF2-40B4-BE49-F238E27FC236}">
                <a16:creationId xmlns:a16="http://schemas.microsoft.com/office/drawing/2014/main" id="{9EBF317D-CBD3-9D08-DF4B-1E786A2A2E28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561657" y="185875"/>
            <a:ext cx="80206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In-Court Processing</a:t>
            </a: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399" name="Google Shape;399;p35">
            <a:extLst>
              <a:ext uri="{FF2B5EF4-FFF2-40B4-BE49-F238E27FC236}">
                <a16:creationId xmlns:a16="http://schemas.microsoft.com/office/drawing/2014/main" id="{15A32475-990E-FA1E-C34D-3E5622320E03}"/>
              </a:ext>
            </a:extLst>
          </p:cNvPr>
          <p:cNvGrpSpPr/>
          <p:nvPr/>
        </p:nvGrpSpPr>
        <p:grpSpPr>
          <a:xfrm>
            <a:off x="195875" y="1246316"/>
            <a:ext cx="2849877" cy="3467883"/>
            <a:chOff x="195875" y="1246316"/>
            <a:chExt cx="2849877" cy="3467883"/>
          </a:xfrm>
        </p:grpSpPr>
        <p:grpSp>
          <p:nvGrpSpPr>
            <p:cNvPr id="400" name="Google Shape;400;p35">
              <a:extLst>
                <a:ext uri="{FF2B5EF4-FFF2-40B4-BE49-F238E27FC236}">
                  <a16:creationId xmlns:a16="http://schemas.microsoft.com/office/drawing/2014/main" id="{8870ACC1-B931-2FC8-BF20-C4C915A9B139}"/>
                </a:ext>
              </a:extLst>
            </p:cNvPr>
            <p:cNvGrpSpPr/>
            <p:nvPr/>
          </p:nvGrpSpPr>
          <p:grpSpPr>
            <a:xfrm flipH="1">
              <a:off x="195875" y="3219050"/>
              <a:ext cx="2849877" cy="1495149"/>
              <a:chOff x="195875" y="3219050"/>
              <a:chExt cx="2849877" cy="1495149"/>
            </a:xfrm>
          </p:grpSpPr>
          <p:sp>
            <p:nvSpPr>
              <p:cNvPr id="401" name="Google Shape;401;p35">
                <a:extLst>
                  <a:ext uri="{FF2B5EF4-FFF2-40B4-BE49-F238E27FC236}">
                    <a16:creationId xmlns:a16="http://schemas.microsoft.com/office/drawing/2014/main" id="{F53792C4-CDBB-7792-B7D2-9B52C600C76D}"/>
                  </a:ext>
                </a:extLst>
              </p:cNvPr>
              <p:cNvSpPr/>
              <p:nvPr/>
            </p:nvSpPr>
            <p:spPr>
              <a:xfrm>
                <a:off x="195875" y="4594800"/>
                <a:ext cx="1790426" cy="119399"/>
              </a:xfrm>
              <a:custGeom>
                <a:avLst/>
                <a:gdLst/>
                <a:ahLst/>
                <a:cxnLst/>
                <a:rect l="l" t="t" r="r" b="b"/>
                <a:pathLst>
                  <a:path w="20975" h="1504" extrusionOk="0">
                    <a:moveTo>
                      <a:pt x="10487" y="1"/>
                    </a:moveTo>
                    <a:cubicBezTo>
                      <a:pt x="4698" y="1"/>
                      <a:pt x="0" y="335"/>
                      <a:pt x="0" y="752"/>
                    </a:cubicBezTo>
                    <a:cubicBezTo>
                      <a:pt x="0" y="1169"/>
                      <a:pt x="4698" y="1503"/>
                      <a:pt x="10487" y="1503"/>
                    </a:cubicBezTo>
                    <a:cubicBezTo>
                      <a:pt x="16276" y="1503"/>
                      <a:pt x="20974" y="1169"/>
                      <a:pt x="20974" y="752"/>
                    </a:cubicBezTo>
                    <a:cubicBezTo>
                      <a:pt x="20974" y="335"/>
                      <a:pt x="16276" y="1"/>
                      <a:pt x="10487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5">
                <a:extLst>
                  <a:ext uri="{FF2B5EF4-FFF2-40B4-BE49-F238E27FC236}">
                    <a16:creationId xmlns:a16="http://schemas.microsoft.com/office/drawing/2014/main" id="{C929D3DC-2C0D-131B-E7D9-722FA470E5EF}"/>
                  </a:ext>
                </a:extLst>
              </p:cNvPr>
              <p:cNvSpPr/>
              <p:nvPr/>
            </p:nvSpPr>
            <p:spPr>
              <a:xfrm>
                <a:off x="712383" y="3546816"/>
                <a:ext cx="2333369" cy="808590"/>
              </a:xfrm>
              <a:custGeom>
                <a:avLst/>
                <a:gdLst/>
                <a:ahLst/>
                <a:cxnLst/>
                <a:rect l="l" t="t" r="r" b="b"/>
                <a:pathLst>
                  <a:path w="29394" h="10186" extrusionOk="0">
                    <a:moveTo>
                      <a:pt x="783" y="1"/>
                    </a:moveTo>
                    <a:cubicBezTo>
                      <a:pt x="456" y="1"/>
                      <a:pt x="158" y="210"/>
                      <a:pt x="60" y="528"/>
                    </a:cubicBezTo>
                    <a:cubicBezTo>
                      <a:pt x="1" y="718"/>
                      <a:pt x="31" y="921"/>
                      <a:pt x="120" y="1094"/>
                    </a:cubicBezTo>
                    <a:cubicBezTo>
                      <a:pt x="210" y="1261"/>
                      <a:pt x="365" y="1398"/>
                      <a:pt x="567" y="1458"/>
                    </a:cubicBezTo>
                    <a:lnTo>
                      <a:pt x="2630" y="2113"/>
                    </a:lnTo>
                    <a:lnTo>
                      <a:pt x="2940" y="2209"/>
                    </a:lnTo>
                    <a:lnTo>
                      <a:pt x="11007" y="4778"/>
                    </a:lnTo>
                    <a:lnTo>
                      <a:pt x="11317" y="4880"/>
                    </a:lnTo>
                    <a:lnTo>
                      <a:pt x="27754" y="10114"/>
                    </a:lnTo>
                    <a:cubicBezTo>
                      <a:pt x="27887" y="10163"/>
                      <a:pt x="28023" y="10186"/>
                      <a:pt x="28154" y="10186"/>
                    </a:cubicBezTo>
                    <a:cubicBezTo>
                      <a:pt x="28638" y="10186"/>
                      <a:pt x="29074" y="9877"/>
                      <a:pt x="29214" y="9399"/>
                    </a:cubicBezTo>
                    <a:cubicBezTo>
                      <a:pt x="29393" y="8803"/>
                      <a:pt x="29041" y="8165"/>
                      <a:pt x="28433" y="7980"/>
                    </a:cubicBezTo>
                    <a:lnTo>
                      <a:pt x="28415" y="7968"/>
                    </a:lnTo>
                    <a:lnTo>
                      <a:pt x="11835" y="3169"/>
                    </a:lnTo>
                    <a:lnTo>
                      <a:pt x="11531" y="3079"/>
                    </a:lnTo>
                    <a:lnTo>
                      <a:pt x="3393" y="724"/>
                    </a:lnTo>
                    <a:lnTo>
                      <a:pt x="3089" y="635"/>
                    </a:lnTo>
                    <a:lnTo>
                      <a:pt x="1002" y="33"/>
                    </a:lnTo>
                    <a:cubicBezTo>
                      <a:pt x="929" y="11"/>
                      <a:pt x="855" y="1"/>
                      <a:pt x="7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5">
                <a:extLst>
                  <a:ext uri="{FF2B5EF4-FFF2-40B4-BE49-F238E27FC236}">
                    <a16:creationId xmlns:a16="http://schemas.microsoft.com/office/drawing/2014/main" id="{025764BE-4402-6CEA-17D7-84630C9451C6}"/>
                  </a:ext>
                </a:extLst>
              </p:cNvPr>
              <p:cNvSpPr/>
              <p:nvPr/>
            </p:nvSpPr>
            <p:spPr>
              <a:xfrm>
                <a:off x="916874" y="3270648"/>
                <a:ext cx="741671" cy="970769"/>
              </a:xfrm>
              <a:custGeom>
                <a:avLst/>
                <a:gdLst/>
                <a:ahLst/>
                <a:cxnLst/>
                <a:rect l="l" t="t" r="r" b="b"/>
                <a:pathLst>
                  <a:path w="9343" h="12229" extrusionOk="0">
                    <a:moveTo>
                      <a:pt x="3142" y="0"/>
                    </a:moveTo>
                    <a:lnTo>
                      <a:pt x="0" y="10344"/>
                    </a:lnTo>
                    <a:lnTo>
                      <a:pt x="6195" y="12228"/>
                    </a:lnTo>
                    <a:lnTo>
                      <a:pt x="9343" y="1884"/>
                    </a:lnTo>
                    <a:lnTo>
                      <a:pt x="314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5">
                <a:extLst>
                  <a:ext uri="{FF2B5EF4-FFF2-40B4-BE49-F238E27FC236}">
                    <a16:creationId xmlns:a16="http://schemas.microsoft.com/office/drawing/2014/main" id="{1600253E-C240-E6BC-90F4-6FE483BCD3F8}"/>
                  </a:ext>
                </a:extLst>
              </p:cNvPr>
              <p:cNvSpPr/>
              <p:nvPr/>
            </p:nvSpPr>
            <p:spPr>
              <a:xfrm>
                <a:off x="1327680" y="3395118"/>
                <a:ext cx="331343" cy="846297"/>
              </a:xfrm>
              <a:custGeom>
                <a:avLst/>
                <a:gdLst/>
                <a:ahLst/>
                <a:cxnLst/>
                <a:rect l="l" t="t" r="r" b="b"/>
                <a:pathLst>
                  <a:path w="4174" h="10661" extrusionOk="0">
                    <a:moveTo>
                      <a:pt x="3142" y="0"/>
                    </a:moveTo>
                    <a:lnTo>
                      <a:pt x="0" y="10350"/>
                    </a:lnTo>
                    <a:lnTo>
                      <a:pt x="1026" y="10660"/>
                    </a:lnTo>
                    <a:lnTo>
                      <a:pt x="4174" y="316"/>
                    </a:lnTo>
                    <a:lnTo>
                      <a:pt x="3142" y="0"/>
                    </a:ln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5">
                <a:extLst>
                  <a:ext uri="{FF2B5EF4-FFF2-40B4-BE49-F238E27FC236}">
                    <a16:creationId xmlns:a16="http://schemas.microsoft.com/office/drawing/2014/main" id="{969A9A55-2B54-EE49-62F7-4819DA25BDA7}"/>
                  </a:ext>
                </a:extLst>
              </p:cNvPr>
              <p:cNvSpPr/>
              <p:nvPr/>
            </p:nvSpPr>
            <p:spPr>
              <a:xfrm>
                <a:off x="840190" y="3993495"/>
                <a:ext cx="655541" cy="313402"/>
              </a:xfrm>
              <a:custGeom>
                <a:avLst/>
                <a:gdLst/>
                <a:ahLst/>
                <a:cxnLst/>
                <a:rect l="l" t="t" r="r" b="b"/>
                <a:pathLst>
                  <a:path w="8258" h="3948" extrusionOk="0">
                    <a:moveTo>
                      <a:pt x="1084" y="1"/>
                    </a:moveTo>
                    <a:cubicBezTo>
                      <a:pt x="633" y="1"/>
                      <a:pt x="216" y="290"/>
                      <a:pt x="84" y="743"/>
                    </a:cubicBezTo>
                    <a:cubicBezTo>
                      <a:pt x="1" y="1018"/>
                      <a:pt x="36" y="1298"/>
                      <a:pt x="156" y="1536"/>
                    </a:cubicBezTo>
                    <a:cubicBezTo>
                      <a:pt x="245" y="1709"/>
                      <a:pt x="388" y="1852"/>
                      <a:pt x="561" y="1948"/>
                    </a:cubicBezTo>
                    <a:cubicBezTo>
                      <a:pt x="627" y="1983"/>
                      <a:pt x="704" y="2025"/>
                      <a:pt x="776" y="2043"/>
                    </a:cubicBezTo>
                    <a:lnTo>
                      <a:pt x="6875" y="3903"/>
                    </a:lnTo>
                    <a:cubicBezTo>
                      <a:pt x="6976" y="3933"/>
                      <a:pt x="7078" y="3948"/>
                      <a:pt x="7179" y="3948"/>
                    </a:cubicBezTo>
                    <a:cubicBezTo>
                      <a:pt x="7375" y="3948"/>
                      <a:pt x="7566" y="3892"/>
                      <a:pt x="7727" y="3790"/>
                    </a:cubicBezTo>
                    <a:cubicBezTo>
                      <a:pt x="7930" y="3665"/>
                      <a:pt x="8097" y="3462"/>
                      <a:pt x="8174" y="3206"/>
                    </a:cubicBezTo>
                    <a:cubicBezTo>
                      <a:pt x="8258" y="2931"/>
                      <a:pt x="8222" y="2651"/>
                      <a:pt x="8103" y="2413"/>
                    </a:cubicBezTo>
                    <a:cubicBezTo>
                      <a:pt x="8097" y="2389"/>
                      <a:pt x="8079" y="2371"/>
                      <a:pt x="8067" y="2353"/>
                    </a:cubicBezTo>
                    <a:cubicBezTo>
                      <a:pt x="7936" y="2144"/>
                      <a:pt x="7739" y="1977"/>
                      <a:pt x="7483" y="1906"/>
                    </a:cubicBezTo>
                    <a:lnTo>
                      <a:pt x="1390" y="46"/>
                    </a:lnTo>
                    <a:cubicBezTo>
                      <a:pt x="1288" y="15"/>
                      <a:pt x="1185" y="1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5">
                <a:extLst>
                  <a:ext uri="{FF2B5EF4-FFF2-40B4-BE49-F238E27FC236}">
                    <a16:creationId xmlns:a16="http://schemas.microsoft.com/office/drawing/2014/main" id="{AD4B3765-5978-F97B-7F75-05AB22DDDEBE}"/>
                  </a:ext>
                </a:extLst>
              </p:cNvPr>
              <p:cNvSpPr/>
              <p:nvPr/>
            </p:nvSpPr>
            <p:spPr>
              <a:xfrm>
                <a:off x="1067860" y="3219050"/>
                <a:ext cx="669750" cy="313402"/>
              </a:xfrm>
              <a:custGeom>
                <a:avLst/>
                <a:gdLst/>
                <a:ahLst/>
                <a:cxnLst/>
                <a:rect l="l" t="t" r="r" b="b"/>
                <a:pathLst>
                  <a:path w="8437" h="3948" extrusionOk="0">
                    <a:moveTo>
                      <a:pt x="1169" y="1"/>
                    </a:moveTo>
                    <a:cubicBezTo>
                      <a:pt x="722" y="1"/>
                      <a:pt x="309" y="293"/>
                      <a:pt x="173" y="740"/>
                    </a:cubicBezTo>
                    <a:cubicBezTo>
                      <a:pt x="0" y="1294"/>
                      <a:pt x="316" y="1878"/>
                      <a:pt x="865" y="2045"/>
                    </a:cubicBezTo>
                    <a:lnTo>
                      <a:pt x="6964" y="3899"/>
                    </a:lnTo>
                    <a:cubicBezTo>
                      <a:pt x="7067" y="3932"/>
                      <a:pt x="7171" y="3947"/>
                      <a:pt x="7274" y="3947"/>
                    </a:cubicBezTo>
                    <a:cubicBezTo>
                      <a:pt x="7719" y="3947"/>
                      <a:pt x="8134" y="3658"/>
                      <a:pt x="8269" y="3208"/>
                    </a:cubicBezTo>
                    <a:cubicBezTo>
                      <a:pt x="8436" y="2653"/>
                      <a:pt x="8126" y="2075"/>
                      <a:pt x="7572" y="1902"/>
                    </a:cubicBezTo>
                    <a:lnTo>
                      <a:pt x="1479" y="48"/>
                    </a:lnTo>
                    <a:cubicBezTo>
                      <a:pt x="1376" y="16"/>
                      <a:pt x="1272" y="1"/>
                      <a:pt x="11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5">
                <a:extLst>
                  <a:ext uri="{FF2B5EF4-FFF2-40B4-BE49-F238E27FC236}">
                    <a16:creationId xmlns:a16="http://schemas.microsoft.com/office/drawing/2014/main" id="{5A76B2BD-045D-31BC-976A-412A4954B951}"/>
                  </a:ext>
                </a:extLst>
              </p:cNvPr>
              <p:cNvSpPr/>
              <p:nvPr/>
            </p:nvSpPr>
            <p:spPr>
              <a:xfrm>
                <a:off x="924415" y="3524589"/>
                <a:ext cx="720396" cy="476295"/>
              </a:xfrm>
              <a:custGeom>
                <a:avLst/>
                <a:gdLst/>
                <a:ahLst/>
                <a:cxnLst/>
                <a:rect l="l" t="t" r="r" b="b"/>
                <a:pathLst>
                  <a:path w="9075" h="6000" extrusionOk="0">
                    <a:moveTo>
                      <a:pt x="1435" y="1"/>
                    </a:moveTo>
                    <a:cubicBezTo>
                      <a:pt x="1207" y="1"/>
                      <a:pt x="1000" y="146"/>
                      <a:pt x="931" y="372"/>
                    </a:cubicBezTo>
                    <a:lnTo>
                      <a:pt x="78" y="3169"/>
                    </a:lnTo>
                    <a:cubicBezTo>
                      <a:pt x="1" y="3443"/>
                      <a:pt x="156" y="3735"/>
                      <a:pt x="430" y="3818"/>
                    </a:cubicBezTo>
                    <a:lnTo>
                      <a:pt x="7531" y="5977"/>
                    </a:lnTo>
                    <a:cubicBezTo>
                      <a:pt x="7580" y="5992"/>
                      <a:pt x="7630" y="5999"/>
                      <a:pt x="7679" y="5999"/>
                    </a:cubicBezTo>
                    <a:cubicBezTo>
                      <a:pt x="7899" y="5999"/>
                      <a:pt x="8106" y="5854"/>
                      <a:pt x="8175" y="5625"/>
                    </a:cubicBezTo>
                    <a:lnTo>
                      <a:pt x="9021" y="2835"/>
                    </a:lnTo>
                    <a:cubicBezTo>
                      <a:pt x="9075" y="2650"/>
                      <a:pt x="9033" y="2465"/>
                      <a:pt x="8920" y="2340"/>
                    </a:cubicBezTo>
                    <a:cubicBezTo>
                      <a:pt x="8860" y="2268"/>
                      <a:pt x="8777" y="2215"/>
                      <a:pt x="8681" y="2185"/>
                    </a:cubicBezTo>
                    <a:lnTo>
                      <a:pt x="1581" y="21"/>
                    </a:lnTo>
                    <a:cubicBezTo>
                      <a:pt x="1532" y="7"/>
                      <a:pt x="1483" y="1"/>
                      <a:pt x="14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5">
                <a:extLst>
                  <a:ext uri="{FF2B5EF4-FFF2-40B4-BE49-F238E27FC236}">
                    <a16:creationId xmlns:a16="http://schemas.microsoft.com/office/drawing/2014/main" id="{8075A69F-9950-4C3A-B213-136A0D98588C}"/>
                  </a:ext>
                </a:extLst>
              </p:cNvPr>
              <p:cNvSpPr/>
              <p:nvPr/>
            </p:nvSpPr>
            <p:spPr>
              <a:xfrm>
                <a:off x="923462" y="3771307"/>
                <a:ext cx="650857" cy="229574"/>
              </a:xfrm>
              <a:custGeom>
                <a:avLst/>
                <a:gdLst/>
                <a:ahLst/>
                <a:cxnLst/>
                <a:rect l="l" t="t" r="r" b="b"/>
                <a:pathLst>
                  <a:path w="8199" h="2892" extrusionOk="0">
                    <a:moveTo>
                      <a:pt x="102" y="1"/>
                    </a:moveTo>
                    <a:lnTo>
                      <a:pt x="84" y="61"/>
                    </a:lnTo>
                    <a:cubicBezTo>
                      <a:pt x="1" y="335"/>
                      <a:pt x="162" y="627"/>
                      <a:pt x="436" y="710"/>
                    </a:cubicBezTo>
                    <a:lnTo>
                      <a:pt x="7537" y="2869"/>
                    </a:lnTo>
                    <a:cubicBezTo>
                      <a:pt x="7587" y="2884"/>
                      <a:pt x="7638" y="2891"/>
                      <a:pt x="7688" y="2891"/>
                    </a:cubicBezTo>
                    <a:cubicBezTo>
                      <a:pt x="7911" y="2891"/>
                      <a:pt x="8118" y="2746"/>
                      <a:pt x="8187" y="2517"/>
                    </a:cubicBezTo>
                    <a:lnTo>
                      <a:pt x="8199" y="2457"/>
                    </a:lnTo>
                    <a:lnTo>
                      <a:pt x="1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5">
                <a:extLst>
                  <a:ext uri="{FF2B5EF4-FFF2-40B4-BE49-F238E27FC236}">
                    <a16:creationId xmlns:a16="http://schemas.microsoft.com/office/drawing/2014/main" id="{A107208F-67B2-6FA7-48CD-6D580D14A508}"/>
                  </a:ext>
                </a:extLst>
              </p:cNvPr>
              <p:cNvSpPr/>
              <p:nvPr/>
            </p:nvSpPr>
            <p:spPr>
              <a:xfrm>
                <a:off x="996415" y="3523954"/>
                <a:ext cx="650778" cy="229495"/>
              </a:xfrm>
              <a:custGeom>
                <a:avLst/>
                <a:gdLst/>
                <a:ahLst/>
                <a:cxnLst/>
                <a:rect l="l" t="t" r="r" b="b"/>
                <a:pathLst>
                  <a:path w="8198" h="2891" extrusionOk="0">
                    <a:moveTo>
                      <a:pt x="514" y="1"/>
                    </a:moveTo>
                    <a:cubicBezTo>
                      <a:pt x="290" y="1"/>
                      <a:pt x="82" y="149"/>
                      <a:pt x="18" y="374"/>
                    </a:cubicBezTo>
                    <a:lnTo>
                      <a:pt x="0" y="434"/>
                    </a:lnTo>
                    <a:lnTo>
                      <a:pt x="8102" y="2890"/>
                    </a:lnTo>
                    <a:lnTo>
                      <a:pt x="8114" y="2831"/>
                    </a:lnTo>
                    <a:cubicBezTo>
                      <a:pt x="8198" y="2556"/>
                      <a:pt x="8043" y="2264"/>
                      <a:pt x="7768" y="2187"/>
                    </a:cubicBezTo>
                    <a:lnTo>
                      <a:pt x="662" y="23"/>
                    </a:lnTo>
                    <a:cubicBezTo>
                      <a:pt x="613" y="8"/>
                      <a:pt x="563" y="1"/>
                      <a:pt x="5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5">
                <a:extLst>
                  <a:ext uri="{FF2B5EF4-FFF2-40B4-BE49-F238E27FC236}">
                    <a16:creationId xmlns:a16="http://schemas.microsoft.com/office/drawing/2014/main" id="{D38158F0-3B8E-713A-7E91-4A74A7072C6A}"/>
                  </a:ext>
                </a:extLst>
              </p:cNvPr>
              <p:cNvSpPr/>
              <p:nvPr/>
            </p:nvSpPr>
            <p:spPr>
              <a:xfrm>
                <a:off x="924425" y="3710250"/>
                <a:ext cx="720372" cy="290628"/>
              </a:xfrm>
              <a:custGeom>
                <a:avLst/>
                <a:gdLst/>
                <a:ahLst/>
                <a:cxnLst/>
                <a:rect l="l" t="t" r="r" b="b"/>
                <a:pathLst>
                  <a:path w="9087" h="3661" extrusionOk="0">
                    <a:moveTo>
                      <a:pt x="8932" y="1"/>
                    </a:moveTo>
                    <a:cubicBezTo>
                      <a:pt x="7050" y="756"/>
                      <a:pt x="4401" y="916"/>
                      <a:pt x="2493" y="916"/>
                    </a:cubicBezTo>
                    <a:cubicBezTo>
                      <a:pt x="1088" y="916"/>
                      <a:pt x="84" y="830"/>
                      <a:pt x="84" y="830"/>
                    </a:cubicBezTo>
                    <a:lnTo>
                      <a:pt x="84" y="830"/>
                    </a:lnTo>
                    <a:cubicBezTo>
                      <a:pt x="1" y="1104"/>
                      <a:pt x="162" y="1396"/>
                      <a:pt x="436" y="1479"/>
                    </a:cubicBezTo>
                    <a:lnTo>
                      <a:pt x="7537" y="3638"/>
                    </a:lnTo>
                    <a:cubicBezTo>
                      <a:pt x="7587" y="3653"/>
                      <a:pt x="7638" y="3660"/>
                      <a:pt x="7688" y="3660"/>
                    </a:cubicBezTo>
                    <a:cubicBezTo>
                      <a:pt x="7911" y="3660"/>
                      <a:pt x="8118" y="3515"/>
                      <a:pt x="8187" y="3286"/>
                    </a:cubicBezTo>
                    <a:lnTo>
                      <a:pt x="9033" y="496"/>
                    </a:lnTo>
                    <a:cubicBezTo>
                      <a:pt x="9087" y="311"/>
                      <a:pt x="9045" y="126"/>
                      <a:pt x="8932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5">
                <a:extLst>
                  <a:ext uri="{FF2B5EF4-FFF2-40B4-BE49-F238E27FC236}">
                    <a16:creationId xmlns:a16="http://schemas.microsoft.com/office/drawing/2014/main" id="{7CF77E60-4228-890E-9D15-AC18B850E327}"/>
                  </a:ext>
                </a:extLst>
              </p:cNvPr>
              <p:cNvSpPr/>
              <p:nvPr/>
            </p:nvSpPr>
            <p:spPr>
              <a:xfrm>
                <a:off x="884247" y="4148527"/>
                <a:ext cx="611483" cy="158844"/>
              </a:xfrm>
              <a:custGeom>
                <a:avLst/>
                <a:gdLst/>
                <a:ahLst/>
                <a:cxnLst/>
                <a:rect l="l" t="t" r="r" b="b"/>
                <a:pathLst>
                  <a:path w="7703" h="200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66" y="42"/>
                      <a:pt x="137" y="78"/>
                      <a:pt x="215" y="102"/>
                    </a:cubicBezTo>
                    <a:lnTo>
                      <a:pt x="6308" y="1956"/>
                    </a:lnTo>
                    <a:cubicBezTo>
                      <a:pt x="6409" y="1986"/>
                      <a:pt x="6512" y="2001"/>
                      <a:pt x="6613" y="2001"/>
                    </a:cubicBezTo>
                    <a:cubicBezTo>
                      <a:pt x="6812" y="2001"/>
                      <a:pt x="7005" y="1945"/>
                      <a:pt x="7166" y="1843"/>
                    </a:cubicBezTo>
                    <a:cubicBezTo>
                      <a:pt x="7375" y="1712"/>
                      <a:pt x="7542" y="1509"/>
                      <a:pt x="7619" y="1253"/>
                    </a:cubicBezTo>
                    <a:cubicBezTo>
                      <a:pt x="7703" y="978"/>
                      <a:pt x="7667" y="698"/>
                      <a:pt x="7548" y="460"/>
                    </a:cubicBezTo>
                    <a:cubicBezTo>
                      <a:pt x="7542" y="436"/>
                      <a:pt x="7524" y="418"/>
                      <a:pt x="7512" y="400"/>
                    </a:cubicBezTo>
                    <a:cubicBezTo>
                      <a:pt x="6819" y="490"/>
                      <a:pt x="6092" y="526"/>
                      <a:pt x="5373" y="526"/>
                    </a:cubicBezTo>
                    <a:cubicBezTo>
                      <a:pt x="2618" y="526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5">
                <a:extLst>
                  <a:ext uri="{FF2B5EF4-FFF2-40B4-BE49-F238E27FC236}">
                    <a16:creationId xmlns:a16="http://schemas.microsoft.com/office/drawing/2014/main" id="{A1FA06C9-DE3A-B833-9104-3FD6AA6FC7BF}"/>
                  </a:ext>
                </a:extLst>
              </p:cNvPr>
              <p:cNvSpPr/>
              <p:nvPr/>
            </p:nvSpPr>
            <p:spPr>
              <a:xfrm>
                <a:off x="1118983" y="3374241"/>
                <a:ext cx="611483" cy="158924"/>
              </a:xfrm>
              <a:custGeom>
                <a:avLst/>
                <a:gdLst/>
                <a:ahLst/>
                <a:cxnLst/>
                <a:rect l="l" t="t" r="r" b="b"/>
                <a:pathLst>
                  <a:path w="7703" h="2002" extrusionOk="0">
                    <a:moveTo>
                      <a:pt x="0" y="1"/>
                    </a:moveTo>
                    <a:cubicBezTo>
                      <a:pt x="66" y="37"/>
                      <a:pt x="143" y="78"/>
                      <a:pt x="215" y="96"/>
                    </a:cubicBezTo>
                    <a:lnTo>
                      <a:pt x="6314" y="1956"/>
                    </a:lnTo>
                    <a:cubicBezTo>
                      <a:pt x="6415" y="1987"/>
                      <a:pt x="6517" y="2001"/>
                      <a:pt x="6618" y="2001"/>
                    </a:cubicBezTo>
                    <a:cubicBezTo>
                      <a:pt x="6814" y="2001"/>
                      <a:pt x="7005" y="1946"/>
                      <a:pt x="7166" y="1843"/>
                    </a:cubicBezTo>
                    <a:cubicBezTo>
                      <a:pt x="7387" y="1718"/>
                      <a:pt x="7548" y="1509"/>
                      <a:pt x="7625" y="1253"/>
                    </a:cubicBezTo>
                    <a:cubicBezTo>
                      <a:pt x="7703" y="979"/>
                      <a:pt x="7667" y="692"/>
                      <a:pt x="7548" y="454"/>
                    </a:cubicBezTo>
                    <a:cubicBezTo>
                      <a:pt x="7542" y="436"/>
                      <a:pt x="7524" y="418"/>
                      <a:pt x="7512" y="394"/>
                    </a:cubicBezTo>
                    <a:cubicBezTo>
                      <a:pt x="6813" y="487"/>
                      <a:pt x="6078" y="523"/>
                      <a:pt x="5352" y="523"/>
                    </a:cubicBezTo>
                    <a:cubicBezTo>
                      <a:pt x="2607" y="52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5">
                <a:extLst>
                  <a:ext uri="{FF2B5EF4-FFF2-40B4-BE49-F238E27FC236}">
                    <a16:creationId xmlns:a16="http://schemas.microsoft.com/office/drawing/2014/main" id="{BBED157C-0D74-0550-29A3-0D839918EA6B}"/>
                  </a:ext>
                </a:extLst>
              </p:cNvPr>
              <p:cNvSpPr/>
              <p:nvPr/>
            </p:nvSpPr>
            <p:spPr>
              <a:xfrm>
                <a:off x="922033" y="3598573"/>
                <a:ext cx="59775" cy="12550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581" extrusionOk="0">
                    <a:moveTo>
                      <a:pt x="448" y="1"/>
                    </a:moveTo>
                    <a:lnTo>
                      <a:pt x="1" y="1485"/>
                    </a:lnTo>
                    <a:lnTo>
                      <a:pt x="299" y="1581"/>
                    </a:lnTo>
                    <a:lnTo>
                      <a:pt x="752" y="90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5">
                <a:extLst>
                  <a:ext uri="{FF2B5EF4-FFF2-40B4-BE49-F238E27FC236}">
                    <a16:creationId xmlns:a16="http://schemas.microsoft.com/office/drawing/2014/main" id="{BEDA1D3C-839C-3AB9-DC6C-F3997D9C76BF}"/>
                  </a:ext>
                </a:extLst>
              </p:cNvPr>
              <p:cNvSpPr/>
              <p:nvPr/>
            </p:nvSpPr>
            <p:spPr>
              <a:xfrm>
                <a:off x="1586072" y="3792184"/>
                <a:ext cx="65887" cy="143444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807" extrusionOk="0">
                    <a:moveTo>
                      <a:pt x="525" y="0"/>
                    </a:moveTo>
                    <a:lnTo>
                      <a:pt x="1" y="1711"/>
                    </a:lnTo>
                    <a:lnTo>
                      <a:pt x="311" y="1807"/>
                    </a:lnTo>
                    <a:lnTo>
                      <a:pt x="829" y="90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191919">
                  <a:alpha val="23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5">
                <a:extLst>
                  <a:ext uri="{FF2B5EF4-FFF2-40B4-BE49-F238E27FC236}">
                    <a16:creationId xmlns:a16="http://schemas.microsoft.com/office/drawing/2014/main" id="{19D6C487-A666-F04A-277E-5184419C93E4}"/>
                  </a:ext>
                </a:extLst>
              </p:cNvPr>
              <p:cNvSpPr/>
              <p:nvPr/>
            </p:nvSpPr>
            <p:spPr>
              <a:xfrm>
                <a:off x="612996" y="4306576"/>
                <a:ext cx="923457" cy="153446"/>
              </a:xfrm>
              <a:custGeom>
                <a:avLst/>
                <a:gdLst/>
                <a:ahLst/>
                <a:cxnLst/>
                <a:rect l="l" t="t" r="r" b="b"/>
                <a:pathLst>
                  <a:path w="11633" h="1933" extrusionOk="0">
                    <a:moveTo>
                      <a:pt x="1933" y="1"/>
                    </a:moveTo>
                    <a:cubicBezTo>
                      <a:pt x="865" y="1"/>
                      <a:pt x="1" y="865"/>
                      <a:pt x="1" y="1933"/>
                    </a:cubicBezTo>
                    <a:lnTo>
                      <a:pt x="11633" y="1933"/>
                    </a:lnTo>
                    <a:cubicBezTo>
                      <a:pt x="11633" y="865"/>
                      <a:pt x="10768" y="1"/>
                      <a:pt x="96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5">
                <a:extLst>
                  <a:ext uri="{FF2B5EF4-FFF2-40B4-BE49-F238E27FC236}">
                    <a16:creationId xmlns:a16="http://schemas.microsoft.com/office/drawing/2014/main" id="{7255BBF7-3239-1177-6ADC-752FDD338249}"/>
                  </a:ext>
                </a:extLst>
              </p:cNvPr>
              <p:cNvSpPr/>
              <p:nvPr/>
            </p:nvSpPr>
            <p:spPr>
              <a:xfrm>
                <a:off x="428430" y="4502569"/>
                <a:ext cx="1292585" cy="159559"/>
              </a:xfrm>
              <a:custGeom>
                <a:avLst/>
                <a:gdLst/>
                <a:ahLst/>
                <a:cxnLst/>
                <a:rect l="l" t="t" r="r" b="b"/>
                <a:pathLst>
                  <a:path w="16283" h="2010" extrusionOk="0">
                    <a:moveTo>
                      <a:pt x="734" y="0"/>
                    </a:moveTo>
                    <a:cubicBezTo>
                      <a:pt x="329" y="0"/>
                      <a:pt x="1" y="328"/>
                      <a:pt x="1" y="727"/>
                    </a:cubicBezTo>
                    <a:lnTo>
                      <a:pt x="1" y="1282"/>
                    </a:lnTo>
                    <a:cubicBezTo>
                      <a:pt x="1" y="1681"/>
                      <a:pt x="329" y="2009"/>
                      <a:pt x="734" y="2009"/>
                    </a:cubicBezTo>
                    <a:lnTo>
                      <a:pt x="15555" y="2009"/>
                    </a:lnTo>
                    <a:cubicBezTo>
                      <a:pt x="15955" y="2009"/>
                      <a:pt x="16283" y="1681"/>
                      <a:pt x="16283" y="1282"/>
                    </a:cubicBezTo>
                    <a:lnTo>
                      <a:pt x="16283" y="727"/>
                    </a:lnTo>
                    <a:cubicBezTo>
                      <a:pt x="16283" y="328"/>
                      <a:pt x="15955" y="0"/>
                      <a:pt x="15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5">
                <a:extLst>
                  <a:ext uri="{FF2B5EF4-FFF2-40B4-BE49-F238E27FC236}">
                    <a16:creationId xmlns:a16="http://schemas.microsoft.com/office/drawing/2014/main" id="{676018CC-6C28-3EB7-A5F0-8F54AAF51605}"/>
                  </a:ext>
                </a:extLst>
              </p:cNvPr>
              <p:cNvSpPr/>
              <p:nvPr/>
            </p:nvSpPr>
            <p:spPr>
              <a:xfrm>
                <a:off x="500827" y="4417313"/>
                <a:ext cx="1148744" cy="84860"/>
              </a:xfrm>
              <a:custGeom>
                <a:avLst/>
                <a:gdLst/>
                <a:ahLst/>
                <a:cxnLst/>
                <a:rect l="l" t="t" r="r" b="b"/>
                <a:pathLst>
                  <a:path w="14471" h="1069" extrusionOk="0">
                    <a:moveTo>
                      <a:pt x="794" y="1"/>
                    </a:moveTo>
                    <a:cubicBezTo>
                      <a:pt x="424" y="1"/>
                      <a:pt x="108" y="275"/>
                      <a:pt x="61" y="639"/>
                    </a:cubicBezTo>
                    <a:lnTo>
                      <a:pt x="1" y="1068"/>
                    </a:lnTo>
                    <a:lnTo>
                      <a:pt x="14470" y="1068"/>
                    </a:lnTo>
                    <a:lnTo>
                      <a:pt x="14411" y="639"/>
                    </a:lnTo>
                    <a:cubicBezTo>
                      <a:pt x="14357" y="269"/>
                      <a:pt x="14047" y="1"/>
                      <a:pt x="136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" name="Google Shape;418;p35">
              <a:extLst>
                <a:ext uri="{FF2B5EF4-FFF2-40B4-BE49-F238E27FC236}">
                  <a16:creationId xmlns:a16="http://schemas.microsoft.com/office/drawing/2014/main" id="{1728E695-06AB-F690-AC39-9C93664A1621}"/>
                </a:ext>
              </a:extLst>
            </p:cNvPr>
            <p:cNvGrpSpPr/>
            <p:nvPr/>
          </p:nvGrpSpPr>
          <p:grpSpPr>
            <a:xfrm flipH="1">
              <a:off x="2258199" y="2522480"/>
              <a:ext cx="664633" cy="664286"/>
              <a:chOff x="6212418" y="1482331"/>
              <a:chExt cx="627249" cy="626921"/>
            </a:xfrm>
          </p:grpSpPr>
          <p:sp>
            <p:nvSpPr>
              <p:cNvPr id="419" name="Google Shape;419;p35">
                <a:extLst>
                  <a:ext uri="{FF2B5EF4-FFF2-40B4-BE49-F238E27FC236}">
                    <a16:creationId xmlns:a16="http://schemas.microsoft.com/office/drawing/2014/main" id="{B58CBC49-FCFF-8C7C-2103-C7C83DC0D833}"/>
                  </a:ext>
                </a:extLst>
              </p:cNvPr>
              <p:cNvSpPr/>
              <p:nvPr/>
            </p:nvSpPr>
            <p:spPr>
              <a:xfrm>
                <a:off x="6212418" y="1482331"/>
                <a:ext cx="627249" cy="620800"/>
              </a:xfrm>
              <a:custGeom>
                <a:avLst/>
                <a:gdLst/>
                <a:ahLst/>
                <a:cxnLst/>
                <a:rect l="l" t="t" r="r" b="b"/>
                <a:pathLst>
                  <a:path w="7782" h="7702" extrusionOk="0">
                    <a:moveTo>
                      <a:pt x="6112" y="1623"/>
                    </a:moveTo>
                    <a:cubicBezTo>
                      <a:pt x="6112" y="1623"/>
                      <a:pt x="6112" y="1623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12" y="1623"/>
                      <a:pt x="6112" y="1623"/>
                    </a:cubicBezTo>
                    <a:close/>
                    <a:moveTo>
                      <a:pt x="1032" y="1"/>
                    </a:moveTo>
                    <a:cubicBezTo>
                      <a:pt x="1032" y="1"/>
                      <a:pt x="1" y="4037"/>
                      <a:pt x="1909" y="6207"/>
                    </a:cubicBezTo>
                    <a:cubicBezTo>
                      <a:pt x="1909" y="6207"/>
                      <a:pt x="3569" y="7701"/>
                      <a:pt x="5835" y="7701"/>
                    </a:cubicBezTo>
                    <a:cubicBezTo>
                      <a:pt x="6447" y="7701"/>
                      <a:pt x="7102" y="7592"/>
                      <a:pt x="7781" y="7316"/>
                    </a:cubicBezTo>
                    <a:cubicBezTo>
                      <a:pt x="7781" y="7316"/>
                      <a:pt x="5635" y="6499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09" y="1623"/>
                      <a:pt x="6104" y="1623"/>
                    </a:cubicBezTo>
                    <a:cubicBezTo>
                      <a:pt x="5980" y="1623"/>
                      <a:pt x="4400" y="1465"/>
                      <a:pt x="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5">
                <a:extLst>
                  <a:ext uri="{FF2B5EF4-FFF2-40B4-BE49-F238E27FC236}">
                    <a16:creationId xmlns:a16="http://schemas.microsoft.com/office/drawing/2014/main" id="{93DCCC10-CF6D-612A-5DAB-EA32C30E3EB1}"/>
                  </a:ext>
                </a:extLst>
              </p:cNvPr>
              <p:cNvSpPr/>
              <p:nvPr/>
            </p:nvSpPr>
            <p:spPr>
              <a:xfrm>
                <a:off x="6365722" y="1881228"/>
                <a:ext cx="473459" cy="228024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2829" extrusionOk="0">
                    <a:moveTo>
                      <a:pt x="5873" y="2367"/>
                    </a:moveTo>
                    <a:cubicBezTo>
                      <a:pt x="5872" y="2368"/>
                      <a:pt x="5870" y="2368"/>
                      <a:pt x="5869" y="2369"/>
                    </a:cubicBezTo>
                    <a:lnTo>
                      <a:pt x="5869" y="2369"/>
                    </a:lnTo>
                    <a:cubicBezTo>
                      <a:pt x="5872" y="2368"/>
                      <a:pt x="5874" y="2368"/>
                      <a:pt x="5873" y="2367"/>
                    </a:cubicBezTo>
                    <a:close/>
                    <a:moveTo>
                      <a:pt x="2141" y="0"/>
                    </a:moveTo>
                    <a:cubicBezTo>
                      <a:pt x="2141" y="0"/>
                      <a:pt x="1496" y="1415"/>
                      <a:pt x="546" y="1415"/>
                    </a:cubicBezTo>
                    <a:cubicBezTo>
                      <a:pt x="373" y="1415"/>
                      <a:pt x="191" y="1368"/>
                      <a:pt x="1" y="1258"/>
                    </a:cubicBezTo>
                    <a:lnTo>
                      <a:pt x="1" y="1258"/>
                    </a:lnTo>
                    <a:cubicBezTo>
                      <a:pt x="1" y="1258"/>
                      <a:pt x="1394" y="2828"/>
                      <a:pt x="3689" y="2828"/>
                    </a:cubicBezTo>
                    <a:cubicBezTo>
                      <a:pt x="4346" y="2828"/>
                      <a:pt x="5076" y="2700"/>
                      <a:pt x="5869" y="2369"/>
                    </a:cubicBezTo>
                    <a:lnTo>
                      <a:pt x="5869" y="2369"/>
                    </a:lnTo>
                    <a:cubicBezTo>
                      <a:pt x="5850" y="2374"/>
                      <a:pt x="5766" y="2386"/>
                      <a:pt x="5633" y="2386"/>
                    </a:cubicBezTo>
                    <a:cubicBezTo>
                      <a:pt x="5034" y="2386"/>
                      <a:pt x="3434" y="2150"/>
                      <a:pt x="2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35">
              <a:extLst>
                <a:ext uri="{FF2B5EF4-FFF2-40B4-BE49-F238E27FC236}">
                  <a16:creationId xmlns:a16="http://schemas.microsoft.com/office/drawing/2014/main" id="{F9186DB1-0F81-9A64-28A6-4F52B089AA14}"/>
                </a:ext>
              </a:extLst>
            </p:cNvPr>
            <p:cNvGrpSpPr/>
            <p:nvPr/>
          </p:nvGrpSpPr>
          <p:grpSpPr>
            <a:xfrm flipH="1">
              <a:off x="1365165" y="1246316"/>
              <a:ext cx="845522" cy="916625"/>
              <a:chOff x="7511392" y="307000"/>
              <a:chExt cx="863570" cy="936192"/>
            </a:xfrm>
          </p:grpSpPr>
          <p:sp>
            <p:nvSpPr>
              <p:cNvPr id="422" name="Google Shape;422;p35">
                <a:extLst>
                  <a:ext uri="{FF2B5EF4-FFF2-40B4-BE49-F238E27FC236}">
                    <a16:creationId xmlns:a16="http://schemas.microsoft.com/office/drawing/2014/main" id="{06788E3F-B928-C787-DF4E-D394366FB4D7}"/>
                  </a:ext>
                </a:extLst>
              </p:cNvPr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5">
                <a:extLst>
                  <a:ext uri="{FF2B5EF4-FFF2-40B4-BE49-F238E27FC236}">
                    <a16:creationId xmlns:a16="http://schemas.microsoft.com/office/drawing/2014/main" id="{AA130F93-924B-B55B-0D76-BCECC0CC8D80}"/>
                  </a:ext>
                </a:extLst>
              </p:cNvPr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5DC44A2-FF3B-4B7C-3DC9-9281BB75D0AF}"/>
              </a:ext>
            </a:extLst>
          </p:cNvPr>
          <p:cNvSpPr txBox="1"/>
          <p:nvPr/>
        </p:nvSpPr>
        <p:spPr>
          <a:xfrm>
            <a:off x="3059486" y="677343"/>
            <a:ext cx="602529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endParaRPr lang="en-US" dirty="0"/>
          </a:p>
          <a:p>
            <a:r>
              <a:rPr lang="en-US" dirty="0"/>
              <a:t>	-&gt; Used in District Courts to process criminal cases during 	     live hearings.</a:t>
            </a:r>
          </a:p>
          <a:p>
            <a:r>
              <a:rPr lang="en-US" dirty="0"/>
              <a:t>	-&gt; Enables court clerks to process cases, create orders, 	     	    judgments, and docket them in real time.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Key Requirements</a:t>
            </a:r>
            <a:endParaRPr lang="en-US" dirty="0"/>
          </a:p>
          <a:p>
            <a:r>
              <a:rPr lang="en-US" dirty="0"/>
              <a:t>	-&gt; The case must be available in the JIMS portal.</a:t>
            </a:r>
          </a:p>
          <a:p>
            <a:r>
              <a:rPr lang="en-US" dirty="0"/>
              <a:t>	-&gt; An event must be scheduled and calendared.</a:t>
            </a:r>
          </a:p>
          <a:p>
            <a:r>
              <a:rPr lang="en-US" dirty="0"/>
              <a:t>	-&gt; Valid JIMS portal ID for access.</a:t>
            </a:r>
          </a:p>
          <a:p>
            <a:r>
              <a:rPr lang="en-US" dirty="0"/>
              <a:t>	-&gt;Case or party details must be available for processing.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Usage</a:t>
            </a:r>
            <a:endParaRPr lang="en-US" dirty="0"/>
          </a:p>
          <a:p>
            <a:r>
              <a:rPr lang="en-US" dirty="0"/>
              <a:t>	-&gt;Handles Criminal Citations, Criminal Written Complaints, 	   and Combination Cases (Traffic + Criminal).</a:t>
            </a:r>
          </a:p>
          <a:p>
            <a:r>
              <a:rPr lang="en-US" dirty="0"/>
              <a:t>	-&gt;Designed for live courtroom usage by court clerks.</a:t>
            </a:r>
          </a:p>
          <a:p>
            <a:endParaRPr lang="en-US" b="1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5295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851201E-945D-4434-0493-5D8DB7155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015" y="383721"/>
            <a:ext cx="7168242" cy="38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74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>
          <a:extLst>
            <a:ext uri="{FF2B5EF4-FFF2-40B4-BE49-F238E27FC236}">
              <a16:creationId xmlns:a16="http://schemas.microsoft.com/office/drawing/2014/main" id="{0F676662-5C14-4B64-3ECB-07C2B19B5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>
            <a:extLst>
              <a:ext uri="{FF2B5EF4-FFF2-40B4-BE49-F238E27FC236}">
                <a16:creationId xmlns:a16="http://schemas.microsoft.com/office/drawing/2014/main" id="{1B4A1710-04B4-19C0-F893-FB00033930F9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561657" y="185875"/>
            <a:ext cx="80206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u="sng" dirty="0" err="1">
                <a:latin typeface="Archivo" panose="020B0604020202020204" charset="0"/>
                <a:cs typeface="Archivo" panose="020B0604020202020204" charset="0"/>
              </a:rPr>
              <a:t>eReminder</a:t>
            </a:r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 </a:t>
            </a: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399" name="Google Shape;399;p35">
            <a:extLst>
              <a:ext uri="{FF2B5EF4-FFF2-40B4-BE49-F238E27FC236}">
                <a16:creationId xmlns:a16="http://schemas.microsoft.com/office/drawing/2014/main" id="{A9A86E1A-DEE7-DF5F-5855-8523012FFDCA}"/>
              </a:ext>
            </a:extLst>
          </p:cNvPr>
          <p:cNvGrpSpPr/>
          <p:nvPr/>
        </p:nvGrpSpPr>
        <p:grpSpPr>
          <a:xfrm>
            <a:off x="195875" y="1246316"/>
            <a:ext cx="2849877" cy="3467883"/>
            <a:chOff x="195875" y="1246316"/>
            <a:chExt cx="2849877" cy="3467883"/>
          </a:xfrm>
        </p:grpSpPr>
        <p:grpSp>
          <p:nvGrpSpPr>
            <p:cNvPr id="400" name="Google Shape;400;p35">
              <a:extLst>
                <a:ext uri="{FF2B5EF4-FFF2-40B4-BE49-F238E27FC236}">
                  <a16:creationId xmlns:a16="http://schemas.microsoft.com/office/drawing/2014/main" id="{3C5409E8-22AE-DC27-D8A7-228C7ED57E9C}"/>
                </a:ext>
              </a:extLst>
            </p:cNvPr>
            <p:cNvGrpSpPr/>
            <p:nvPr/>
          </p:nvGrpSpPr>
          <p:grpSpPr>
            <a:xfrm flipH="1">
              <a:off x="195875" y="3219050"/>
              <a:ext cx="2849877" cy="1495149"/>
              <a:chOff x="195875" y="3219050"/>
              <a:chExt cx="2849877" cy="1495149"/>
            </a:xfrm>
          </p:grpSpPr>
          <p:sp>
            <p:nvSpPr>
              <p:cNvPr id="401" name="Google Shape;401;p35">
                <a:extLst>
                  <a:ext uri="{FF2B5EF4-FFF2-40B4-BE49-F238E27FC236}">
                    <a16:creationId xmlns:a16="http://schemas.microsoft.com/office/drawing/2014/main" id="{97485D19-E08D-05C5-0CC3-958634951768}"/>
                  </a:ext>
                </a:extLst>
              </p:cNvPr>
              <p:cNvSpPr/>
              <p:nvPr/>
            </p:nvSpPr>
            <p:spPr>
              <a:xfrm>
                <a:off x="195875" y="4594800"/>
                <a:ext cx="1790426" cy="119399"/>
              </a:xfrm>
              <a:custGeom>
                <a:avLst/>
                <a:gdLst/>
                <a:ahLst/>
                <a:cxnLst/>
                <a:rect l="l" t="t" r="r" b="b"/>
                <a:pathLst>
                  <a:path w="20975" h="1504" extrusionOk="0">
                    <a:moveTo>
                      <a:pt x="10487" y="1"/>
                    </a:moveTo>
                    <a:cubicBezTo>
                      <a:pt x="4698" y="1"/>
                      <a:pt x="0" y="335"/>
                      <a:pt x="0" y="752"/>
                    </a:cubicBezTo>
                    <a:cubicBezTo>
                      <a:pt x="0" y="1169"/>
                      <a:pt x="4698" y="1503"/>
                      <a:pt x="10487" y="1503"/>
                    </a:cubicBezTo>
                    <a:cubicBezTo>
                      <a:pt x="16276" y="1503"/>
                      <a:pt x="20974" y="1169"/>
                      <a:pt x="20974" y="752"/>
                    </a:cubicBezTo>
                    <a:cubicBezTo>
                      <a:pt x="20974" y="335"/>
                      <a:pt x="16276" y="1"/>
                      <a:pt x="10487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5">
                <a:extLst>
                  <a:ext uri="{FF2B5EF4-FFF2-40B4-BE49-F238E27FC236}">
                    <a16:creationId xmlns:a16="http://schemas.microsoft.com/office/drawing/2014/main" id="{9F5AE383-6E6B-EE70-F06C-3F645F92A6CB}"/>
                  </a:ext>
                </a:extLst>
              </p:cNvPr>
              <p:cNvSpPr/>
              <p:nvPr/>
            </p:nvSpPr>
            <p:spPr>
              <a:xfrm>
                <a:off x="712383" y="3546816"/>
                <a:ext cx="2333369" cy="808590"/>
              </a:xfrm>
              <a:custGeom>
                <a:avLst/>
                <a:gdLst/>
                <a:ahLst/>
                <a:cxnLst/>
                <a:rect l="l" t="t" r="r" b="b"/>
                <a:pathLst>
                  <a:path w="29394" h="10186" extrusionOk="0">
                    <a:moveTo>
                      <a:pt x="783" y="1"/>
                    </a:moveTo>
                    <a:cubicBezTo>
                      <a:pt x="456" y="1"/>
                      <a:pt x="158" y="210"/>
                      <a:pt x="60" y="528"/>
                    </a:cubicBezTo>
                    <a:cubicBezTo>
                      <a:pt x="1" y="718"/>
                      <a:pt x="31" y="921"/>
                      <a:pt x="120" y="1094"/>
                    </a:cubicBezTo>
                    <a:cubicBezTo>
                      <a:pt x="210" y="1261"/>
                      <a:pt x="365" y="1398"/>
                      <a:pt x="567" y="1458"/>
                    </a:cubicBezTo>
                    <a:lnTo>
                      <a:pt x="2630" y="2113"/>
                    </a:lnTo>
                    <a:lnTo>
                      <a:pt x="2940" y="2209"/>
                    </a:lnTo>
                    <a:lnTo>
                      <a:pt x="11007" y="4778"/>
                    </a:lnTo>
                    <a:lnTo>
                      <a:pt x="11317" y="4880"/>
                    </a:lnTo>
                    <a:lnTo>
                      <a:pt x="27754" y="10114"/>
                    </a:lnTo>
                    <a:cubicBezTo>
                      <a:pt x="27887" y="10163"/>
                      <a:pt x="28023" y="10186"/>
                      <a:pt x="28154" y="10186"/>
                    </a:cubicBezTo>
                    <a:cubicBezTo>
                      <a:pt x="28638" y="10186"/>
                      <a:pt x="29074" y="9877"/>
                      <a:pt x="29214" y="9399"/>
                    </a:cubicBezTo>
                    <a:cubicBezTo>
                      <a:pt x="29393" y="8803"/>
                      <a:pt x="29041" y="8165"/>
                      <a:pt x="28433" y="7980"/>
                    </a:cubicBezTo>
                    <a:lnTo>
                      <a:pt x="28415" y="7968"/>
                    </a:lnTo>
                    <a:lnTo>
                      <a:pt x="11835" y="3169"/>
                    </a:lnTo>
                    <a:lnTo>
                      <a:pt x="11531" y="3079"/>
                    </a:lnTo>
                    <a:lnTo>
                      <a:pt x="3393" y="724"/>
                    </a:lnTo>
                    <a:lnTo>
                      <a:pt x="3089" y="635"/>
                    </a:lnTo>
                    <a:lnTo>
                      <a:pt x="1002" y="33"/>
                    </a:lnTo>
                    <a:cubicBezTo>
                      <a:pt x="929" y="11"/>
                      <a:pt x="855" y="1"/>
                      <a:pt x="7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5">
                <a:extLst>
                  <a:ext uri="{FF2B5EF4-FFF2-40B4-BE49-F238E27FC236}">
                    <a16:creationId xmlns:a16="http://schemas.microsoft.com/office/drawing/2014/main" id="{786762D5-F460-72B2-C67B-A7471AA3EFA9}"/>
                  </a:ext>
                </a:extLst>
              </p:cNvPr>
              <p:cNvSpPr/>
              <p:nvPr/>
            </p:nvSpPr>
            <p:spPr>
              <a:xfrm>
                <a:off x="916874" y="3270648"/>
                <a:ext cx="741671" cy="970769"/>
              </a:xfrm>
              <a:custGeom>
                <a:avLst/>
                <a:gdLst/>
                <a:ahLst/>
                <a:cxnLst/>
                <a:rect l="l" t="t" r="r" b="b"/>
                <a:pathLst>
                  <a:path w="9343" h="12229" extrusionOk="0">
                    <a:moveTo>
                      <a:pt x="3142" y="0"/>
                    </a:moveTo>
                    <a:lnTo>
                      <a:pt x="0" y="10344"/>
                    </a:lnTo>
                    <a:lnTo>
                      <a:pt x="6195" y="12228"/>
                    </a:lnTo>
                    <a:lnTo>
                      <a:pt x="9343" y="1884"/>
                    </a:lnTo>
                    <a:lnTo>
                      <a:pt x="314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5">
                <a:extLst>
                  <a:ext uri="{FF2B5EF4-FFF2-40B4-BE49-F238E27FC236}">
                    <a16:creationId xmlns:a16="http://schemas.microsoft.com/office/drawing/2014/main" id="{49DDED24-2E9E-1033-AC8F-31225CBAF5C7}"/>
                  </a:ext>
                </a:extLst>
              </p:cNvPr>
              <p:cNvSpPr/>
              <p:nvPr/>
            </p:nvSpPr>
            <p:spPr>
              <a:xfrm>
                <a:off x="1327680" y="3395118"/>
                <a:ext cx="331343" cy="846297"/>
              </a:xfrm>
              <a:custGeom>
                <a:avLst/>
                <a:gdLst/>
                <a:ahLst/>
                <a:cxnLst/>
                <a:rect l="l" t="t" r="r" b="b"/>
                <a:pathLst>
                  <a:path w="4174" h="10661" extrusionOk="0">
                    <a:moveTo>
                      <a:pt x="3142" y="0"/>
                    </a:moveTo>
                    <a:lnTo>
                      <a:pt x="0" y="10350"/>
                    </a:lnTo>
                    <a:lnTo>
                      <a:pt x="1026" y="10660"/>
                    </a:lnTo>
                    <a:lnTo>
                      <a:pt x="4174" y="316"/>
                    </a:lnTo>
                    <a:lnTo>
                      <a:pt x="3142" y="0"/>
                    </a:ln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5">
                <a:extLst>
                  <a:ext uri="{FF2B5EF4-FFF2-40B4-BE49-F238E27FC236}">
                    <a16:creationId xmlns:a16="http://schemas.microsoft.com/office/drawing/2014/main" id="{97DC119D-F6B9-B526-087D-76C3EDECEBDE}"/>
                  </a:ext>
                </a:extLst>
              </p:cNvPr>
              <p:cNvSpPr/>
              <p:nvPr/>
            </p:nvSpPr>
            <p:spPr>
              <a:xfrm>
                <a:off x="840190" y="3993495"/>
                <a:ext cx="655541" cy="313402"/>
              </a:xfrm>
              <a:custGeom>
                <a:avLst/>
                <a:gdLst/>
                <a:ahLst/>
                <a:cxnLst/>
                <a:rect l="l" t="t" r="r" b="b"/>
                <a:pathLst>
                  <a:path w="8258" h="3948" extrusionOk="0">
                    <a:moveTo>
                      <a:pt x="1084" y="1"/>
                    </a:moveTo>
                    <a:cubicBezTo>
                      <a:pt x="633" y="1"/>
                      <a:pt x="216" y="290"/>
                      <a:pt x="84" y="743"/>
                    </a:cubicBezTo>
                    <a:cubicBezTo>
                      <a:pt x="1" y="1018"/>
                      <a:pt x="36" y="1298"/>
                      <a:pt x="156" y="1536"/>
                    </a:cubicBezTo>
                    <a:cubicBezTo>
                      <a:pt x="245" y="1709"/>
                      <a:pt x="388" y="1852"/>
                      <a:pt x="561" y="1948"/>
                    </a:cubicBezTo>
                    <a:cubicBezTo>
                      <a:pt x="627" y="1983"/>
                      <a:pt x="704" y="2025"/>
                      <a:pt x="776" y="2043"/>
                    </a:cubicBezTo>
                    <a:lnTo>
                      <a:pt x="6875" y="3903"/>
                    </a:lnTo>
                    <a:cubicBezTo>
                      <a:pt x="6976" y="3933"/>
                      <a:pt x="7078" y="3948"/>
                      <a:pt x="7179" y="3948"/>
                    </a:cubicBezTo>
                    <a:cubicBezTo>
                      <a:pt x="7375" y="3948"/>
                      <a:pt x="7566" y="3892"/>
                      <a:pt x="7727" y="3790"/>
                    </a:cubicBezTo>
                    <a:cubicBezTo>
                      <a:pt x="7930" y="3665"/>
                      <a:pt x="8097" y="3462"/>
                      <a:pt x="8174" y="3206"/>
                    </a:cubicBezTo>
                    <a:cubicBezTo>
                      <a:pt x="8258" y="2931"/>
                      <a:pt x="8222" y="2651"/>
                      <a:pt x="8103" y="2413"/>
                    </a:cubicBezTo>
                    <a:cubicBezTo>
                      <a:pt x="8097" y="2389"/>
                      <a:pt x="8079" y="2371"/>
                      <a:pt x="8067" y="2353"/>
                    </a:cubicBezTo>
                    <a:cubicBezTo>
                      <a:pt x="7936" y="2144"/>
                      <a:pt x="7739" y="1977"/>
                      <a:pt x="7483" y="1906"/>
                    </a:cubicBezTo>
                    <a:lnTo>
                      <a:pt x="1390" y="46"/>
                    </a:lnTo>
                    <a:cubicBezTo>
                      <a:pt x="1288" y="15"/>
                      <a:pt x="1185" y="1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5">
                <a:extLst>
                  <a:ext uri="{FF2B5EF4-FFF2-40B4-BE49-F238E27FC236}">
                    <a16:creationId xmlns:a16="http://schemas.microsoft.com/office/drawing/2014/main" id="{EEC50CC1-7961-C4D3-F6EC-848A19A2F9CB}"/>
                  </a:ext>
                </a:extLst>
              </p:cNvPr>
              <p:cNvSpPr/>
              <p:nvPr/>
            </p:nvSpPr>
            <p:spPr>
              <a:xfrm>
                <a:off x="1067860" y="3219050"/>
                <a:ext cx="669750" cy="313402"/>
              </a:xfrm>
              <a:custGeom>
                <a:avLst/>
                <a:gdLst/>
                <a:ahLst/>
                <a:cxnLst/>
                <a:rect l="l" t="t" r="r" b="b"/>
                <a:pathLst>
                  <a:path w="8437" h="3948" extrusionOk="0">
                    <a:moveTo>
                      <a:pt x="1169" y="1"/>
                    </a:moveTo>
                    <a:cubicBezTo>
                      <a:pt x="722" y="1"/>
                      <a:pt x="309" y="293"/>
                      <a:pt x="173" y="740"/>
                    </a:cubicBezTo>
                    <a:cubicBezTo>
                      <a:pt x="0" y="1294"/>
                      <a:pt x="316" y="1878"/>
                      <a:pt x="865" y="2045"/>
                    </a:cubicBezTo>
                    <a:lnTo>
                      <a:pt x="6964" y="3899"/>
                    </a:lnTo>
                    <a:cubicBezTo>
                      <a:pt x="7067" y="3932"/>
                      <a:pt x="7171" y="3947"/>
                      <a:pt x="7274" y="3947"/>
                    </a:cubicBezTo>
                    <a:cubicBezTo>
                      <a:pt x="7719" y="3947"/>
                      <a:pt x="8134" y="3658"/>
                      <a:pt x="8269" y="3208"/>
                    </a:cubicBezTo>
                    <a:cubicBezTo>
                      <a:pt x="8436" y="2653"/>
                      <a:pt x="8126" y="2075"/>
                      <a:pt x="7572" y="1902"/>
                    </a:cubicBezTo>
                    <a:lnTo>
                      <a:pt x="1479" y="48"/>
                    </a:lnTo>
                    <a:cubicBezTo>
                      <a:pt x="1376" y="16"/>
                      <a:pt x="1272" y="1"/>
                      <a:pt x="11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5">
                <a:extLst>
                  <a:ext uri="{FF2B5EF4-FFF2-40B4-BE49-F238E27FC236}">
                    <a16:creationId xmlns:a16="http://schemas.microsoft.com/office/drawing/2014/main" id="{0352C611-3DE4-E2C6-2F4D-126E88452D9B}"/>
                  </a:ext>
                </a:extLst>
              </p:cNvPr>
              <p:cNvSpPr/>
              <p:nvPr/>
            </p:nvSpPr>
            <p:spPr>
              <a:xfrm>
                <a:off x="924415" y="3524589"/>
                <a:ext cx="720396" cy="476295"/>
              </a:xfrm>
              <a:custGeom>
                <a:avLst/>
                <a:gdLst/>
                <a:ahLst/>
                <a:cxnLst/>
                <a:rect l="l" t="t" r="r" b="b"/>
                <a:pathLst>
                  <a:path w="9075" h="6000" extrusionOk="0">
                    <a:moveTo>
                      <a:pt x="1435" y="1"/>
                    </a:moveTo>
                    <a:cubicBezTo>
                      <a:pt x="1207" y="1"/>
                      <a:pt x="1000" y="146"/>
                      <a:pt x="931" y="372"/>
                    </a:cubicBezTo>
                    <a:lnTo>
                      <a:pt x="78" y="3169"/>
                    </a:lnTo>
                    <a:cubicBezTo>
                      <a:pt x="1" y="3443"/>
                      <a:pt x="156" y="3735"/>
                      <a:pt x="430" y="3818"/>
                    </a:cubicBezTo>
                    <a:lnTo>
                      <a:pt x="7531" y="5977"/>
                    </a:lnTo>
                    <a:cubicBezTo>
                      <a:pt x="7580" y="5992"/>
                      <a:pt x="7630" y="5999"/>
                      <a:pt x="7679" y="5999"/>
                    </a:cubicBezTo>
                    <a:cubicBezTo>
                      <a:pt x="7899" y="5999"/>
                      <a:pt x="8106" y="5854"/>
                      <a:pt x="8175" y="5625"/>
                    </a:cubicBezTo>
                    <a:lnTo>
                      <a:pt x="9021" y="2835"/>
                    </a:lnTo>
                    <a:cubicBezTo>
                      <a:pt x="9075" y="2650"/>
                      <a:pt x="9033" y="2465"/>
                      <a:pt x="8920" y="2340"/>
                    </a:cubicBezTo>
                    <a:cubicBezTo>
                      <a:pt x="8860" y="2268"/>
                      <a:pt x="8777" y="2215"/>
                      <a:pt x="8681" y="2185"/>
                    </a:cubicBezTo>
                    <a:lnTo>
                      <a:pt x="1581" y="21"/>
                    </a:lnTo>
                    <a:cubicBezTo>
                      <a:pt x="1532" y="7"/>
                      <a:pt x="1483" y="1"/>
                      <a:pt x="14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5">
                <a:extLst>
                  <a:ext uri="{FF2B5EF4-FFF2-40B4-BE49-F238E27FC236}">
                    <a16:creationId xmlns:a16="http://schemas.microsoft.com/office/drawing/2014/main" id="{534B8D09-1695-1620-F2FA-AF9648C0905B}"/>
                  </a:ext>
                </a:extLst>
              </p:cNvPr>
              <p:cNvSpPr/>
              <p:nvPr/>
            </p:nvSpPr>
            <p:spPr>
              <a:xfrm>
                <a:off x="923462" y="3771307"/>
                <a:ext cx="650857" cy="229574"/>
              </a:xfrm>
              <a:custGeom>
                <a:avLst/>
                <a:gdLst/>
                <a:ahLst/>
                <a:cxnLst/>
                <a:rect l="l" t="t" r="r" b="b"/>
                <a:pathLst>
                  <a:path w="8199" h="2892" extrusionOk="0">
                    <a:moveTo>
                      <a:pt x="102" y="1"/>
                    </a:moveTo>
                    <a:lnTo>
                      <a:pt x="84" y="61"/>
                    </a:lnTo>
                    <a:cubicBezTo>
                      <a:pt x="1" y="335"/>
                      <a:pt x="162" y="627"/>
                      <a:pt x="436" y="710"/>
                    </a:cubicBezTo>
                    <a:lnTo>
                      <a:pt x="7537" y="2869"/>
                    </a:lnTo>
                    <a:cubicBezTo>
                      <a:pt x="7587" y="2884"/>
                      <a:pt x="7638" y="2891"/>
                      <a:pt x="7688" y="2891"/>
                    </a:cubicBezTo>
                    <a:cubicBezTo>
                      <a:pt x="7911" y="2891"/>
                      <a:pt x="8118" y="2746"/>
                      <a:pt x="8187" y="2517"/>
                    </a:cubicBezTo>
                    <a:lnTo>
                      <a:pt x="8199" y="2457"/>
                    </a:lnTo>
                    <a:lnTo>
                      <a:pt x="1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5">
                <a:extLst>
                  <a:ext uri="{FF2B5EF4-FFF2-40B4-BE49-F238E27FC236}">
                    <a16:creationId xmlns:a16="http://schemas.microsoft.com/office/drawing/2014/main" id="{EB3D521F-6CD4-2AA7-1917-18433B0E7A13}"/>
                  </a:ext>
                </a:extLst>
              </p:cNvPr>
              <p:cNvSpPr/>
              <p:nvPr/>
            </p:nvSpPr>
            <p:spPr>
              <a:xfrm>
                <a:off x="996415" y="3523954"/>
                <a:ext cx="650778" cy="229495"/>
              </a:xfrm>
              <a:custGeom>
                <a:avLst/>
                <a:gdLst/>
                <a:ahLst/>
                <a:cxnLst/>
                <a:rect l="l" t="t" r="r" b="b"/>
                <a:pathLst>
                  <a:path w="8198" h="2891" extrusionOk="0">
                    <a:moveTo>
                      <a:pt x="514" y="1"/>
                    </a:moveTo>
                    <a:cubicBezTo>
                      <a:pt x="290" y="1"/>
                      <a:pt x="82" y="149"/>
                      <a:pt x="18" y="374"/>
                    </a:cubicBezTo>
                    <a:lnTo>
                      <a:pt x="0" y="434"/>
                    </a:lnTo>
                    <a:lnTo>
                      <a:pt x="8102" y="2890"/>
                    </a:lnTo>
                    <a:lnTo>
                      <a:pt x="8114" y="2831"/>
                    </a:lnTo>
                    <a:cubicBezTo>
                      <a:pt x="8198" y="2556"/>
                      <a:pt x="8043" y="2264"/>
                      <a:pt x="7768" y="2187"/>
                    </a:cubicBezTo>
                    <a:lnTo>
                      <a:pt x="662" y="23"/>
                    </a:lnTo>
                    <a:cubicBezTo>
                      <a:pt x="613" y="8"/>
                      <a:pt x="563" y="1"/>
                      <a:pt x="5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5">
                <a:extLst>
                  <a:ext uri="{FF2B5EF4-FFF2-40B4-BE49-F238E27FC236}">
                    <a16:creationId xmlns:a16="http://schemas.microsoft.com/office/drawing/2014/main" id="{04086D19-28F5-D761-5293-904826A579EF}"/>
                  </a:ext>
                </a:extLst>
              </p:cNvPr>
              <p:cNvSpPr/>
              <p:nvPr/>
            </p:nvSpPr>
            <p:spPr>
              <a:xfrm>
                <a:off x="924425" y="3710250"/>
                <a:ext cx="720372" cy="290628"/>
              </a:xfrm>
              <a:custGeom>
                <a:avLst/>
                <a:gdLst/>
                <a:ahLst/>
                <a:cxnLst/>
                <a:rect l="l" t="t" r="r" b="b"/>
                <a:pathLst>
                  <a:path w="9087" h="3661" extrusionOk="0">
                    <a:moveTo>
                      <a:pt x="8932" y="1"/>
                    </a:moveTo>
                    <a:cubicBezTo>
                      <a:pt x="7050" y="756"/>
                      <a:pt x="4401" y="916"/>
                      <a:pt x="2493" y="916"/>
                    </a:cubicBezTo>
                    <a:cubicBezTo>
                      <a:pt x="1088" y="916"/>
                      <a:pt x="84" y="830"/>
                      <a:pt x="84" y="830"/>
                    </a:cubicBezTo>
                    <a:lnTo>
                      <a:pt x="84" y="830"/>
                    </a:lnTo>
                    <a:cubicBezTo>
                      <a:pt x="1" y="1104"/>
                      <a:pt x="162" y="1396"/>
                      <a:pt x="436" y="1479"/>
                    </a:cubicBezTo>
                    <a:lnTo>
                      <a:pt x="7537" y="3638"/>
                    </a:lnTo>
                    <a:cubicBezTo>
                      <a:pt x="7587" y="3653"/>
                      <a:pt x="7638" y="3660"/>
                      <a:pt x="7688" y="3660"/>
                    </a:cubicBezTo>
                    <a:cubicBezTo>
                      <a:pt x="7911" y="3660"/>
                      <a:pt x="8118" y="3515"/>
                      <a:pt x="8187" y="3286"/>
                    </a:cubicBezTo>
                    <a:lnTo>
                      <a:pt x="9033" y="496"/>
                    </a:lnTo>
                    <a:cubicBezTo>
                      <a:pt x="9087" y="311"/>
                      <a:pt x="9045" y="126"/>
                      <a:pt x="8932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5">
                <a:extLst>
                  <a:ext uri="{FF2B5EF4-FFF2-40B4-BE49-F238E27FC236}">
                    <a16:creationId xmlns:a16="http://schemas.microsoft.com/office/drawing/2014/main" id="{654D0275-2AC7-5DA3-559E-5AA701BFF0A3}"/>
                  </a:ext>
                </a:extLst>
              </p:cNvPr>
              <p:cNvSpPr/>
              <p:nvPr/>
            </p:nvSpPr>
            <p:spPr>
              <a:xfrm>
                <a:off x="884247" y="4148527"/>
                <a:ext cx="611483" cy="158844"/>
              </a:xfrm>
              <a:custGeom>
                <a:avLst/>
                <a:gdLst/>
                <a:ahLst/>
                <a:cxnLst/>
                <a:rect l="l" t="t" r="r" b="b"/>
                <a:pathLst>
                  <a:path w="7703" h="200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66" y="42"/>
                      <a:pt x="137" y="78"/>
                      <a:pt x="215" y="102"/>
                    </a:cubicBezTo>
                    <a:lnTo>
                      <a:pt x="6308" y="1956"/>
                    </a:lnTo>
                    <a:cubicBezTo>
                      <a:pt x="6409" y="1986"/>
                      <a:pt x="6512" y="2001"/>
                      <a:pt x="6613" y="2001"/>
                    </a:cubicBezTo>
                    <a:cubicBezTo>
                      <a:pt x="6812" y="2001"/>
                      <a:pt x="7005" y="1945"/>
                      <a:pt x="7166" y="1843"/>
                    </a:cubicBezTo>
                    <a:cubicBezTo>
                      <a:pt x="7375" y="1712"/>
                      <a:pt x="7542" y="1509"/>
                      <a:pt x="7619" y="1253"/>
                    </a:cubicBezTo>
                    <a:cubicBezTo>
                      <a:pt x="7703" y="978"/>
                      <a:pt x="7667" y="698"/>
                      <a:pt x="7548" y="460"/>
                    </a:cubicBezTo>
                    <a:cubicBezTo>
                      <a:pt x="7542" y="436"/>
                      <a:pt x="7524" y="418"/>
                      <a:pt x="7512" y="400"/>
                    </a:cubicBezTo>
                    <a:cubicBezTo>
                      <a:pt x="6819" y="490"/>
                      <a:pt x="6092" y="526"/>
                      <a:pt x="5373" y="526"/>
                    </a:cubicBezTo>
                    <a:cubicBezTo>
                      <a:pt x="2618" y="526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5">
                <a:extLst>
                  <a:ext uri="{FF2B5EF4-FFF2-40B4-BE49-F238E27FC236}">
                    <a16:creationId xmlns:a16="http://schemas.microsoft.com/office/drawing/2014/main" id="{7C19D401-D649-754B-A7F5-AA386BEC6B7F}"/>
                  </a:ext>
                </a:extLst>
              </p:cNvPr>
              <p:cNvSpPr/>
              <p:nvPr/>
            </p:nvSpPr>
            <p:spPr>
              <a:xfrm>
                <a:off x="1118983" y="3374241"/>
                <a:ext cx="611483" cy="158924"/>
              </a:xfrm>
              <a:custGeom>
                <a:avLst/>
                <a:gdLst/>
                <a:ahLst/>
                <a:cxnLst/>
                <a:rect l="l" t="t" r="r" b="b"/>
                <a:pathLst>
                  <a:path w="7703" h="2002" extrusionOk="0">
                    <a:moveTo>
                      <a:pt x="0" y="1"/>
                    </a:moveTo>
                    <a:cubicBezTo>
                      <a:pt x="66" y="37"/>
                      <a:pt x="143" y="78"/>
                      <a:pt x="215" y="96"/>
                    </a:cubicBezTo>
                    <a:lnTo>
                      <a:pt x="6314" y="1956"/>
                    </a:lnTo>
                    <a:cubicBezTo>
                      <a:pt x="6415" y="1987"/>
                      <a:pt x="6517" y="2001"/>
                      <a:pt x="6618" y="2001"/>
                    </a:cubicBezTo>
                    <a:cubicBezTo>
                      <a:pt x="6814" y="2001"/>
                      <a:pt x="7005" y="1946"/>
                      <a:pt x="7166" y="1843"/>
                    </a:cubicBezTo>
                    <a:cubicBezTo>
                      <a:pt x="7387" y="1718"/>
                      <a:pt x="7548" y="1509"/>
                      <a:pt x="7625" y="1253"/>
                    </a:cubicBezTo>
                    <a:cubicBezTo>
                      <a:pt x="7703" y="979"/>
                      <a:pt x="7667" y="692"/>
                      <a:pt x="7548" y="454"/>
                    </a:cubicBezTo>
                    <a:cubicBezTo>
                      <a:pt x="7542" y="436"/>
                      <a:pt x="7524" y="418"/>
                      <a:pt x="7512" y="394"/>
                    </a:cubicBezTo>
                    <a:cubicBezTo>
                      <a:pt x="6813" y="487"/>
                      <a:pt x="6078" y="523"/>
                      <a:pt x="5352" y="523"/>
                    </a:cubicBezTo>
                    <a:cubicBezTo>
                      <a:pt x="2607" y="523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5">
                <a:extLst>
                  <a:ext uri="{FF2B5EF4-FFF2-40B4-BE49-F238E27FC236}">
                    <a16:creationId xmlns:a16="http://schemas.microsoft.com/office/drawing/2014/main" id="{A3D73DB2-DD86-BBC0-6D84-56A6170F74EF}"/>
                  </a:ext>
                </a:extLst>
              </p:cNvPr>
              <p:cNvSpPr/>
              <p:nvPr/>
            </p:nvSpPr>
            <p:spPr>
              <a:xfrm>
                <a:off x="922033" y="3598573"/>
                <a:ext cx="59775" cy="12550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581" extrusionOk="0">
                    <a:moveTo>
                      <a:pt x="448" y="1"/>
                    </a:moveTo>
                    <a:lnTo>
                      <a:pt x="1" y="1485"/>
                    </a:lnTo>
                    <a:lnTo>
                      <a:pt x="299" y="1581"/>
                    </a:lnTo>
                    <a:lnTo>
                      <a:pt x="752" y="90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5">
                <a:extLst>
                  <a:ext uri="{FF2B5EF4-FFF2-40B4-BE49-F238E27FC236}">
                    <a16:creationId xmlns:a16="http://schemas.microsoft.com/office/drawing/2014/main" id="{32036C9A-432E-0DA1-0D01-EF49C2952126}"/>
                  </a:ext>
                </a:extLst>
              </p:cNvPr>
              <p:cNvSpPr/>
              <p:nvPr/>
            </p:nvSpPr>
            <p:spPr>
              <a:xfrm>
                <a:off x="1586072" y="3792184"/>
                <a:ext cx="65887" cy="143444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807" extrusionOk="0">
                    <a:moveTo>
                      <a:pt x="525" y="0"/>
                    </a:moveTo>
                    <a:lnTo>
                      <a:pt x="1" y="1711"/>
                    </a:lnTo>
                    <a:lnTo>
                      <a:pt x="311" y="1807"/>
                    </a:lnTo>
                    <a:lnTo>
                      <a:pt x="829" y="90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191919">
                  <a:alpha val="23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5">
                <a:extLst>
                  <a:ext uri="{FF2B5EF4-FFF2-40B4-BE49-F238E27FC236}">
                    <a16:creationId xmlns:a16="http://schemas.microsoft.com/office/drawing/2014/main" id="{2123D91F-6BBE-AD79-B0B4-2C23CE974C1A}"/>
                  </a:ext>
                </a:extLst>
              </p:cNvPr>
              <p:cNvSpPr/>
              <p:nvPr/>
            </p:nvSpPr>
            <p:spPr>
              <a:xfrm>
                <a:off x="612996" y="4306576"/>
                <a:ext cx="923457" cy="153446"/>
              </a:xfrm>
              <a:custGeom>
                <a:avLst/>
                <a:gdLst/>
                <a:ahLst/>
                <a:cxnLst/>
                <a:rect l="l" t="t" r="r" b="b"/>
                <a:pathLst>
                  <a:path w="11633" h="1933" extrusionOk="0">
                    <a:moveTo>
                      <a:pt x="1933" y="1"/>
                    </a:moveTo>
                    <a:cubicBezTo>
                      <a:pt x="865" y="1"/>
                      <a:pt x="1" y="865"/>
                      <a:pt x="1" y="1933"/>
                    </a:cubicBezTo>
                    <a:lnTo>
                      <a:pt x="11633" y="1933"/>
                    </a:lnTo>
                    <a:cubicBezTo>
                      <a:pt x="11633" y="865"/>
                      <a:pt x="10768" y="1"/>
                      <a:pt x="96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5">
                <a:extLst>
                  <a:ext uri="{FF2B5EF4-FFF2-40B4-BE49-F238E27FC236}">
                    <a16:creationId xmlns:a16="http://schemas.microsoft.com/office/drawing/2014/main" id="{1C057F9E-149A-FA30-0392-39CBC3C6F1DB}"/>
                  </a:ext>
                </a:extLst>
              </p:cNvPr>
              <p:cNvSpPr/>
              <p:nvPr/>
            </p:nvSpPr>
            <p:spPr>
              <a:xfrm>
                <a:off x="428430" y="4502569"/>
                <a:ext cx="1292585" cy="159559"/>
              </a:xfrm>
              <a:custGeom>
                <a:avLst/>
                <a:gdLst/>
                <a:ahLst/>
                <a:cxnLst/>
                <a:rect l="l" t="t" r="r" b="b"/>
                <a:pathLst>
                  <a:path w="16283" h="2010" extrusionOk="0">
                    <a:moveTo>
                      <a:pt x="734" y="0"/>
                    </a:moveTo>
                    <a:cubicBezTo>
                      <a:pt x="329" y="0"/>
                      <a:pt x="1" y="328"/>
                      <a:pt x="1" y="727"/>
                    </a:cubicBezTo>
                    <a:lnTo>
                      <a:pt x="1" y="1282"/>
                    </a:lnTo>
                    <a:cubicBezTo>
                      <a:pt x="1" y="1681"/>
                      <a:pt x="329" y="2009"/>
                      <a:pt x="734" y="2009"/>
                    </a:cubicBezTo>
                    <a:lnTo>
                      <a:pt x="15555" y="2009"/>
                    </a:lnTo>
                    <a:cubicBezTo>
                      <a:pt x="15955" y="2009"/>
                      <a:pt x="16283" y="1681"/>
                      <a:pt x="16283" y="1282"/>
                    </a:cubicBezTo>
                    <a:lnTo>
                      <a:pt x="16283" y="727"/>
                    </a:lnTo>
                    <a:cubicBezTo>
                      <a:pt x="16283" y="328"/>
                      <a:pt x="15955" y="0"/>
                      <a:pt x="15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5">
                <a:extLst>
                  <a:ext uri="{FF2B5EF4-FFF2-40B4-BE49-F238E27FC236}">
                    <a16:creationId xmlns:a16="http://schemas.microsoft.com/office/drawing/2014/main" id="{9C11E7B9-D661-139E-C712-359C761B0252}"/>
                  </a:ext>
                </a:extLst>
              </p:cNvPr>
              <p:cNvSpPr/>
              <p:nvPr/>
            </p:nvSpPr>
            <p:spPr>
              <a:xfrm>
                <a:off x="500827" y="4417313"/>
                <a:ext cx="1148744" cy="84860"/>
              </a:xfrm>
              <a:custGeom>
                <a:avLst/>
                <a:gdLst/>
                <a:ahLst/>
                <a:cxnLst/>
                <a:rect l="l" t="t" r="r" b="b"/>
                <a:pathLst>
                  <a:path w="14471" h="1069" extrusionOk="0">
                    <a:moveTo>
                      <a:pt x="794" y="1"/>
                    </a:moveTo>
                    <a:cubicBezTo>
                      <a:pt x="424" y="1"/>
                      <a:pt x="108" y="275"/>
                      <a:pt x="61" y="639"/>
                    </a:cubicBezTo>
                    <a:lnTo>
                      <a:pt x="1" y="1068"/>
                    </a:lnTo>
                    <a:lnTo>
                      <a:pt x="14470" y="1068"/>
                    </a:lnTo>
                    <a:lnTo>
                      <a:pt x="14411" y="639"/>
                    </a:lnTo>
                    <a:cubicBezTo>
                      <a:pt x="14357" y="269"/>
                      <a:pt x="14047" y="1"/>
                      <a:pt x="136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" name="Google Shape;418;p35">
              <a:extLst>
                <a:ext uri="{FF2B5EF4-FFF2-40B4-BE49-F238E27FC236}">
                  <a16:creationId xmlns:a16="http://schemas.microsoft.com/office/drawing/2014/main" id="{7D5E2DF2-BB2B-9066-C4F2-08DFE4A10DD3}"/>
                </a:ext>
              </a:extLst>
            </p:cNvPr>
            <p:cNvGrpSpPr/>
            <p:nvPr/>
          </p:nvGrpSpPr>
          <p:grpSpPr>
            <a:xfrm flipH="1">
              <a:off x="2258199" y="2522480"/>
              <a:ext cx="664633" cy="664286"/>
              <a:chOff x="6212418" y="1482331"/>
              <a:chExt cx="627249" cy="626921"/>
            </a:xfrm>
          </p:grpSpPr>
          <p:sp>
            <p:nvSpPr>
              <p:cNvPr id="419" name="Google Shape;419;p35">
                <a:extLst>
                  <a:ext uri="{FF2B5EF4-FFF2-40B4-BE49-F238E27FC236}">
                    <a16:creationId xmlns:a16="http://schemas.microsoft.com/office/drawing/2014/main" id="{FE1B78B9-1784-3444-152B-B4924550ECD5}"/>
                  </a:ext>
                </a:extLst>
              </p:cNvPr>
              <p:cNvSpPr/>
              <p:nvPr/>
            </p:nvSpPr>
            <p:spPr>
              <a:xfrm>
                <a:off x="6212418" y="1482331"/>
                <a:ext cx="627249" cy="620800"/>
              </a:xfrm>
              <a:custGeom>
                <a:avLst/>
                <a:gdLst/>
                <a:ahLst/>
                <a:cxnLst/>
                <a:rect l="l" t="t" r="r" b="b"/>
                <a:pathLst>
                  <a:path w="7782" h="7702" extrusionOk="0">
                    <a:moveTo>
                      <a:pt x="6112" y="1623"/>
                    </a:moveTo>
                    <a:cubicBezTo>
                      <a:pt x="6112" y="1623"/>
                      <a:pt x="6112" y="1623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12" y="1623"/>
                      <a:pt x="6112" y="1623"/>
                    </a:cubicBezTo>
                    <a:close/>
                    <a:moveTo>
                      <a:pt x="1032" y="1"/>
                    </a:moveTo>
                    <a:cubicBezTo>
                      <a:pt x="1032" y="1"/>
                      <a:pt x="1" y="4037"/>
                      <a:pt x="1909" y="6207"/>
                    </a:cubicBezTo>
                    <a:cubicBezTo>
                      <a:pt x="1909" y="6207"/>
                      <a:pt x="3569" y="7701"/>
                      <a:pt x="5835" y="7701"/>
                    </a:cubicBezTo>
                    <a:cubicBezTo>
                      <a:pt x="6447" y="7701"/>
                      <a:pt x="7102" y="7592"/>
                      <a:pt x="7781" y="7316"/>
                    </a:cubicBezTo>
                    <a:cubicBezTo>
                      <a:pt x="7781" y="7316"/>
                      <a:pt x="5635" y="6499"/>
                      <a:pt x="6112" y="1623"/>
                    </a:cubicBezTo>
                    <a:lnTo>
                      <a:pt x="6112" y="1623"/>
                    </a:lnTo>
                    <a:cubicBezTo>
                      <a:pt x="6112" y="1623"/>
                      <a:pt x="6109" y="1623"/>
                      <a:pt x="6104" y="1623"/>
                    </a:cubicBezTo>
                    <a:cubicBezTo>
                      <a:pt x="5980" y="1623"/>
                      <a:pt x="4400" y="1465"/>
                      <a:pt x="10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5">
                <a:extLst>
                  <a:ext uri="{FF2B5EF4-FFF2-40B4-BE49-F238E27FC236}">
                    <a16:creationId xmlns:a16="http://schemas.microsoft.com/office/drawing/2014/main" id="{88C03540-9A77-E63B-6FFF-484936E01B9B}"/>
                  </a:ext>
                </a:extLst>
              </p:cNvPr>
              <p:cNvSpPr/>
              <p:nvPr/>
            </p:nvSpPr>
            <p:spPr>
              <a:xfrm>
                <a:off x="6365722" y="1881228"/>
                <a:ext cx="473459" cy="228024"/>
              </a:xfrm>
              <a:custGeom>
                <a:avLst/>
                <a:gdLst/>
                <a:ahLst/>
                <a:cxnLst/>
                <a:rect l="l" t="t" r="r" b="b"/>
                <a:pathLst>
                  <a:path w="5874" h="2829" extrusionOk="0">
                    <a:moveTo>
                      <a:pt x="5873" y="2367"/>
                    </a:moveTo>
                    <a:cubicBezTo>
                      <a:pt x="5872" y="2368"/>
                      <a:pt x="5870" y="2368"/>
                      <a:pt x="5869" y="2369"/>
                    </a:cubicBezTo>
                    <a:lnTo>
                      <a:pt x="5869" y="2369"/>
                    </a:lnTo>
                    <a:cubicBezTo>
                      <a:pt x="5872" y="2368"/>
                      <a:pt x="5874" y="2368"/>
                      <a:pt x="5873" y="2367"/>
                    </a:cubicBezTo>
                    <a:close/>
                    <a:moveTo>
                      <a:pt x="2141" y="0"/>
                    </a:moveTo>
                    <a:cubicBezTo>
                      <a:pt x="2141" y="0"/>
                      <a:pt x="1496" y="1415"/>
                      <a:pt x="546" y="1415"/>
                    </a:cubicBezTo>
                    <a:cubicBezTo>
                      <a:pt x="373" y="1415"/>
                      <a:pt x="191" y="1368"/>
                      <a:pt x="1" y="1258"/>
                    </a:cubicBezTo>
                    <a:lnTo>
                      <a:pt x="1" y="1258"/>
                    </a:lnTo>
                    <a:cubicBezTo>
                      <a:pt x="1" y="1258"/>
                      <a:pt x="1394" y="2828"/>
                      <a:pt x="3689" y="2828"/>
                    </a:cubicBezTo>
                    <a:cubicBezTo>
                      <a:pt x="4346" y="2828"/>
                      <a:pt x="5076" y="2700"/>
                      <a:pt x="5869" y="2369"/>
                    </a:cubicBezTo>
                    <a:lnTo>
                      <a:pt x="5869" y="2369"/>
                    </a:lnTo>
                    <a:cubicBezTo>
                      <a:pt x="5850" y="2374"/>
                      <a:pt x="5766" y="2386"/>
                      <a:pt x="5633" y="2386"/>
                    </a:cubicBezTo>
                    <a:cubicBezTo>
                      <a:pt x="5034" y="2386"/>
                      <a:pt x="3434" y="2150"/>
                      <a:pt x="2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35">
              <a:extLst>
                <a:ext uri="{FF2B5EF4-FFF2-40B4-BE49-F238E27FC236}">
                  <a16:creationId xmlns:a16="http://schemas.microsoft.com/office/drawing/2014/main" id="{8294F6E9-E1C3-B0E8-D4A9-523867B195EA}"/>
                </a:ext>
              </a:extLst>
            </p:cNvPr>
            <p:cNvGrpSpPr/>
            <p:nvPr/>
          </p:nvGrpSpPr>
          <p:grpSpPr>
            <a:xfrm flipH="1">
              <a:off x="1365165" y="1246316"/>
              <a:ext cx="845522" cy="916625"/>
              <a:chOff x="7511392" y="307000"/>
              <a:chExt cx="863570" cy="936192"/>
            </a:xfrm>
          </p:grpSpPr>
          <p:sp>
            <p:nvSpPr>
              <p:cNvPr id="422" name="Google Shape;422;p35">
                <a:extLst>
                  <a:ext uri="{FF2B5EF4-FFF2-40B4-BE49-F238E27FC236}">
                    <a16:creationId xmlns:a16="http://schemas.microsoft.com/office/drawing/2014/main" id="{1C804F80-44B3-81A5-CC0C-D772E98EDF38}"/>
                  </a:ext>
                </a:extLst>
              </p:cNvPr>
              <p:cNvSpPr/>
              <p:nvPr/>
            </p:nvSpPr>
            <p:spPr>
              <a:xfrm>
                <a:off x="7927457" y="838406"/>
                <a:ext cx="447505" cy="404786"/>
              </a:xfrm>
              <a:custGeom>
                <a:avLst/>
                <a:gdLst/>
                <a:ahLst/>
                <a:cxnLst/>
                <a:rect l="l" t="t" r="r" b="b"/>
                <a:pathLst>
                  <a:path w="5552" h="5022" extrusionOk="0">
                    <a:moveTo>
                      <a:pt x="2386" y="1"/>
                    </a:moveTo>
                    <a:cubicBezTo>
                      <a:pt x="2386" y="7"/>
                      <a:pt x="1" y="2159"/>
                      <a:pt x="1342" y="4353"/>
                    </a:cubicBezTo>
                    <a:cubicBezTo>
                      <a:pt x="1342" y="4353"/>
                      <a:pt x="2052" y="5021"/>
                      <a:pt x="3210" y="5021"/>
                    </a:cubicBezTo>
                    <a:cubicBezTo>
                      <a:pt x="3863" y="5021"/>
                      <a:pt x="4659" y="4809"/>
                      <a:pt x="5551" y="4144"/>
                    </a:cubicBezTo>
                    <a:cubicBezTo>
                      <a:pt x="5551" y="4144"/>
                      <a:pt x="3280" y="3125"/>
                      <a:pt x="23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5">
                <a:extLst>
                  <a:ext uri="{FF2B5EF4-FFF2-40B4-BE49-F238E27FC236}">
                    <a16:creationId xmlns:a16="http://schemas.microsoft.com/office/drawing/2014/main" id="{83AEAD50-BF0E-D0B4-2D47-EACFD5BF6EF6}"/>
                  </a:ext>
                </a:extLst>
              </p:cNvPr>
              <p:cNvSpPr/>
              <p:nvPr/>
            </p:nvSpPr>
            <p:spPr>
              <a:xfrm>
                <a:off x="7511392" y="307000"/>
                <a:ext cx="787164" cy="882356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10947" extrusionOk="0">
                    <a:moveTo>
                      <a:pt x="7989" y="0"/>
                    </a:moveTo>
                    <a:cubicBezTo>
                      <a:pt x="7989" y="0"/>
                      <a:pt x="0" y="3476"/>
                      <a:pt x="6504" y="10946"/>
                    </a:cubicBezTo>
                    <a:cubicBezTo>
                      <a:pt x="6504" y="10946"/>
                      <a:pt x="5473" y="8436"/>
                      <a:pt x="9766" y="6141"/>
                    </a:cubicBezTo>
                    <a:cubicBezTo>
                      <a:pt x="9766" y="6141"/>
                      <a:pt x="7917" y="2880"/>
                      <a:pt x="79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4254667-DFC6-D43A-0BBC-91678C594FC8}"/>
              </a:ext>
            </a:extLst>
          </p:cNvPr>
          <p:cNvSpPr txBox="1"/>
          <p:nvPr/>
        </p:nvSpPr>
        <p:spPr>
          <a:xfrm>
            <a:off x="3059486" y="677343"/>
            <a:ext cx="602529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Purpose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Sends free automated reminders to subscribed recipients 	     about upcoming court hearings.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Helps defendants and litigants avoid missing court 	   	     appearances.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How It Works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Reminders are sent via text (SMS) and/or email at 6 AM 	       	      daily.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Subscribers receive three reminders: </a:t>
            </a:r>
          </a:p>
          <a:p>
            <a:pPr marL="457200" lvl="4"/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	- 7 days before the court date</a:t>
            </a:r>
          </a:p>
          <a:p>
            <a:pPr marL="457200" lvl="3"/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	- 1 day before the court date</a:t>
            </a:r>
          </a:p>
          <a:p>
            <a:pPr marL="457200" lvl="3"/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	-  On the day of the court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Types of </a:t>
            </a:r>
            <a:r>
              <a:rPr lang="en-US" b="1" dirty="0" err="1">
                <a:latin typeface="Archivo" panose="020B0604020202020204" charset="0"/>
                <a:cs typeface="Archivo" panose="020B0604020202020204" charset="0"/>
              </a:rPr>
              <a:t>eReminder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 Applications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	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1. Internal </a:t>
            </a:r>
            <a:r>
              <a:rPr lang="en-US" dirty="0" err="1">
                <a:latin typeface="Archivo" panose="020B0604020202020204" charset="0"/>
                <a:cs typeface="Archivo" panose="020B0604020202020204" charset="0"/>
              </a:rPr>
              <a:t>eReminder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(for Judiciary staff)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2. </a:t>
            </a:r>
            <a:r>
              <a:rPr lang="en-US" dirty="0" err="1">
                <a:latin typeface="Archivo" panose="020B0604020202020204" charset="0"/>
                <a:cs typeface="Archivo" panose="020B0604020202020204" charset="0"/>
              </a:rPr>
              <a:t>eReminder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Self-registration Portal (for the general public)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Technology Used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Uses Twilio’s Programmable SMS service to send text 	   	      reminders.</a:t>
            </a:r>
          </a:p>
          <a:p>
            <a:endParaRPr lang="en-US" b="1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3092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4AB90F1-EEB6-55E0-9CAA-C5E6D8BEBEC9}"/>
              </a:ext>
            </a:extLst>
          </p:cNvPr>
          <p:cNvSpPr txBox="1"/>
          <p:nvPr/>
        </p:nvSpPr>
        <p:spPr>
          <a:xfrm>
            <a:off x="408213" y="171450"/>
            <a:ext cx="823776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1. Internal </a:t>
            </a:r>
            <a:r>
              <a:rPr lang="en-US" sz="1800" b="1" u="sng" dirty="0" err="1">
                <a:latin typeface="Archivo" panose="020B0604020202020204" charset="0"/>
                <a:cs typeface="Archivo" panose="020B0604020202020204" charset="0"/>
              </a:rPr>
              <a:t>eReminder</a:t>
            </a:r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 System</a:t>
            </a:r>
          </a:p>
          <a:p>
            <a:endParaRPr lang="en-US" sz="1800" b="1" u="sng" dirty="0">
              <a:latin typeface="Archivo" panose="020B0604020202020204" charset="0"/>
              <a:cs typeface="Archivo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Purpose</a:t>
            </a: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	-&gt; Used by Court Staff to subscribe recipients for court hearing reminders.</a:t>
            </a:r>
          </a:p>
          <a:p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	-&gt; Helps manage reminders for defendants, litigants, and other interested parties.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Key Features</a:t>
            </a: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	-&gt; Manual Subscription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: Court staff can add recipients who request reminders in person.</a:t>
            </a:r>
          </a:p>
          <a:p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	-&gt; Subscription Control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: Staff can deactivate reminders upon request using a phone number or email.</a:t>
            </a:r>
          </a:p>
          <a:p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	-&gt; Manage External Subscriptions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: Staff can review, modify, or deactivate subscriptions from the Self-	     registration Portal.</a:t>
            </a:r>
          </a:p>
          <a:p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	-&gt;Restricted Access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: Only accessible inside the Judiciary’s network.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Access</a:t>
            </a: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	-&gt; 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Court staff log in using JIMS Portal credentials (with necessary permissions).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9BDD06-9F06-72D7-8380-7C8DF4A9E00B}"/>
              </a:ext>
            </a:extLst>
          </p:cNvPr>
          <p:cNvSpPr txBox="1"/>
          <p:nvPr/>
        </p:nvSpPr>
        <p:spPr>
          <a:xfrm>
            <a:off x="1845129" y="195126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1AA4B5-BD2D-E38B-7E6F-EABCDED6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739" y="2884460"/>
            <a:ext cx="5260521" cy="161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161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329C8-7E8D-738D-207F-9745DD95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C682326-2F71-F1C9-B8DF-B00D1BD4362D}"/>
              </a:ext>
            </a:extLst>
          </p:cNvPr>
          <p:cNvSpPr txBox="1"/>
          <p:nvPr/>
        </p:nvSpPr>
        <p:spPr>
          <a:xfrm>
            <a:off x="408213" y="171450"/>
            <a:ext cx="823776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Internal </a:t>
            </a:r>
            <a:r>
              <a:rPr lang="en-US" sz="1800" b="1" u="sng" dirty="0" err="1">
                <a:latin typeface="Archivo" panose="020B0604020202020204" charset="0"/>
                <a:cs typeface="Archivo" panose="020B0604020202020204" charset="0"/>
              </a:rPr>
              <a:t>eReminder</a:t>
            </a:r>
            <a:r>
              <a:rPr lang="en-US" sz="1800" b="1" u="sng" dirty="0">
                <a:latin typeface="Archivo" panose="020B0604020202020204" charset="0"/>
                <a:cs typeface="Archivo" panose="020B0604020202020204" charset="0"/>
              </a:rPr>
              <a:t> – Subscription Management</a:t>
            </a:r>
          </a:p>
          <a:p>
            <a:endParaRPr lang="en-US" sz="1800" b="1" u="sng" dirty="0">
              <a:latin typeface="Archivo" panose="020B0604020202020204" charset="0"/>
              <a:cs typeface="Archivo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Subscribe</a:t>
            </a: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	-&gt; Court staff can add recipient’s phone number(s) and/or email(s) to receive </a:t>
            </a:r>
            <a:r>
              <a:rPr lang="en-US" sz="1200" dirty="0" err="1">
                <a:latin typeface="Archivo" panose="020B0604020202020204" charset="0"/>
                <a:cs typeface="Archivo" panose="020B0604020202020204" charset="0"/>
              </a:rPr>
              <a:t>eReminders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 for scheduled 	      court hearings.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Manage Subscription/Alerts</a:t>
            </a:r>
            <a:endParaRPr lang="en-US" sz="1200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	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-&gt; Review existing subscription details.</a:t>
            </a:r>
          </a:p>
          <a:p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	-&gt; Deactivate or reactivate </a:t>
            </a:r>
            <a:r>
              <a:rPr lang="en-US" sz="1200" dirty="0" err="1">
                <a:latin typeface="Archivo" panose="020B0604020202020204" charset="0"/>
                <a:cs typeface="Archivo" panose="020B0604020202020204" charset="0"/>
              </a:rPr>
              <a:t>eReminders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 for a case.</a:t>
            </a:r>
          </a:p>
          <a:p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	-&gt;Manage subscriptions using: </a:t>
            </a:r>
          </a:p>
          <a:p>
            <a:pPr marL="457200" lvl="1"/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		- Case ID</a:t>
            </a:r>
          </a:p>
          <a:p>
            <a:pPr marL="457200" lvl="1"/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		- Subscriber’s phone number or email address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0B2C1-FBF1-2EF5-CCFB-CEB84188E33B}"/>
              </a:ext>
            </a:extLst>
          </p:cNvPr>
          <p:cNvSpPr txBox="1"/>
          <p:nvPr/>
        </p:nvSpPr>
        <p:spPr>
          <a:xfrm>
            <a:off x="1845129" y="195126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29FD12-51BB-4F8D-C3F2-CD1F17172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931" y="2509888"/>
            <a:ext cx="5805134" cy="201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23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864FA-C8C2-D8B6-4908-05EE6382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D3331-586B-A64C-A674-D3B3E3AC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IN" sz="2000" u="sng" dirty="0">
                <a:latin typeface="Archivo" panose="020B0604020202020204" charset="0"/>
                <a:cs typeface="Archivo" panose="020B0604020202020204" charset="0"/>
              </a:rPr>
              <a:t>2.</a:t>
            </a:r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 </a:t>
            </a:r>
            <a:r>
              <a:rPr lang="en-US" sz="2000" b="1" u="sng" dirty="0" err="1">
                <a:latin typeface="Archivo" panose="020B0604020202020204" charset="0"/>
                <a:cs typeface="Archivo" panose="020B0604020202020204" charset="0"/>
              </a:rPr>
              <a:t>eReminder</a:t>
            </a:r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 Self-Registration Portal (External </a:t>
            </a:r>
            <a:r>
              <a:rPr lang="en-US" sz="2000" b="1" u="sng" dirty="0" err="1">
                <a:latin typeface="Archivo" panose="020B0604020202020204" charset="0"/>
                <a:cs typeface="Archivo" panose="020B0604020202020204" charset="0"/>
              </a:rPr>
              <a:t>eReminder</a:t>
            </a:r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)</a:t>
            </a:r>
            <a:br>
              <a:rPr lang="en-US" sz="1050" b="1" dirty="0"/>
            </a:b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B956A7-6F21-AB63-3212-9F63BA009890}"/>
              </a:ext>
            </a:extLst>
          </p:cNvPr>
          <p:cNvSpPr txBox="1"/>
          <p:nvPr/>
        </p:nvSpPr>
        <p:spPr>
          <a:xfrm>
            <a:off x="375557" y="922741"/>
            <a:ext cx="83765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Overview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Open to the general public for subscribing to court hearing alerts online.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No need to visit the court in person.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How It Works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	1. Access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the Judiciary’s website.</a:t>
            </a:r>
          </a:p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	2. Register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by creating a profile with a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cell phone number and/or email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.</a:t>
            </a:r>
          </a:p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	3. Verify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phone/email to complete registration.</a:t>
            </a:r>
          </a:p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	4. Log in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to </a:t>
            </a: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set up and manage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court hearing reminders.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4361D6-5159-6E78-2B2B-BAEB8D82D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07" y="2859081"/>
            <a:ext cx="5584371" cy="213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930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8C414-613D-85D3-25E9-81A1FC9D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6886-0084-7624-F51B-435135499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External </a:t>
            </a:r>
            <a:r>
              <a:rPr lang="en-US" sz="2000" b="1" u="sng" dirty="0" err="1">
                <a:latin typeface="Archivo" panose="020B0604020202020204" charset="0"/>
                <a:cs typeface="Archivo" panose="020B0604020202020204" charset="0"/>
              </a:rPr>
              <a:t>eReminder</a:t>
            </a:r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 - Features</a:t>
            </a: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5EB6B-D765-759E-F8B2-E231520BE662}"/>
              </a:ext>
            </a:extLst>
          </p:cNvPr>
          <p:cNvSpPr txBox="1"/>
          <p:nvPr/>
        </p:nvSpPr>
        <p:spPr>
          <a:xfrm>
            <a:off x="375557" y="936259"/>
            <a:ext cx="83765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Subscribe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Add a Case ID to receive </a:t>
            </a:r>
            <a:r>
              <a:rPr lang="en-US" dirty="0" err="1">
                <a:latin typeface="Archivo" panose="020B0604020202020204" charset="0"/>
                <a:cs typeface="Archivo" panose="020B0604020202020204" charset="0"/>
              </a:rPr>
              <a:t>eReminders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for scheduled court hearings.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Manage Subscription/Alerts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View active &amp; inactive subscriptions.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Review, deactivate, or reactivate </a:t>
            </a:r>
            <a:r>
              <a:rPr lang="en-US" dirty="0" err="1">
                <a:latin typeface="Archivo" panose="020B0604020202020204" charset="0"/>
                <a:cs typeface="Archivo" panose="020B0604020202020204" charset="0"/>
              </a:rPr>
              <a:t>eReminders</a:t>
            </a: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 for a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Manage My Profile</a:t>
            </a:r>
            <a:endParaRPr lang="en-US" dirty="0">
              <a:latin typeface="Archivo" panose="020B0604020202020204" charset="0"/>
              <a:cs typeface="Archivo" panose="020B0604020202020204" charset="0"/>
            </a:endParaRP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Update contact details (phone/email).</a:t>
            </a:r>
          </a:p>
          <a:p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	-&gt; Requires re-verification for any updated contact information.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79A53-072E-6C78-7B6B-BDC93C6F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021" y="2788104"/>
            <a:ext cx="5891801" cy="224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452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EE34B-772C-A01F-6058-00E97CB0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2058-7624-289F-036A-846B9B07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7" y="445025"/>
            <a:ext cx="8048443" cy="572700"/>
          </a:xfrm>
        </p:spPr>
        <p:txBody>
          <a:bodyPr/>
          <a:lstStyle/>
          <a:p>
            <a: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  <a:t>Crystal Report </a:t>
            </a:r>
            <a:br>
              <a:rPr lang="en-US" sz="2000" b="1" u="sng" dirty="0">
                <a:latin typeface="Archivo" panose="020B0604020202020204" charset="0"/>
                <a:cs typeface="Archivo" panose="020B0604020202020204" charset="0"/>
              </a:rPr>
            </a:br>
            <a:endParaRPr lang="en-US" sz="2000" u="sng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933D7-329A-041B-FAAB-6EBCA98847B7}"/>
              </a:ext>
            </a:extLst>
          </p:cNvPr>
          <p:cNvSpPr txBox="1"/>
          <p:nvPr/>
        </p:nvSpPr>
        <p:spPr>
          <a:xfrm>
            <a:off x="375557" y="1156694"/>
            <a:ext cx="83765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Functionality:</a:t>
            </a:r>
            <a:endParaRPr lang="en-US" dirty="0"/>
          </a:p>
          <a:p>
            <a:r>
              <a:rPr lang="en-US" dirty="0"/>
              <a:t>	-&gt; Generates PDF documents based on database queries.</a:t>
            </a:r>
          </a:p>
          <a:p>
            <a:r>
              <a:rPr lang="en-US" dirty="0"/>
              <a:t>	-&gt; Executes client-specified queries to fetch and display data.</a:t>
            </a:r>
          </a:p>
          <a:p>
            <a:r>
              <a:rPr lang="en-US" dirty="0"/>
              <a:t>	-&gt; Reports are viewable via web URL and can be scheduled for automatic delivery.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Advantages:</a:t>
            </a:r>
            <a:br>
              <a:rPr lang="en-US" dirty="0"/>
            </a:br>
            <a:r>
              <a:rPr lang="en-US" dirty="0"/>
              <a:t>	-&gt; Rapid report development</a:t>
            </a:r>
            <a:br>
              <a:rPr lang="en-US" dirty="0"/>
            </a:br>
            <a:r>
              <a:rPr lang="en-US" dirty="0"/>
              <a:t>	-&gt; Supports interactive charts for complex reports</a:t>
            </a:r>
            <a:br>
              <a:rPr lang="en-US" dirty="0"/>
            </a:br>
            <a:r>
              <a:rPr lang="en-US" dirty="0"/>
              <a:t>	-&gt; Exports reports in multiple formats: PDF, DOC, XLS, HTML, RTF</a:t>
            </a:r>
          </a:p>
          <a:p>
            <a:endParaRPr lang="en-US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05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37"/>
          <p:cNvGrpSpPr/>
          <p:nvPr/>
        </p:nvGrpSpPr>
        <p:grpSpPr>
          <a:xfrm>
            <a:off x="524550" y="611191"/>
            <a:ext cx="3273253" cy="4140700"/>
            <a:chOff x="524550" y="534991"/>
            <a:chExt cx="3273253" cy="4140700"/>
          </a:xfrm>
        </p:grpSpPr>
        <p:grpSp>
          <p:nvGrpSpPr>
            <p:cNvPr id="481" name="Google Shape;481;p37"/>
            <p:cNvGrpSpPr/>
            <p:nvPr/>
          </p:nvGrpSpPr>
          <p:grpSpPr>
            <a:xfrm>
              <a:off x="1171502" y="534991"/>
              <a:ext cx="1029692" cy="1990300"/>
              <a:chOff x="1171502" y="534991"/>
              <a:chExt cx="1029692" cy="1990300"/>
            </a:xfrm>
          </p:grpSpPr>
          <p:grpSp>
            <p:nvGrpSpPr>
              <p:cNvPr id="482" name="Google Shape;482;p37"/>
              <p:cNvGrpSpPr/>
              <p:nvPr/>
            </p:nvGrpSpPr>
            <p:grpSpPr>
              <a:xfrm flipH="1">
                <a:off x="1536561" y="1861005"/>
                <a:ext cx="664633" cy="664286"/>
                <a:chOff x="6212418" y="1482331"/>
                <a:chExt cx="627249" cy="626921"/>
              </a:xfrm>
            </p:grpSpPr>
            <p:sp>
              <p:nvSpPr>
                <p:cNvPr id="483" name="Google Shape;483;p37"/>
                <p:cNvSpPr/>
                <p:nvPr/>
              </p:nvSpPr>
              <p:spPr>
                <a:xfrm>
                  <a:off x="6212418" y="1482331"/>
                  <a:ext cx="627249" cy="62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2" h="7702" extrusionOk="0">
                      <a:moveTo>
                        <a:pt x="6112" y="1623"/>
                      </a:moveTo>
                      <a:cubicBezTo>
                        <a:pt x="6112" y="1623"/>
                        <a:pt x="6112" y="1623"/>
                        <a:pt x="6112" y="1623"/>
                      </a:cubicBezTo>
                      <a:lnTo>
                        <a:pt x="6112" y="1623"/>
                      </a:lnTo>
                      <a:cubicBezTo>
                        <a:pt x="6112" y="1623"/>
                        <a:pt x="6112" y="1623"/>
                        <a:pt x="6112" y="1623"/>
                      </a:cubicBezTo>
                      <a:close/>
                      <a:moveTo>
                        <a:pt x="1032" y="1"/>
                      </a:moveTo>
                      <a:cubicBezTo>
                        <a:pt x="1032" y="1"/>
                        <a:pt x="1" y="4037"/>
                        <a:pt x="1909" y="6207"/>
                      </a:cubicBezTo>
                      <a:cubicBezTo>
                        <a:pt x="1909" y="6207"/>
                        <a:pt x="3569" y="7701"/>
                        <a:pt x="5835" y="7701"/>
                      </a:cubicBezTo>
                      <a:cubicBezTo>
                        <a:pt x="6447" y="7701"/>
                        <a:pt x="7102" y="7592"/>
                        <a:pt x="7781" y="7316"/>
                      </a:cubicBezTo>
                      <a:cubicBezTo>
                        <a:pt x="7781" y="7316"/>
                        <a:pt x="5635" y="6499"/>
                        <a:pt x="6112" y="1623"/>
                      </a:cubicBezTo>
                      <a:lnTo>
                        <a:pt x="6112" y="1623"/>
                      </a:lnTo>
                      <a:cubicBezTo>
                        <a:pt x="6112" y="1623"/>
                        <a:pt x="6109" y="1623"/>
                        <a:pt x="6104" y="1623"/>
                      </a:cubicBezTo>
                      <a:cubicBezTo>
                        <a:pt x="5980" y="1623"/>
                        <a:pt x="4400" y="1465"/>
                        <a:pt x="103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37"/>
                <p:cNvSpPr/>
                <p:nvPr/>
              </p:nvSpPr>
              <p:spPr>
                <a:xfrm>
                  <a:off x="6365722" y="1881228"/>
                  <a:ext cx="473459" cy="228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4" h="2829" extrusionOk="0">
                      <a:moveTo>
                        <a:pt x="5873" y="2367"/>
                      </a:moveTo>
                      <a:cubicBezTo>
                        <a:pt x="5872" y="2368"/>
                        <a:pt x="5870" y="2368"/>
                        <a:pt x="5869" y="2369"/>
                      </a:cubicBezTo>
                      <a:lnTo>
                        <a:pt x="5869" y="2369"/>
                      </a:lnTo>
                      <a:cubicBezTo>
                        <a:pt x="5872" y="2368"/>
                        <a:pt x="5874" y="2368"/>
                        <a:pt x="5873" y="2367"/>
                      </a:cubicBezTo>
                      <a:close/>
                      <a:moveTo>
                        <a:pt x="2141" y="0"/>
                      </a:moveTo>
                      <a:cubicBezTo>
                        <a:pt x="2141" y="0"/>
                        <a:pt x="1496" y="1415"/>
                        <a:pt x="546" y="1415"/>
                      </a:cubicBezTo>
                      <a:cubicBezTo>
                        <a:pt x="373" y="1415"/>
                        <a:pt x="191" y="1368"/>
                        <a:pt x="1" y="1258"/>
                      </a:cubicBezTo>
                      <a:lnTo>
                        <a:pt x="1" y="1258"/>
                      </a:lnTo>
                      <a:cubicBezTo>
                        <a:pt x="1" y="1258"/>
                        <a:pt x="1394" y="2828"/>
                        <a:pt x="3689" y="2828"/>
                      </a:cubicBezTo>
                      <a:cubicBezTo>
                        <a:pt x="4346" y="2828"/>
                        <a:pt x="5076" y="2700"/>
                        <a:pt x="5869" y="2369"/>
                      </a:cubicBezTo>
                      <a:lnTo>
                        <a:pt x="5869" y="2369"/>
                      </a:lnTo>
                      <a:cubicBezTo>
                        <a:pt x="5850" y="2374"/>
                        <a:pt x="5766" y="2386"/>
                        <a:pt x="5633" y="2386"/>
                      </a:cubicBezTo>
                      <a:cubicBezTo>
                        <a:pt x="5034" y="2386"/>
                        <a:pt x="3434" y="2150"/>
                        <a:pt x="2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5" name="Google Shape;485;p37"/>
              <p:cNvGrpSpPr/>
              <p:nvPr/>
            </p:nvGrpSpPr>
            <p:grpSpPr>
              <a:xfrm flipH="1">
                <a:off x="1171502" y="534991"/>
                <a:ext cx="845522" cy="916625"/>
                <a:chOff x="7511392" y="307000"/>
                <a:chExt cx="863570" cy="936192"/>
              </a:xfrm>
            </p:grpSpPr>
            <p:sp>
              <p:nvSpPr>
                <p:cNvPr id="486" name="Google Shape;486;p37"/>
                <p:cNvSpPr/>
                <p:nvPr/>
              </p:nvSpPr>
              <p:spPr>
                <a:xfrm>
                  <a:off x="7927457" y="838406"/>
                  <a:ext cx="447505" cy="404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2" h="5022" extrusionOk="0">
                      <a:moveTo>
                        <a:pt x="2386" y="1"/>
                      </a:moveTo>
                      <a:cubicBezTo>
                        <a:pt x="2386" y="7"/>
                        <a:pt x="1" y="2159"/>
                        <a:pt x="1342" y="4353"/>
                      </a:cubicBezTo>
                      <a:cubicBezTo>
                        <a:pt x="1342" y="4353"/>
                        <a:pt x="2052" y="5021"/>
                        <a:pt x="3210" y="5021"/>
                      </a:cubicBezTo>
                      <a:cubicBezTo>
                        <a:pt x="3863" y="5021"/>
                        <a:pt x="4659" y="4809"/>
                        <a:pt x="5551" y="4144"/>
                      </a:cubicBezTo>
                      <a:cubicBezTo>
                        <a:pt x="5551" y="4144"/>
                        <a:pt x="3280" y="3125"/>
                        <a:pt x="238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37"/>
                <p:cNvSpPr/>
                <p:nvPr/>
              </p:nvSpPr>
              <p:spPr>
                <a:xfrm>
                  <a:off x="7511392" y="307000"/>
                  <a:ext cx="787164" cy="882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6" h="10947" extrusionOk="0">
                      <a:moveTo>
                        <a:pt x="7989" y="0"/>
                      </a:moveTo>
                      <a:cubicBezTo>
                        <a:pt x="7989" y="0"/>
                        <a:pt x="0" y="3476"/>
                        <a:pt x="6504" y="10946"/>
                      </a:cubicBezTo>
                      <a:cubicBezTo>
                        <a:pt x="6504" y="10946"/>
                        <a:pt x="5473" y="8436"/>
                        <a:pt x="9766" y="6141"/>
                      </a:cubicBezTo>
                      <a:cubicBezTo>
                        <a:pt x="9766" y="6141"/>
                        <a:pt x="7917" y="2880"/>
                        <a:pt x="7989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8" name="Google Shape;488;p37"/>
            <p:cNvGrpSpPr/>
            <p:nvPr/>
          </p:nvGrpSpPr>
          <p:grpSpPr>
            <a:xfrm>
              <a:off x="524550" y="3150379"/>
              <a:ext cx="3273253" cy="1525313"/>
              <a:chOff x="524550" y="3252688"/>
              <a:chExt cx="3273253" cy="1525313"/>
            </a:xfrm>
          </p:grpSpPr>
          <p:sp>
            <p:nvSpPr>
              <p:cNvPr id="489" name="Google Shape;489;p37"/>
              <p:cNvSpPr/>
              <p:nvPr/>
            </p:nvSpPr>
            <p:spPr>
              <a:xfrm>
                <a:off x="524550" y="4609128"/>
                <a:ext cx="3273253" cy="168873"/>
              </a:xfrm>
              <a:custGeom>
                <a:avLst/>
                <a:gdLst/>
                <a:ahLst/>
                <a:cxnLst/>
                <a:rect l="l" t="t" r="r" b="b"/>
                <a:pathLst>
                  <a:path w="17929" h="925" extrusionOk="0">
                    <a:moveTo>
                      <a:pt x="8961" y="1"/>
                    </a:moveTo>
                    <a:cubicBezTo>
                      <a:pt x="4013" y="1"/>
                      <a:pt x="1" y="209"/>
                      <a:pt x="1" y="466"/>
                    </a:cubicBezTo>
                    <a:cubicBezTo>
                      <a:pt x="1" y="722"/>
                      <a:pt x="4013" y="925"/>
                      <a:pt x="8961" y="925"/>
                    </a:cubicBezTo>
                    <a:cubicBezTo>
                      <a:pt x="13916" y="925"/>
                      <a:pt x="17928" y="722"/>
                      <a:pt x="17928" y="466"/>
                    </a:cubicBezTo>
                    <a:cubicBezTo>
                      <a:pt x="17928" y="209"/>
                      <a:pt x="13916" y="1"/>
                      <a:pt x="8961" y="1"/>
                    </a:cubicBezTo>
                    <a:close/>
                  </a:path>
                </a:pathLst>
              </a:custGeom>
              <a:solidFill>
                <a:srgbClr val="434343">
                  <a:alpha val="295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0" name="Google Shape;490;p37"/>
              <p:cNvGrpSpPr/>
              <p:nvPr/>
            </p:nvGrpSpPr>
            <p:grpSpPr>
              <a:xfrm>
                <a:off x="813848" y="3252688"/>
                <a:ext cx="2921613" cy="1458859"/>
                <a:chOff x="813848" y="3252688"/>
                <a:chExt cx="2921613" cy="1458859"/>
              </a:xfrm>
            </p:grpSpPr>
            <p:grpSp>
              <p:nvGrpSpPr>
                <p:cNvPr id="491" name="Google Shape;491;p37"/>
                <p:cNvGrpSpPr/>
                <p:nvPr/>
              </p:nvGrpSpPr>
              <p:grpSpPr>
                <a:xfrm>
                  <a:off x="813848" y="4145244"/>
                  <a:ext cx="2655916" cy="566303"/>
                  <a:chOff x="6098010" y="4127346"/>
                  <a:chExt cx="2020169" cy="430747"/>
                </a:xfrm>
              </p:grpSpPr>
              <p:sp>
                <p:nvSpPr>
                  <p:cNvPr id="492" name="Google Shape;492;p37"/>
                  <p:cNvSpPr/>
                  <p:nvPr/>
                </p:nvSpPr>
                <p:spPr>
                  <a:xfrm>
                    <a:off x="6098010" y="4127346"/>
                    <a:ext cx="1162557" cy="4307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72" h="3102" extrusionOk="0">
                        <a:moveTo>
                          <a:pt x="358" y="1"/>
                        </a:moveTo>
                        <a:cubicBezTo>
                          <a:pt x="1" y="1038"/>
                          <a:pt x="1" y="2064"/>
                          <a:pt x="358" y="3101"/>
                        </a:cubicBezTo>
                        <a:lnTo>
                          <a:pt x="8371" y="3101"/>
                        </a:lnTo>
                        <a:lnTo>
                          <a:pt x="837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" name="Google Shape;493;p37"/>
                  <p:cNvSpPr/>
                  <p:nvPr/>
                </p:nvSpPr>
                <p:spPr>
                  <a:xfrm>
                    <a:off x="6098010" y="4127346"/>
                    <a:ext cx="114423" cy="4307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4" h="3102" extrusionOk="0">
                        <a:moveTo>
                          <a:pt x="358" y="1"/>
                        </a:moveTo>
                        <a:cubicBezTo>
                          <a:pt x="1" y="1038"/>
                          <a:pt x="1" y="2064"/>
                          <a:pt x="358" y="3101"/>
                        </a:cubicBezTo>
                        <a:lnTo>
                          <a:pt x="794" y="3101"/>
                        </a:lnTo>
                        <a:cubicBezTo>
                          <a:pt x="472" y="2064"/>
                          <a:pt x="484" y="1038"/>
                          <a:pt x="82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" name="Google Shape;494;p37"/>
                  <p:cNvSpPr/>
                  <p:nvPr/>
                </p:nvSpPr>
                <p:spPr>
                  <a:xfrm>
                    <a:off x="6190770" y="4127346"/>
                    <a:ext cx="67209" cy="4307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4" h="3102" extrusionOk="0">
                        <a:moveTo>
                          <a:pt x="364" y="1"/>
                        </a:moveTo>
                        <a:cubicBezTo>
                          <a:pt x="0" y="1038"/>
                          <a:pt x="0" y="2064"/>
                          <a:pt x="364" y="3101"/>
                        </a:cubicBezTo>
                        <a:lnTo>
                          <a:pt x="483" y="3101"/>
                        </a:lnTo>
                        <a:cubicBezTo>
                          <a:pt x="131" y="2064"/>
                          <a:pt x="131" y="1038"/>
                          <a:pt x="471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5" name="Google Shape;495;p37"/>
                  <p:cNvSpPr/>
                  <p:nvPr/>
                </p:nvSpPr>
                <p:spPr>
                  <a:xfrm>
                    <a:off x="7027692" y="4127346"/>
                    <a:ext cx="66376" cy="4307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3102" extrusionOk="0">
                        <a:moveTo>
                          <a:pt x="359" y="1"/>
                        </a:moveTo>
                        <a:cubicBezTo>
                          <a:pt x="1" y="1038"/>
                          <a:pt x="1" y="2064"/>
                          <a:pt x="359" y="3101"/>
                        </a:cubicBezTo>
                        <a:lnTo>
                          <a:pt x="478" y="3101"/>
                        </a:lnTo>
                        <a:cubicBezTo>
                          <a:pt x="126" y="2064"/>
                          <a:pt x="126" y="1038"/>
                          <a:pt x="466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6" name="Google Shape;496;p37"/>
                  <p:cNvSpPr/>
                  <p:nvPr/>
                </p:nvSpPr>
                <p:spPr>
                  <a:xfrm>
                    <a:off x="7185856" y="4127346"/>
                    <a:ext cx="932323" cy="46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14" h="335" extrusionOk="0">
                        <a:moveTo>
                          <a:pt x="1" y="1"/>
                        </a:moveTo>
                        <a:lnTo>
                          <a:pt x="1" y="335"/>
                        </a:lnTo>
                        <a:lnTo>
                          <a:pt x="6714" y="335"/>
                        </a:lnTo>
                        <a:lnTo>
                          <a:pt x="671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37"/>
                  <p:cNvSpPr/>
                  <p:nvPr/>
                </p:nvSpPr>
                <p:spPr>
                  <a:xfrm>
                    <a:off x="7185856" y="4511575"/>
                    <a:ext cx="932323" cy="46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14" h="335" extrusionOk="0">
                        <a:moveTo>
                          <a:pt x="1" y="0"/>
                        </a:moveTo>
                        <a:lnTo>
                          <a:pt x="1" y="334"/>
                        </a:lnTo>
                        <a:lnTo>
                          <a:pt x="6714" y="334"/>
                        </a:lnTo>
                        <a:lnTo>
                          <a:pt x="671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37"/>
                  <p:cNvSpPr/>
                  <p:nvPr/>
                </p:nvSpPr>
                <p:spPr>
                  <a:xfrm>
                    <a:off x="7199881" y="4175392"/>
                    <a:ext cx="887748" cy="336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93" h="2422" extrusionOk="0">
                        <a:moveTo>
                          <a:pt x="281" y="1"/>
                        </a:moveTo>
                        <a:cubicBezTo>
                          <a:pt x="1" y="806"/>
                          <a:pt x="1" y="1616"/>
                          <a:pt x="281" y="2421"/>
                        </a:cubicBezTo>
                        <a:lnTo>
                          <a:pt x="6392" y="2421"/>
                        </a:lnTo>
                        <a:cubicBezTo>
                          <a:pt x="6344" y="2296"/>
                          <a:pt x="6303" y="2159"/>
                          <a:pt x="6273" y="2034"/>
                        </a:cubicBezTo>
                        <a:cubicBezTo>
                          <a:pt x="6261" y="2016"/>
                          <a:pt x="6261" y="2004"/>
                          <a:pt x="6261" y="1992"/>
                        </a:cubicBezTo>
                        <a:cubicBezTo>
                          <a:pt x="6231" y="1873"/>
                          <a:pt x="6213" y="1754"/>
                          <a:pt x="6195" y="1634"/>
                        </a:cubicBezTo>
                        <a:cubicBezTo>
                          <a:pt x="6189" y="1622"/>
                          <a:pt x="6189" y="1605"/>
                          <a:pt x="6189" y="1593"/>
                        </a:cubicBezTo>
                        <a:cubicBezTo>
                          <a:pt x="6171" y="1473"/>
                          <a:pt x="6166" y="1354"/>
                          <a:pt x="6166" y="1235"/>
                        </a:cubicBezTo>
                        <a:lnTo>
                          <a:pt x="6166" y="1187"/>
                        </a:lnTo>
                        <a:cubicBezTo>
                          <a:pt x="6166" y="1068"/>
                          <a:pt x="6171" y="949"/>
                          <a:pt x="6189" y="829"/>
                        </a:cubicBezTo>
                        <a:cubicBezTo>
                          <a:pt x="6195" y="818"/>
                          <a:pt x="6195" y="806"/>
                          <a:pt x="6195" y="788"/>
                        </a:cubicBezTo>
                        <a:cubicBezTo>
                          <a:pt x="6213" y="669"/>
                          <a:pt x="6231" y="549"/>
                          <a:pt x="6261" y="430"/>
                        </a:cubicBezTo>
                        <a:cubicBezTo>
                          <a:pt x="6261" y="418"/>
                          <a:pt x="6273" y="400"/>
                          <a:pt x="6273" y="388"/>
                        </a:cubicBezTo>
                        <a:cubicBezTo>
                          <a:pt x="6303" y="257"/>
                          <a:pt x="6344" y="126"/>
                          <a:pt x="6392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37"/>
                  <p:cNvSpPr/>
                  <p:nvPr/>
                </p:nvSpPr>
                <p:spPr>
                  <a:xfrm>
                    <a:off x="7308332" y="4227604"/>
                    <a:ext cx="762633" cy="6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92" h="49" extrusionOk="0">
                        <a:moveTo>
                          <a:pt x="25" y="0"/>
                        </a:moveTo>
                        <a:cubicBezTo>
                          <a:pt x="13" y="0"/>
                          <a:pt x="1" y="12"/>
                          <a:pt x="1" y="24"/>
                        </a:cubicBezTo>
                        <a:cubicBezTo>
                          <a:pt x="1" y="42"/>
                          <a:pt x="13" y="48"/>
                          <a:pt x="25" y="48"/>
                        </a:cubicBezTo>
                        <a:lnTo>
                          <a:pt x="5480" y="48"/>
                        </a:lnTo>
                        <a:cubicBezTo>
                          <a:pt x="5480" y="30"/>
                          <a:pt x="5492" y="18"/>
                          <a:pt x="5492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37"/>
                  <p:cNvSpPr/>
                  <p:nvPr/>
                </p:nvSpPr>
                <p:spPr>
                  <a:xfrm>
                    <a:off x="7363877" y="4283843"/>
                    <a:ext cx="695562" cy="59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09" h="43" extrusionOk="0">
                        <a:moveTo>
                          <a:pt x="24" y="1"/>
                        </a:moveTo>
                        <a:cubicBezTo>
                          <a:pt x="6" y="1"/>
                          <a:pt x="0" y="7"/>
                          <a:pt x="0" y="25"/>
                        </a:cubicBezTo>
                        <a:cubicBezTo>
                          <a:pt x="0" y="37"/>
                          <a:pt x="6" y="43"/>
                          <a:pt x="24" y="43"/>
                        </a:cubicBezTo>
                        <a:lnTo>
                          <a:pt x="4996" y="43"/>
                        </a:lnTo>
                        <a:cubicBezTo>
                          <a:pt x="5008" y="31"/>
                          <a:pt x="5008" y="13"/>
                          <a:pt x="500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37"/>
                  <p:cNvSpPr/>
                  <p:nvPr/>
                </p:nvSpPr>
                <p:spPr>
                  <a:xfrm>
                    <a:off x="7288475" y="4339387"/>
                    <a:ext cx="767632" cy="66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28" h="48" extrusionOk="0">
                        <a:moveTo>
                          <a:pt x="19" y="0"/>
                        </a:moveTo>
                        <a:cubicBezTo>
                          <a:pt x="7" y="0"/>
                          <a:pt x="1" y="12"/>
                          <a:pt x="1" y="24"/>
                        </a:cubicBezTo>
                        <a:cubicBezTo>
                          <a:pt x="1" y="42"/>
                          <a:pt x="7" y="48"/>
                          <a:pt x="19" y="48"/>
                        </a:cubicBezTo>
                        <a:lnTo>
                          <a:pt x="5528" y="48"/>
                        </a:lnTo>
                        <a:lnTo>
                          <a:pt x="5528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37"/>
                  <p:cNvSpPr/>
                  <p:nvPr/>
                </p:nvSpPr>
                <p:spPr>
                  <a:xfrm>
                    <a:off x="7344020" y="4395626"/>
                    <a:ext cx="715420" cy="59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52" h="43" extrusionOk="0">
                        <a:moveTo>
                          <a:pt x="24" y="1"/>
                        </a:moveTo>
                        <a:cubicBezTo>
                          <a:pt x="6" y="1"/>
                          <a:pt x="0" y="7"/>
                          <a:pt x="0" y="25"/>
                        </a:cubicBezTo>
                        <a:cubicBezTo>
                          <a:pt x="0" y="36"/>
                          <a:pt x="6" y="42"/>
                          <a:pt x="24" y="42"/>
                        </a:cubicBezTo>
                        <a:lnTo>
                          <a:pt x="5151" y="42"/>
                        </a:lnTo>
                        <a:lnTo>
                          <a:pt x="5151" y="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37"/>
                  <p:cNvSpPr/>
                  <p:nvPr/>
                </p:nvSpPr>
                <p:spPr>
                  <a:xfrm>
                    <a:off x="7308332" y="4451170"/>
                    <a:ext cx="762633" cy="66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92" h="48" extrusionOk="0">
                        <a:moveTo>
                          <a:pt x="25" y="0"/>
                        </a:moveTo>
                        <a:cubicBezTo>
                          <a:pt x="13" y="0"/>
                          <a:pt x="1" y="12"/>
                          <a:pt x="1" y="24"/>
                        </a:cubicBezTo>
                        <a:cubicBezTo>
                          <a:pt x="1" y="42"/>
                          <a:pt x="13" y="48"/>
                          <a:pt x="25" y="48"/>
                        </a:cubicBezTo>
                        <a:lnTo>
                          <a:pt x="5492" y="48"/>
                        </a:lnTo>
                        <a:cubicBezTo>
                          <a:pt x="5480" y="30"/>
                          <a:pt x="5480" y="18"/>
                          <a:pt x="548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37"/>
                  <p:cNvSpPr/>
                  <p:nvPr/>
                </p:nvSpPr>
                <p:spPr>
                  <a:xfrm>
                    <a:off x="7237235" y="4175392"/>
                    <a:ext cx="850394" cy="336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24" h="2422" extrusionOk="0">
                        <a:moveTo>
                          <a:pt x="0" y="1"/>
                        </a:moveTo>
                        <a:cubicBezTo>
                          <a:pt x="0" y="1"/>
                          <a:pt x="3440" y="806"/>
                          <a:pt x="5169" y="2421"/>
                        </a:cubicBezTo>
                        <a:lnTo>
                          <a:pt x="6123" y="2421"/>
                        </a:lnTo>
                        <a:cubicBezTo>
                          <a:pt x="6075" y="2296"/>
                          <a:pt x="6034" y="2159"/>
                          <a:pt x="6004" y="2034"/>
                        </a:cubicBezTo>
                        <a:cubicBezTo>
                          <a:pt x="5992" y="2016"/>
                          <a:pt x="5992" y="2004"/>
                          <a:pt x="5986" y="1992"/>
                        </a:cubicBezTo>
                        <a:cubicBezTo>
                          <a:pt x="5956" y="1873"/>
                          <a:pt x="5932" y="1754"/>
                          <a:pt x="5920" y="1634"/>
                        </a:cubicBezTo>
                        <a:cubicBezTo>
                          <a:pt x="5908" y="1622"/>
                          <a:pt x="5908" y="1605"/>
                          <a:pt x="5908" y="1593"/>
                        </a:cubicBezTo>
                        <a:cubicBezTo>
                          <a:pt x="5897" y="1473"/>
                          <a:pt x="5891" y="1354"/>
                          <a:pt x="5891" y="1235"/>
                        </a:cubicBezTo>
                        <a:lnTo>
                          <a:pt x="5891" y="1187"/>
                        </a:lnTo>
                        <a:cubicBezTo>
                          <a:pt x="5891" y="1068"/>
                          <a:pt x="5897" y="949"/>
                          <a:pt x="5908" y="829"/>
                        </a:cubicBezTo>
                        <a:cubicBezTo>
                          <a:pt x="5920" y="818"/>
                          <a:pt x="5920" y="806"/>
                          <a:pt x="5920" y="788"/>
                        </a:cubicBezTo>
                        <a:cubicBezTo>
                          <a:pt x="5932" y="669"/>
                          <a:pt x="5956" y="549"/>
                          <a:pt x="5986" y="430"/>
                        </a:cubicBezTo>
                        <a:cubicBezTo>
                          <a:pt x="5986" y="418"/>
                          <a:pt x="5992" y="400"/>
                          <a:pt x="5992" y="388"/>
                        </a:cubicBezTo>
                        <a:cubicBezTo>
                          <a:pt x="6022" y="257"/>
                          <a:pt x="6069" y="126"/>
                          <a:pt x="6111" y="1"/>
                        </a:cubicBezTo>
                        <a:close/>
                      </a:path>
                    </a:pathLst>
                  </a:custGeom>
                  <a:solidFill>
                    <a:srgbClr val="434343">
                      <a:alpha val="2958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37"/>
                  <p:cNvSpPr/>
                  <p:nvPr/>
                </p:nvSpPr>
                <p:spPr>
                  <a:xfrm>
                    <a:off x="7129617" y="4127346"/>
                    <a:ext cx="987729" cy="4307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13" h="3102" extrusionOk="0">
                        <a:moveTo>
                          <a:pt x="471" y="1"/>
                        </a:moveTo>
                        <a:cubicBezTo>
                          <a:pt x="471" y="1"/>
                          <a:pt x="60" y="561"/>
                          <a:pt x="30" y="1509"/>
                        </a:cubicBezTo>
                        <a:cubicBezTo>
                          <a:pt x="0" y="2451"/>
                          <a:pt x="268" y="3101"/>
                          <a:pt x="268" y="3101"/>
                        </a:cubicBezTo>
                        <a:lnTo>
                          <a:pt x="7113" y="3101"/>
                        </a:lnTo>
                        <a:lnTo>
                          <a:pt x="7113" y="2767"/>
                        </a:lnTo>
                        <a:lnTo>
                          <a:pt x="775" y="2767"/>
                        </a:lnTo>
                        <a:cubicBezTo>
                          <a:pt x="775" y="2767"/>
                          <a:pt x="549" y="2058"/>
                          <a:pt x="567" y="1497"/>
                        </a:cubicBezTo>
                        <a:cubicBezTo>
                          <a:pt x="590" y="943"/>
                          <a:pt x="698" y="454"/>
                          <a:pt x="775" y="335"/>
                        </a:cubicBezTo>
                        <a:lnTo>
                          <a:pt x="7113" y="335"/>
                        </a:lnTo>
                        <a:lnTo>
                          <a:pt x="7113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37"/>
                  <p:cNvSpPr/>
                  <p:nvPr/>
                </p:nvSpPr>
                <p:spPr>
                  <a:xfrm>
                    <a:off x="7080737" y="4127346"/>
                    <a:ext cx="114423" cy="4307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4" h="3102" extrusionOk="0">
                        <a:moveTo>
                          <a:pt x="364" y="1"/>
                        </a:moveTo>
                        <a:cubicBezTo>
                          <a:pt x="0" y="1038"/>
                          <a:pt x="0" y="2064"/>
                          <a:pt x="364" y="3101"/>
                        </a:cubicBezTo>
                        <a:lnTo>
                          <a:pt x="793" y="3101"/>
                        </a:lnTo>
                        <a:cubicBezTo>
                          <a:pt x="471" y="2064"/>
                          <a:pt x="489" y="1038"/>
                          <a:pt x="82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07" name="Google Shape;507;p37"/>
                <p:cNvGrpSpPr/>
                <p:nvPr/>
              </p:nvGrpSpPr>
              <p:grpSpPr>
                <a:xfrm>
                  <a:off x="1079546" y="3579305"/>
                  <a:ext cx="2655916" cy="567212"/>
                  <a:chOff x="6348934" y="3696877"/>
                  <a:chExt cx="2020169" cy="431438"/>
                </a:xfrm>
              </p:grpSpPr>
              <p:sp>
                <p:nvSpPr>
                  <p:cNvPr id="508" name="Google Shape;508;p37"/>
                  <p:cNvSpPr/>
                  <p:nvPr/>
                </p:nvSpPr>
                <p:spPr>
                  <a:xfrm>
                    <a:off x="6348934" y="3696877"/>
                    <a:ext cx="1161585" cy="4306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65" h="3101" extrusionOk="0">
                        <a:moveTo>
                          <a:pt x="358" y="1"/>
                        </a:moveTo>
                        <a:cubicBezTo>
                          <a:pt x="0" y="1038"/>
                          <a:pt x="0" y="2064"/>
                          <a:pt x="358" y="3101"/>
                        </a:cubicBezTo>
                        <a:lnTo>
                          <a:pt x="8365" y="3101"/>
                        </a:lnTo>
                        <a:lnTo>
                          <a:pt x="8365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37"/>
                  <p:cNvSpPr/>
                  <p:nvPr/>
                </p:nvSpPr>
                <p:spPr>
                  <a:xfrm>
                    <a:off x="6348934" y="3697710"/>
                    <a:ext cx="113451" cy="4306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7" h="3101" extrusionOk="0">
                        <a:moveTo>
                          <a:pt x="358" y="1"/>
                        </a:moveTo>
                        <a:cubicBezTo>
                          <a:pt x="0" y="1038"/>
                          <a:pt x="0" y="2070"/>
                          <a:pt x="358" y="3101"/>
                        </a:cubicBezTo>
                        <a:lnTo>
                          <a:pt x="787" y="3101"/>
                        </a:lnTo>
                        <a:cubicBezTo>
                          <a:pt x="465" y="2070"/>
                          <a:pt x="483" y="1032"/>
                          <a:pt x="81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37"/>
                  <p:cNvSpPr/>
                  <p:nvPr/>
                </p:nvSpPr>
                <p:spPr>
                  <a:xfrm>
                    <a:off x="7435947" y="3697710"/>
                    <a:ext cx="933156" cy="46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0" h="335" extrusionOk="0">
                        <a:moveTo>
                          <a:pt x="0" y="1"/>
                        </a:moveTo>
                        <a:lnTo>
                          <a:pt x="0" y="335"/>
                        </a:lnTo>
                        <a:lnTo>
                          <a:pt x="6719" y="335"/>
                        </a:lnTo>
                        <a:lnTo>
                          <a:pt x="6719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37"/>
                  <p:cNvSpPr/>
                  <p:nvPr/>
                </p:nvSpPr>
                <p:spPr>
                  <a:xfrm>
                    <a:off x="7435947" y="4081105"/>
                    <a:ext cx="933156" cy="463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0" h="334" extrusionOk="0">
                        <a:moveTo>
                          <a:pt x="0" y="0"/>
                        </a:moveTo>
                        <a:lnTo>
                          <a:pt x="0" y="334"/>
                        </a:lnTo>
                        <a:lnTo>
                          <a:pt x="6719" y="334"/>
                        </a:lnTo>
                        <a:lnTo>
                          <a:pt x="6719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37"/>
                  <p:cNvSpPr/>
                  <p:nvPr/>
                </p:nvSpPr>
                <p:spPr>
                  <a:xfrm>
                    <a:off x="7450805" y="3744923"/>
                    <a:ext cx="886776" cy="336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86" h="2422" extrusionOk="0">
                        <a:moveTo>
                          <a:pt x="275" y="1"/>
                        </a:moveTo>
                        <a:cubicBezTo>
                          <a:pt x="0" y="805"/>
                          <a:pt x="0" y="1616"/>
                          <a:pt x="275" y="2421"/>
                        </a:cubicBezTo>
                        <a:lnTo>
                          <a:pt x="6386" y="2421"/>
                        </a:lnTo>
                        <a:cubicBezTo>
                          <a:pt x="6344" y="2296"/>
                          <a:pt x="6296" y="2159"/>
                          <a:pt x="6266" y="2034"/>
                        </a:cubicBezTo>
                        <a:cubicBezTo>
                          <a:pt x="6260" y="2016"/>
                          <a:pt x="6260" y="2010"/>
                          <a:pt x="6260" y="1992"/>
                        </a:cubicBezTo>
                        <a:cubicBezTo>
                          <a:pt x="6231" y="1873"/>
                          <a:pt x="6207" y="1753"/>
                          <a:pt x="6195" y="1634"/>
                        </a:cubicBezTo>
                        <a:cubicBezTo>
                          <a:pt x="6183" y="1622"/>
                          <a:pt x="6183" y="1604"/>
                          <a:pt x="6183" y="1592"/>
                        </a:cubicBezTo>
                        <a:cubicBezTo>
                          <a:pt x="6171" y="1473"/>
                          <a:pt x="6159" y="1354"/>
                          <a:pt x="6159" y="1235"/>
                        </a:cubicBezTo>
                        <a:lnTo>
                          <a:pt x="6159" y="1187"/>
                        </a:lnTo>
                        <a:cubicBezTo>
                          <a:pt x="6159" y="1074"/>
                          <a:pt x="6171" y="949"/>
                          <a:pt x="6183" y="835"/>
                        </a:cubicBezTo>
                        <a:cubicBezTo>
                          <a:pt x="6195" y="817"/>
                          <a:pt x="6195" y="805"/>
                          <a:pt x="6195" y="788"/>
                        </a:cubicBezTo>
                        <a:cubicBezTo>
                          <a:pt x="6207" y="668"/>
                          <a:pt x="6231" y="549"/>
                          <a:pt x="6260" y="430"/>
                        </a:cubicBezTo>
                        <a:cubicBezTo>
                          <a:pt x="6260" y="418"/>
                          <a:pt x="6266" y="400"/>
                          <a:pt x="6266" y="388"/>
                        </a:cubicBezTo>
                        <a:cubicBezTo>
                          <a:pt x="6296" y="257"/>
                          <a:pt x="6344" y="126"/>
                          <a:pt x="6386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37"/>
                  <p:cNvSpPr/>
                  <p:nvPr/>
                </p:nvSpPr>
                <p:spPr>
                  <a:xfrm>
                    <a:off x="7559256" y="3798801"/>
                    <a:ext cx="761800" cy="5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6" h="42" extrusionOk="0">
                        <a:moveTo>
                          <a:pt x="24" y="0"/>
                        </a:moveTo>
                        <a:cubicBezTo>
                          <a:pt x="6" y="0"/>
                          <a:pt x="0" y="6"/>
                          <a:pt x="0" y="18"/>
                        </a:cubicBezTo>
                        <a:cubicBezTo>
                          <a:pt x="0" y="36"/>
                          <a:pt x="6" y="42"/>
                          <a:pt x="24" y="42"/>
                        </a:cubicBezTo>
                        <a:lnTo>
                          <a:pt x="5479" y="42"/>
                        </a:lnTo>
                        <a:cubicBezTo>
                          <a:pt x="5479" y="30"/>
                          <a:pt x="5485" y="12"/>
                          <a:pt x="548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37"/>
                  <p:cNvSpPr/>
                  <p:nvPr/>
                </p:nvSpPr>
                <p:spPr>
                  <a:xfrm>
                    <a:off x="7613829" y="3854206"/>
                    <a:ext cx="695562" cy="6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09" h="49" extrusionOk="0">
                        <a:moveTo>
                          <a:pt x="25" y="1"/>
                        </a:moveTo>
                        <a:cubicBezTo>
                          <a:pt x="13" y="1"/>
                          <a:pt x="1" y="7"/>
                          <a:pt x="1" y="24"/>
                        </a:cubicBezTo>
                        <a:cubicBezTo>
                          <a:pt x="1" y="36"/>
                          <a:pt x="13" y="48"/>
                          <a:pt x="25" y="48"/>
                        </a:cubicBezTo>
                        <a:lnTo>
                          <a:pt x="5003" y="48"/>
                        </a:lnTo>
                        <a:cubicBezTo>
                          <a:pt x="5009" y="30"/>
                          <a:pt x="5009" y="18"/>
                          <a:pt x="500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37"/>
                  <p:cNvSpPr/>
                  <p:nvPr/>
                </p:nvSpPr>
                <p:spPr>
                  <a:xfrm>
                    <a:off x="7538566" y="3910445"/>
                    <a:ext cx="768326" cy="59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3" h="43" extrusionOk="0">
                        <a:moveTo>
                          <a:pt x="24" y="1"/>
                        </a:moveTo>
                        <a:cubicBezTo>
                          <a:pt x="6" y="1"/>
                          <a:pt x="0" y="7"/>
                          <a:pt x="0" y="19"/>
                        </a:cubicBezTo>
                        <a:cubicBezTo>
                          <a:pt x="0" y="37"/>
                          <a:pt x="6" y="43"/>
                          <a:pt x="24" y="43"/>
                        </a:cubicBezTo>
                        <a:lnTo>
                          <a:pt x="5533" y="43"/>
                        </a:lnTo>
                        <a:lnTo>
                          <a:pt x="5533" y="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37"/>
                  <p:cNvSpPr/>
                  <p:nvPr/>
                </p:nvSpPr>
                <p:spPr>
                  <a:xfrm>
                    <a:off x="7594805" y="3965156"/>
                    <a:ext cx="714586" cy="59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6" h="43" extrusionOk="0">
                        <a:moveTo>
                          <a:pt x="19" y="0"/>
                        </a:moveTo>
                        <a:cubicBezTo>
                          <a:pt x="7" y="0"/>
                          <a:pt x="1" y="6"/>
                          <a:pt x="1" y="24"/>
                        </a:cubicBezTo>
                        <a:cubicBezTo>
                          <a:pt x="1" y="36"/>
                          <a:pt x="7" y="42"/>
                          <a:pt x="19" y="42"/>
                        </a:cubicBezTo>
                        <a:lnTo>
                          <a:pt x="5146" y="42"/>
                        </a:lnTo>
                        <a:lnTo>
                          <a:pt x="51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37"/>
                  <p:cNvSpPr/>
                  <p:nvPr/>
                </p:nvSpPr>
                <p:spPr>
                  <a:xfrm>
                    <a:off x="7559256" y="4020562"/>
                    <a:ext cx="761800" cy="6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6" h="49" extrusionOk="0">
                        <a:moveTo>
                          <a:pt x="24" y="1"/>
                        </a:moveTo>
                        <a:cubicBezTo>
                          <a:pt x="6" y="1"/>
                          <a:pt x="0" y="13"/>
                          <a:pt x="0" y="25"/>
                        </a:cubicBezTo>
                        <a:cubicBezTo>
                          <a:pt x="0" y="43"/>
                          <a:pt x="6" y="49"/>
                          <a:pt x="24" y="49"/>
                        </a:cubicBezTo>
                        <a:lnTo>
                          <a:pt x="5485" y="49"/>
                        </a:lnTo>
                        <a:cubicBezTo>
                          <a:pt x="5479" y="31"/>
                          <a:pt x="5479" y="25"/>
                          <a:pt x="5473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37"/>
                  <p:cNvSpPr/>
                  <p:nvPr/>
                </p:nvSpPr>
                <p:spPr>
                  <a:xfrm>
                    <a:off x="7488020" y="3744923"/>
                    <a:ext cx="849561" cy="336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18" h="2422" extrusionOk="0">
                        <a:moveTo>
                          <a:pt x="1" y="1"/>
                        </a:moveTo>
                        <a:cubicBezTo>
                          <a:pt x="1" y="1"/>
                          <a:pt x="3435" y="805"/>
                          <a:pt x="5164" y="2421"/>
                        </a:cubicBezTo>
                        <a:lnTo>
                          <a:pt x="6118" y="2421"/>
                        </a:lnTo>
                        <a:cubicBezTo>
                          <a:pt x="6076" y="2296"/>
                          <a:pt x="6028" y="2159"/>
                          <a:pt x="5998" y="2034"/>
                        </a:cubicBezTo>
                        <a:cubicBezTo>
                          <a:pt x="5992" y="2016"/>
                          <a:pt x="5992" y="2010"/>
                          <a:pt x="5980" y="1992"/>
                        </a:cubicBezTo>
                        <a:cubicBezTo>
                          <a:pt x="5957" y="1873"/>
                          <a:pt x="5933" y="1753"/>
                          <a:pt x="5915" y="1634"/>
                        </a:cubicBezTo>
                        <a:cubicBezTo>
                          <a:pt x="5909" y="1622"/>
                          <a:pt x="5909" y="1604"/>
                          <a:pt x="5909" y="1592"/>
                        </a:cubicBezTo>
                        <a:cubicBezTo>
                          <a:pt x="5891" y="1473"/>
                          <a:pt x="5885" y="1354"/>
                          <a:pt x="5885" y="1235"/>
                        </a:cubicBezTo>
                        <a:lnTo>
                          <a:pt x="5885" y="1187"/>
                        </a:lnTo>
                        <a:cubicBezTo>
                          <a:pt x="5885" y="1074"/>
                          <a:pt x="5891" y="949"/>
                          <a:pt x="5909" y="835"/>
                        </a:cubicBezTo>
                        <a:cubicBezTo>
                          <a:pt x="5915" y="817"/>
                          <a:pt x="5915" y="805"/>
                          <a:pt x="5915" y="788"/>
                        </a:cubicBezTo>
                        <a:cubicBezTo>
                          <a:pt x="5933" y="668"/>
                          <a:pt x="5957" y="549"/>
                          <a:pt x="5980" y="430"/>
                        </a:cubicBezTo>
                        <a:cubicBezTo>
                          <a:pt x="5980" y="418"/>
                          <a:pt x="5992" y="400"/>
                          <a:pt x="5992" y="388"/>
                        </a:cubicBezTo>
                        <a:cubicBezTo>
                          <a:pt x="6022" y="257"/>
                          <a:pt x="6064" y="126"/>
                          <a:pt x="6112" y="1"/>
                        </a:cubicBezTo>
                        <a:close/>
                      </a:path>
                    </a:pathLst>
                  </a:custGeom>
                  <a:solidFill>
                    <a:srgbClr val="434343">
                      <a:alpha val="2958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37"/>
                  <p:cNvSpPr/>
                  <p:nvPr/>
                </p:nvSpPr>
                <p:spPr>
                  <a:xfrm>
                    <a:off x="7380402" y="3697710"/>
                    <a:ext cx="987035" cy="4306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08" h="3101" extrusionOk="0">
                        <a:moveTo>
                          <a:pt x="472" y="1"/>
                        </a:moveTo>
                        <a:cubicBezTo>
                          <a:pt x="472" y="1"/>
                          <a:pt x="60" y="561"/>
                          <a:pt x="30" y="1509"/>
                        </a:cubicBezTo>
                        <a:cubicBezTo>
                          <a:pt x="1" y="2457"/>
                          <a:pt x="269" y="3101"/>
                          <a:pt x="269" y="3101"/>
                        </a:cubicBezTo>
                        <a:lnTo>
                          <a:pt x="7107" y="3101"/>
                        </a:lnTo>
                        <a:lnTo>
                          <a:pt x="7107" y="2767"/>
                        </a:lnTo>
                        <a:lnTo>
                          <a:pt x="776" y="2767"/>
                        </a:lnTo>
                        <a:cubicBezTo>
                          <a:pt x="776" y="2767"/>
                          <a:pt x="543" y="2058"/>
                          <a:pt x="567" y="1503"/>
                        </a:cubicBezTo>
                        <a:cubicBezTo>
                          <a:pt x="591" y="943"/>
                          <a:pt x="692" y="460"/>
                          <a:pt x="776" y="341"/>
                        </a:cubicBezTo>
                        <a:lnTo>
                          <a:pt x="7107" y="341"/>
                        </a:lnTo>
                        <a:lnTo>
                          <a:pt x="7107" y="1"/>
                        </a:lnTo>
                        <a:close/>
                      </a:path>
                    </a:pathLst>
                  </a:custGeom>
                  <a:solidFill>
                    <a:srgbClr val="434343">
                      <a:alpha val="1548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37"/>
                  <p:cNvSpPr/>
                  <p:nvPr/>
                </p:nvSpPr>
                <p:spPr>
                  <a:xfrm>
                    <a:off x="7331522" y="3697710"/>
                    <a:ext cx="114423" cy="4306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4" h="3101" extrusionOk="0">
                        <a:moveTo>
                          <a:pt x="359" y="1"/>
                        </a:moveTo>
                        <a:cubicBezTo>
                          <a:pt x="1" y="1038"/>
                          <a:pt x="1" y="2070"/>
                          <a:pt x="359" y="3101"/>
                        </a:cubicBezTo>
                        <a:lnTo>
                          <a:pt x="794" y="3101"/>
                        </a:lnTo>
                        <a:cubicBezTo>
                          <a:pt x="472" y="2070"/>
                          <a:pt x="484" y="1032"/>
                          <a:pt x="82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21" name="Google Shape;521;p37"/>
                <p:cNvGrpSpPr/>
                <p:nvPr/>
              </p:nvGrpSpPr>
              <p:grpSpPr>
                <a:xfrm>
                  <a:off x="813848" y="3252688"/>
                  <a:ext cx="2422504" cy="326613"/>
                  <a:chOff x="-3040002" y="2802438"/>
                  <a:chExt cx="2422504" cy="326613"/>
                </a:xfrm>
              </p:grpSpPr>
              <p:sp>
                <p:nvSpPr>
                  <p:cNvPr id="522" name="Google Shape;522;p37"/>
                  <p:cNvSpPr/>
                  <p:nvPr/>
                </p:nvSpPr>
                <p:spPr>
                  <a:xfrm>
                    <a:off x="-3038816" y="2803624"/>
                    <a:ext cx="1375649" cy="32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58" h="1646" extrusionOk="0">
                        <a:moveTo>
                          <a:pt x="298" y="0"/>
                        </a:moveTo>
                        <a:cubicBezTo>
                          <a:pt x="0" y="543"/>
                          <a:pt x="0" y="1097"/>
                          <a:pt x="298" y="1646"/>
                        </a:cubicBezTo>
                        <a:lnTo>
                          <a:pt x="6958" y="1646"/>
                        </a:lnTo>
                        <a:lnTo>
                          <a:pt x="6958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37"/>
                  <p:cNvSpPr/>
                  <p:nvPr/>
                </p:nvSpPr>
                <p:spPr>
                  <a:xfrm>
                    <a:off x="-3040002" y="2802438"/>
                    <a:ext cx="135627" cy="32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" h="1646" extrusionOk="0">
                        <a:moveTo>
                          <a:pt x="298" y="0"/>
                        </a:moveTo>
                        <a:cubicBezTo>
                          <a:pt x="0" y="549"/>
                          <a:pt x="0" y="1103"/>
                          <a:pt x="298" y="1646"/>
                        </a:cubicBezTo>
                        <a:lnTo>
                          <a:pt x="656" y="1646"/>
                        </a:lnTo>
                        <a:cubicBezTo>
                          <a:pt x="400" y="1103"/>
                          <a:pt x="412" y="549"/>
                          <a:pt x="68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4" name="Google Shape;524;p37"/>
                  <p:cNvSpPr/>
                  <p:nvPr/>
                </p:nvSpPr>
                <p:spPr>
                  <a:xfrm>
                    <a:off x="-2899828" y="2802438"/>
                    <a:ext cx="135825" cy="32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7" h="1646" extrusionOk="0">
                        <a:moveTo>
                          <a:pt x="299" y="0"/>
                        </a:moveTo>
                        <a:cubicBezTo>
                          <a:pt x="1" y="549"/>
                          <a:pt x="1" y="1103"/>
                          <a:pt x="299" y="1646"/>
                        </a:cubicBezTo>
                        <a:lnTo>
                          <a:pt x="657" y="1646"/>
                        </a:lnTo>
                        <a:cubicBezTo>
                          <a:pt x="406" y="1103"/>
                          <a:pt x="412" y="549"/>
                          <a:pt x="68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37"/>
                  <p:cNvSpPr/>
                  <p:nvPr/>
                </p:nvSpPr>
                <p:spPr>
                  <a:xfrm>
                    <a:off x="-2014495" y="2802438"/>
                    <a:ext cx="135627" cy="32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" h="1646" extrusionOk="0">
                        <a:moveTo>
                          <a:pt x="298" y="0"/>
                        </a:moveTo>
                        <a:cubicBezTo>
                          <a:pt x="0" y="549"/>
                          <a:pt x="0" y="1103"/>
                          <a:pt x="298" y="1646"/>
                        </a:cubicBezTo>
                        <a:lnTo>
                          <a:pt x="656" y="1646"/>
                        </a:lnTo>
                        <a:cubicBezTo>
                          <a:pt x="400" y="1103"/>
                          <a:pt x="406" y="549"/>
                          <a:pt x="68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" name="Google Shape;526;p37"/>
                  <p:cNvSpPr/>
                  <p:nvPr/>
                </p:nvSpPr>
                <p:spPr>
                  <a:xfrm>
                    <a:off x="-1751742" y="2802438"/>
                    <a:ext cx="1102417" cy="35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76" h="180" extrusionOk="0">
                        <a:moveTo>
                          <a:pt x="1" y="0"/>
                        </a:moveTo>
                        <a:lnTo>
                          <a:pt x="1" y="179"/>
                        </a:lnTo>
                        <a:lnTo>
                          <a:pt x="5575" y="179"/>
                        </a:lnTo>
                        <a:lnTo>
                          <a:pt x="5575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7" name="Google Shape;527;p37"/>
                  <p:cNvSpPr/>
                  <p:nvPr/>
                </p:nvSpPr>
                <p:spPr>
                  <a:xfrm>
                    <a:off x="-1735135" y="2839014"/>
                    <a:ext cx="1049234" cy="254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7" h="1288" extrusionOk="0">
                        <a:moveTo>
                          <a:pt x="227" y="0"/>
                        </a:moveTo>
                        <a:cubicBezTo>
                          <a:pt x="0" y="435"/>
                          <a:pt x="0" y="859"/>
                          <a:pt x="227" y="1288"/>
                        </a:cubicBezTo>
                        <a:lnTo>
                          <a:pt x="5306" y="1288"/>
                        </a:lnTo>
                        <a:cubicBezTo>
                          <a:pt x="5265" y="1216"/>
                          <a:pt x="5235" y="1151"/>
                          <a:pt x="5205" y="1079"/>
                        </a:cubicBezTo>
                        <a:cubicBezTo>
                          <a:pt x="5201" y="1075"/>
                          <a:pt x="5199" y="1071"/>
                          <a:pt x="5199" y="1071"/>
                        </a:cubicBezTo>
                        <a:cubicBezTo>
                          <a:pt x="5199" y="1071"/>
                          <a:pt x="5199" y="1072"/>
                          <a:pt x="5199" y="1073"/>
                        </a:cubicBezTo>
                        <a:cubicBezTo>
                          <a:pt x="5175" y="1008"/>
                          <a:pt x="5163" y="948"/>
                          <a:pt x="5145" y="877"/>
                        </a:cubicBezTo>
                        <a:cubicBezTo>
                          <a:pt x="5139" y="871"/>
                          <a:pt x="5139" y="865"/>
                          <a:pt x="5139" y="859"/>
                        </a:cubicBezTo>
                        <a:cubicBezTo>
                          <a:pt x="5133" y="787"/>
                          <a:pt x="5121" y="727"/>
                          <a:pt x="5121" y="662"/>
                        </a:cubicBezTo>
                        <a:lnTo>
                          <a:pt x="5121" y="638"/>
                        </a:lnTo>
                        <a:cubicBezTo>
                          <a:pt x="5121" y="572"/>
                          <a:pt x="5121" y="513"/>
                          <a:pt x="5139" y="447"/>
                        </a:cubicBezTo>
                        <a:cubicBezTo>
                          <a:pt x="5145" y="441"/>
                          <a:pt x="5145" y="429"/>
                          <a:pt x="5145" y="423"/>
                        </a:cubicBezTo>
                        <a:cubicBezTo>
                          <a:pt x="5151" y="358"/>
                          <a:pt x="5175" y="298"/>
                          <a:pt x="5199" y="233"/>
                        </a:cubicBezTo>
                        <a:cubicBezTo>
                          <a:pt x="5199" y="227"/>
                          <a:pt x="5205" y="215"/>
                          <a:pt x="5205" y="209"/>
                        </a:cubicBezTo>
                        <a:cubicBezTo>
                          <a:pt x="5229" y="137"/>
                          <a:pt x="5265" y="66"/>
                          <a:pt x="530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8" name="Google Shape;528;p37"/>
                  <p:cNvSpPr/>
                  <p:nvPr/>
                </p:nvSpPr>
                <p:spPr>
                  <a:xfrm>
                    <a:off x="-1606625" y="2878950"/>
                    <a:ext cx="900558" cy="49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55" h="25" extrusionOk="0">
                        <a:moveTo>
                          <a:pt x="18" y="1"/>
                        </a:moveTo>
                        <a:cubicBezTo>
                          <a:pt x="12" y="1"/>
                          <a:pt x="0" y="7"/>
                          <a:pt x="0" y="13"/>
                        </a:cubicBezTo>
                        <a:cubicBezTo>
                          <a:pt x="0" y="13"/>
                          <a:pt x="12" y="25"/>
                          <a:pt x="18" y="25"/>
                        </a:cubicBezTo>
                        <a:lnTo>
                          <a:pt x="4549" y="25"/>
                        </a:lnTo>
                        <a:cubicBezTo>
                          <a:pt x="4549" y="13"/>
                          <a:pt x="4555" y="7"/>
                          <a:pt x="4555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9" name="Google Shape;529;p37"/>
                  <p:cNvSpPr/>
                  <p:nvPr/>
                </p:nvSpPr>
                <p:spPr>
                  <a:xfrm>
                    <a:off x="-1540789" y="2921457"/>
                    <a:ext cx="821870" cy="49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7" h="25" extrusionOk="0">
                        <a:moveTo>
                          <a:pt x="13" y="0"/>
                        </a:moveTo>
                        <a:cubicBezTo>
                          <a:pt x="7" y="0"/>
                          <a:pt x="1" y="0"/>
                          <a:pt x="1" y="6"/>
                        </a:cubicBezTo>
                        <a:cubicBezTo>
                          <a:pt x="1" y="18"/>
                          <a:pt x="7" y="24"/>
                          <a:pt x="13" y="24"/>
                        </a:cubicBezTo>
                        <a:lnTo>
                          <a:pt x="4150" y="24"/>
                        </a:lnTo>
                        <a:cubicBezTo>
                          <a:pt x="4156" y="18"/>
                          <a:pt x="4156" y="6"/>
                          <a:pt x="415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0" name="Google Shape;530;p37"/>
                  <p:cNvSpPr/>
                  <p:nvPr/>
                </p:nvSpPr>
                <p:spPr>
                  <a:xfrm>
                    <a:off x="-1631536" y="2962778"/>
                    <a:ext cx="907873" cy="47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2" h="24" extrusionOk="0">
                        <a:moveTo>
                          <a:pt x="19" y="0"/>
                        </a:moveTo>
                        <a:cubicBezTo>
                          <a:pt x="13" y="0"/>
                          <a:pt x="1" y="0"/>
                          <a:pt x="1" y="6"/>
                        </a:cubicBezTo>
                        <a:cubicBezTo>
                          <a:pt x="1" y="18"/>
                          <a:pt x="13" y="24"/>
                          <a:pt x="19" y="24"/>
                        </a:cubicBezTo>
                        <a:lnTo>
                          <a:pt x="4591" y="24"/>
                        </a:lnTo>
                        <a:lnTo>
                          <a:pt x="4591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1" name="Google Shape;531;p37"/>
                  <p:cNvSpPr/>
                  <p:nvPr/>
                </p:nvSpPr>
                <p:spPr>
                  <a:xfrm>
                    <a:off x="-1564316" y="3005087"/>
                    <a:ext cx="845397" cy="49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6" h="25" extrusionOk="0">
                        <a:moveTo>
                          <a:pt x="13" y="1"/>
                        </a:moveTo>
                        <a:cubicBezTo>
                          <a:pt x="7" y="1"/>
                          <a:pt x="1" y="1"/>
                          <a:pt x="1" y="13"/>
                        </a:cubicBezTo>
                        <a:cubicBezTo>
                          <a:pt x="1" y="19"/>
                          <a:pt x="7" y="25"/>
                          <a:pt x="13" y="25"/>
                        </a:cubicBezTo>
                        <a:lnTo>
                          <a:pt x="4275" y="25"/>
                        </a:lnTo>
                        <a:cubicBezTo>
                          <a:pt x="4275" y="19"/>
                          <a:pt x="4275" y="13"/>
                          <a:pt x="426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2" name="Google Shape;532;p37"/>
                  <p:cNvSpPr/>
                  <p:nvPr/>
                </p:nvSpPr>
                <p:spPr>
                  <a:xfrm>
                    <a:off x="-1605637" y="3049967"/>
                    <a:ext cx="899569" cy="25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50" h="13" extrusionOk="0">
                        <a:moveTo>
                          <a:pt x="13" y="0"/>
                        </a:moveTo>
                        <a:cubicBezTo>
                          <a:pt x="7" y="0"/>
                          <a:pt x="1" y="6"/>
                          <a:pt x="1" y="6"/>
                        </a:cubicBezTo>
                        <a:cubicBezTo>
                          <a:pt x="1" y="6"/>
                          <a:pt x="7" y="12"/>
                          <a:pt x="13" y="12"/>
                        </a:cubicBezTo>
                        <a:lnTo>
                          <a:pt x="4550" y="12"/>
                        </a:lnTo>
                        <a:cubicBezTo>
                          <a:pt x="4544" y="6"/>
                          <a:pt x="4544" y="0"/>
                          <a:pt x="4544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3" name="Google Shape;533;p37"/>
                  <p:cNvSpPr/>
                  <p:nvPr/>
                </p:nvSpPr>
                <p:spPr>
                  <a:xfrm>
                    <a:off x="-1690453" y="2839014"/>
                    <a:ext cx="1004552" cy="2546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1" h="1288" extrusionOk="0">
                        <a:moveTo>
                          <a:pt x="1" y="0"/>
                        </a:moveTo>
                        <a:cubicBezTo>
                          <a:pt x="1" y="0"/>
                          <a:pt x="2851" y="435"/>
                          <a:pt x="4287" y="1288"/>
                        </a:cubicBezTo>
                        <a:lnTo>
                          <a:pt x="5080" y="1288"/>
                        </a:lnTo>
                        <a:cubicBezTo>
                          <a:pt x="5039" y="1216"/>
                          <a:pt x="5009" y="1151"/>
                          <a:pt x="4979" y="1079"/>
                        </a:cubicBezTo>
                        <a:cubicBezTo>
                          <a:pt x="4975" y="1075"/>
                          <a:pt x="4973" y="1071"/>
                          <a:pt x="4973" y="1071"/>
                        </a:cubicBezTo>
                        <a:cubicBezTo>
                          <a:pt x="4973" y="1071"/>
                          <a:pt x="4973" y="1072"/>
                          <a:pt x="4973" y="1073"/>
                        </a:cubicBezTo>
                        <a:cubicBezTo>
                          <a:pt x="4949" y="1008"/>
                          <a:pt x="4937" y="948"/>
                          <a:pt x="4919" y="877"/>
                        </a:cubicBezTo>
                        <a:cubicBezTo>
                          <a:pt x="4913" y="871"/>
                          <a:pt x="4913" y="865"/>
                          <a:pt x="4913" y="859"/>
                        </a:cubicBezTo>
                        <a:cubicBezTo>
                          <a:pt x="4907" y="787"/>
                          <a:pt x="4895" y="727"/>
                          <a:pt x="4895" y="662"/>
                        </a:cubicBezTo>
                        <a:lnTo>
                          <a:pt x="4895" y="638"/>
                        </a:lnTo>
                        <a:cubicBezTo>
                          <a:pt x="4895" y="572"/>
                          <a:pt x="4895" y="513"/>
                          <a:pt x="4913" y="447"/>
                        </a:cubicBezTo>
                        <a:cubicBezTo>
                          <a:pt x="4919" y="441"/>
                          <a:pt x="4919" y="429"/>
                          <a:pt x="4919" y="423"/>
                        </a:cubicBezTo>
                        <a:cubicBezTo>
                          <a:pt x="4925" y="358"/>
                          <a:pt x="4949" y="298"/>
                          <a:pt x="4973" y="233"/>
                        </a:cubicBezTo>
                        <a:cubicBezTo>
                          <a:pt x="4973" y="227"/>
                          <a:pt x="4979" y="215"/>
                          <a:pt x="4979" y="209"/>
                        </a:cubicBezTo>
                        <a:cubicBezTo>
                          <a:pt x="5003" y="137"/>
                          <a:pt x="5039" y="66"/>
                          <a:pt x="5080" y="0"/>
                        </a:cubicBezTo>
                        <a:close/>
                      </a:path>
                    </a:pathLst>
                  </a:custGeom>
                  <a:solidFill>
                    <a:srgbClr val="434343">
                      <a:alpha val="2958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4" name="Google Shape;534;p37"/>
                  <p:cNvSpPr/>
                  <p:nvPr/>
                </p:nvSpPr>
                <p:spPr>
                  <a:xfrm>
                    <a:off x="-1783577" y="2802438"/>
                    <a:ext cx="1166079" cy="32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98" h="1646" extrusionOk="0">
                        <a:moveTo>
                          <a:pt x="388" y="0"/>
                        </a:moveTo>
                        <a:cubicBezTo>
                          <a:pt x="388" y="0"/>
                          <a:pt x="43" y="298"/>
                          <a:pt x="19" y="799"/>
                        </a:cubicBezTo>
                        <a:cubicBezTo>
                          <a:pt x="1" y="1306"/>
                          <a:pt x="221" y="1646"/>
                          <a:pt x="221" y="1646"/>
                        </a:cubicBezTo>
                        <a:lnTo>
                          <a:pt x="5897" y="1646"/>
                        </a:lnTo>
                        <a:lnTo>
                          <a:pt x="5897" y="1467"/>
                        </a:lnTo>
                        <a:lnTo>
                          <a:pt x="639" y="1467"/>
                        </a:lnTo>
                        <a:cubicBezTo>
                          <a:pt x="639" y="1467"/>
                          <a:pt x="454" y="1097"/>
                          <a:pt x="466" y="799"/>
                        </a:cubicBezTo>
                        <a:cubicBezTo>
                          <a:pt x="484" y="501"/>
                          <a:pt x="573" y="239"/>
                          <a:pt x="639" y="179"/>
                        </a:cubicBezTo>
                        <a:lnTo>
                          <a:pt x="5897" y="179"/>
                        </a:lnTo>
                        <a:lnTo>
                          <a:pt x="58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5" name="Google Shape;535;p37"/>
                  <p:cNvSpPr/>
                  <p:nvPr/>
                </p:nvSpPr>
                <p:spPr>
                  <a:xfrm>
                    <a:off x="-1876693" y="2802438"/>
                    <a:ext cx="135825" cy="32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7" h="1646" extrusionOk="0">
                        <a:moveTo>
                          <a:pt x="299" y="0"/>
                        </a:moveTo>
                        <a:cubicBezTo>
                          <a:pt x="1" y="549"/>
                          <a:pt x="1" y="1103"/>
                          <a:pt x="299" y="1646"/>
                        </a:cubicBezTo>
                        <a:lnTo>
                          <a:pt x="657" y="1646"/>
                        </a:lnTo>
                        <a:cubicBezTo>
                          <a:pt x="400" y="1103"/>
                          <a:pt x="406" y="549"/>
                          <a:pt x="68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6" name="Google Shape;536;p37"/>
                  <p:cNvSpPr/>
                  <p:nvPr/>
                </p:nvSpPr>
                <p:spPr>
                  <a:xfrm>
                    <a:off x="-1783577" y="2802438"/>
                    <a:ext cx="1166079" cy="3254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98" h="1646" extrusionOk="0">
                        <a:moveTo>
                          <a:pt x="388" y="0"/>
                        </a:moveTo>
                        <a:cubicBezTo>
                          <a:pt x="388" y="0"/>
                          <a:pt x="43" y="298"/>
                          <a:pt x="19" y="799"/>
                        </a:cubicBezTo>
                        <a:cubicBezTo>
                          <a:pt x="1" y="1306"/>
                          <a:pt x="221" y="1646"/>
                          <a:pt x="221" y="1646"/>
                        </a:cubicBezTo>
                        <a:lnTo>
                          <a:pt x="5897" y="1646"/>
                        </a:lnTo>
                        <a:lnTo>
                          <a:pt x="5897" y="1467"/>
                        </a:lnTo>
                        <a:lnTo>
                          <a:pt x="639" y="1467"/>
                        </a:lnTo>
                        <a:cubicBezTo>
                          <a:pt x="639" y="1467"/>
                          <a:pt x="454" y="1097"/>
                          <a:pt x="466" y="799"/>
                        </a:cubicBezTo>
                        <a:cubicBezTo>
                          <a:pt x="484" y="501"/>
                          <a:pt x="573" y="239"/>
                          <a:pt x="639" y="179"/>
                        </a:cubicBezTo>
                        <a:lnTo>
                          <a:pt x="5897" y="179"/>
                        </a:lnTo>
                        <a:lnTo>
                          <a:pt x="5897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A23B25E-3102-81D7-7AC1-3035B1A39F35}"/>
              </a:ext>
            </a:extLst>
          </p:cNvPr>
          <p:cNvSpPr txBox="1"/>
          <p:nvPr/>
        </p:nvSpPr>
        <p:spPr>
          <a:xfrm>
            <a:off x="4750039" y="1847108"/>
            <a:ext cx="32869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2">
                    <a:lumMod val="50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THANK YOU!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stel Law School Center Theme by Slidesgo">
  <a:themeElements>
    <a:clrScheme name="Simple Light">
      <a:dk1>
        <a:srgbClr val="434343"/>
      </a:dk1>
      <a:lt1>
        <a:srgbClr val="F1EFEE"/>
      </a:lt1>
      <a:dk2>
        <a:srgbClr val="EAD9D6"/>
      </a:dk2>
      <a:lt2>
        <a:srgbClr val="E9CCB1"/>
      </a:lt2>
      <a:accent1>
        <a:srgbClr val="EDCB6E"/>
      </a:accent1>
      <a:accent2>
        <a:srgbClr val="6D7897"/>
      </a:accent2>
      <a:accent3>
        <a:srgbClr val="999998"/>
      </a:accent3>
      <a:accent4>
        <a:srgbClr val="C4BDAB"/>
      </a:accent4>
      <a:accent5>
        <a:srgbClr val="DDD4D3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5335</Words>
  <Application>Microsoft Office PowerPoint</Application>
  <PresentationFormat>On-screen Show (16:9)</PresentationFormat>
  <Paragraphs>424</Paragraphs>
  <Slides>46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Wingdings</vt:lpstr>
      <vt:lpstr>Calibri Light</vt:lpstr>
      <vt:lpstr>Archivo</vt:lpstr>
      <vt:lpstr>Arial</vt:lpstr>
      <vt:lpstr>DM Sans</vt:lpstr>
      <vt:lpstr>Bebas Neue</vt:lpstr>
      <vt:lpstr>Archivo Medium</vt:lpstr>
      <vt:lpstr>Noto Serif Hebrew</vt:lpstr>
      <vt:lpstr>Pastel Law School Center Theme by Slidesgo</vt:lpstr>
      <vt:lpstr>Judiciary Information Management System</vt:lpstr>
      <vt:lpstr>Judiciary of Hawai`I </vt:lpstr>
      <vt:lpstr>Hawai`i State Court System </vt:lpstr>
      <vt:lpstr>Judiciary Information Management System (JIMS)  </vt:lpstr>
      <vt:lpstr>JIMS Portal – Official Case Management System </vt:lpstr>
      <vt:lpstr>PowerPoint Presentation</vt:lpstr>
      <vt:lpstr>Primary Functions of JIMS Portal </vt:lpstr>
      <vt:lpstr>Criminal Case Flow (with an example case)</vt:lpstr>
      <vt:lpstr>Criminal Case Flow – How a Criminal Case Proceeds </vt:lpstr>
      <vt:lpstr>Case Initiation – How a Criminal Case Starts </vt:lpstr>
      <vt:lpstr>Court Types &amp; Case Types  When a case is initiated, the court type determines which case type can be selected: -&gt; Circuit Court (CC): Handles both civil and criminal cases, including serious felonies. -&gt; District Court (DC): Handles both civil and criminal cases, including misdemeanors. -&gt; Family Court (FC): Handles family-related civil and criminal cases (e.g., juvenile offenses, domestic      violence). -&gt; Intermediate Court of Appeals (ICA): Handles Appeals (AP), Other (OT), and Agreed Statement (ST) case types. -&gt; Supreme Court: Handles constitutional matters, final appeals, and high-profile cases. </vt:lpstr>
      <vt:lpstr>After selecting the court type and case type, clicking "Continue" will open various tabs where important case details are entered: -&gt;  Summary Tab: Displays key case details. -&gt;  Parties Tab: Adds defendants, attorneys, and other involved parties. -&gt;  Violation Tab: Captures offense details, statutes violated, and police report numbers. -&gt;  Events Tab: Logs hearings, arraignments, and trials. -&gt;  Dockets Tab: Stores legal documents, filings, and orders. -&gt;  Notes Tab: Records additional case-related information. </vt:lpstr>
      <vt:lpstr>Case Inquiry/Maintenance – Continuing Kamlesh’s Case </vt:lpstr>
      <vt:lpstr>Work Queue </vt:lpstr>
      <vt:lpstr>Calendaring – Scheduling Kamlesh’s Court Hearings  </vt:lpstr>
      <vt:lpstr>Bench Warrant – Handling Kamlesh’s Missed Criminal Court Appearance  </vt:lpstr>
      <vt:lpstr>User Administration – Managing Court System Access for Kamlesh’s Case   </vt:lpstr>
      <vt:lpstr>eCourt Kokua – Public &amp; Internal Access to Kamlesh’s Case </vt:lpstr>
      <vt:lpstr>eCourt Kokua – Versions &amp; Differences</vt:lpstr>
      <vt:lpstr>Scheduling and Event Management – Kamlesh’s Case </vt:lpstr>
      <vt:lpstr>Tracking Items – Managing Judicial Documents in Kamlesh’s Case </vt:lpstr>
      <vt:lpstr>Adoption Case Management </vt:lpstr>
      <vt:lpstr>Person/Business Maintenance – Kamlesh’s Case </vt:lpstr>
      <vt:lpstr>Charge Code Maintenance </vt:lpstr>
      <vt:lpstr>Default Judgment (DJ)  </vt:lpstr>
      <vt:lpstr>Interfaces </vt:lpstr>
      <vt:lpstr>JEFS Portal</vt:lpstr>
      <vt:lpstr>Judiciary Electronic Filing and Service System </vt:lpstr>
      <vt:lpstr>Submit Case Filing</vt:lpstr>
      <vt:lpstr>My Case View  </vt:lpstr>
      <vt:lpstr>User Administration  </vt:lpstr>
      <vt:lpstr>Document Subscription  </vt:lpstr>
      <vt:lpstr>JIMS/JEFS Payment </vt:lpstr>
      <vt:lpstr>Access Fee  </vt:lpstr>
      <vt:lpstr>Process Payment   </vt:lpstr>
      <vt:lpstr>Payment History    </vt:lpstr>
      <vt:lpstr>Reassess/Refund</vt:lpstr>
      <vt:lpstr>In-Court Processing </vt:lpstr>
      <vt:lpstr>PowerPoint Presentation</vt:lpstr>
      <vt:lpstr>eReminder  </vt:lpstr>
      <vt:lpstr>PowerPoint Presentation</vt:lpstr>
      <vt:lpstr>PowerPoint Presentation</vt:lpstr>
      <vt:lpstr>2. eReminder Self-Registration Portal (External eReminder) </vt:lpstr>
      <vt:lpstr>External eReminder - Features </vt:lpstr>
      <vt:lpstr>Crystal Report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Kumari, Alka</dc:creator>
  <cp:lastModifiedBy>Kumari, Alka</cp:lastModifiedBy>
  <cp:revision>3</cp:revision>
  <dcterms:modified xsi:type="dcterms:W3CDTF">2025-03-07T17:21:40Z</dcterms:modified>
</cp:coreProperties>
</file>